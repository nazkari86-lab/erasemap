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8de1d97bcd423f" /><Relationship Type="http://schemas.openxmlformats.org/officeDocument/2006/relationships/extended-properties" Target="/docProps/app.xml" Id="R89d6ef534d3a41a4" /><Relationship Type="http://schemas.openxmlformats.org/officeDocument/2006/relationships/officeDocument" Target="/ppt/presentation.xml" Id="R3518b9d0f4bb47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e73e806f034882"/>
  </p:sldMasterIdLst>
  <p:notesMasterIdLst>
    <p:notesMasterId xmlns:r="http://schemas.openxmlformats.org/officeDocument/2006/relationships" r:id="Rbbb3041881ce46c3"/>
  </p:notesMasterIdLst>
  <p:sldIdLst>
    <p:sldId xmlns:r="http://schemas.openxmlformats.org/officeDocument/2006/relationships" id="256" r:id="R5c56b3826ee04d87"/>
    <p:sldId xmlns:r="http://schemas.openxmlformats.org/officeDocument/2006/relationships" id="257" r:id="R8d8a8a853bb84fa3"/>
    <p:sldId xmlns:r="http://schemas.openxmlformats.org/officeDocument/2006/relationships" id="258" r:id="Re22337a6ec22441e"/>
    <p:sldId xmlns:r="http://schemas.openxmlformats.org/officeDocument/2006/relationships" id="259" r:id="Rd9423e825ab046db"/>
    <p:sldId xmlns:r="http://schemas.openxmlformats.org/officeDocument/2006/relationships" id="260" r:id="Rc62cde13b0b042a7"/>
    <p:sldId xmlns:r="http://schemas.openxmlformats.org/officeDocument/2006/relationships" id="261" r:id="R2d517d1860794fe6"/>
    <p:sldId xmlns:r="http://schemas.openxmlformats.org/officeDocument/2006/relationships" id="262" r:id="Rf1cdeae7b936497a"/>
    <p:sldId xmlns:r="http://schemas.openxmlformats.org/officeDocument/2006/relationships" id="263" r:id="R504843ee54e441b4"/>
    <p:sldId xmlns:r="http://schemas.openxmlformats.org/officeDocument/2006/relationships" id="264" r:id="R58a9e636f6c3448c"/>
    <p:sldId xmlns:r="http://schemas.openxmlformats.org/officeDocument/2006/relationships" id="265" r:id="Re48b564102664223"/>
    <p:sldId xmlns:r="http://schemas.openxmlformats.org/officeDocument/2006/relationships" id="266" r:id="Rae9f2af1c3cc4ab4"/>
    <p:sldId xmlns:r="http://schemas.openxmlformats.org/officeDocument/2006/relationships" id="267" r:id="R5b63ed42b7684b79"/>
    <p:sldId xmlns:r="http://schemas.openxmlformats.org/officeDocument/2006/relationships" id="268" r:id="Ra8fb747c52884697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e20630fb8142dc" /><Relationship Type="http://schemas.openxmlformats.org/officeDocument/2006/relationships/slideMaster" Target="/ppt/slideMasters/slideMaster1.xml" Id="Rbce73e806f034882" /><Relationship Type="http://schemas.openxmlformats.org/officeDocument/2006/relationships/notesMaster" Target="/ppt/notesMasters/notesMaster1.xml" Id="Rbbb3041881ce46c3" /><Relationship Type="http://schemas.openxmlformats.org/officeDocument/2006/relationships/presProps" Target="/ppt/presProps.xml" Id="R152cf57b288443a5" /><Relationship Type="http://schemas.openxmlformats.org/officeDocument/2006/relationships/viewProps" Target="/ppt/viewProps.xml" Id="Ree0b0e2cb0414a4b" /><Relationship Type="http://schemas.openxmlformats.org/officeDocument/2006/relationships/tableStyles" Target="/ppt/tableStyles.xml" Id="Rd7f1de5d9283422a" /><Relationship Type="http://schemas.openxmlformats.org/officeDocument/2006/relationships/slide" Target="/ppt/slides/slide1.xml" Id="R5c56b3826ee04d87" /><Relationship Type="http://schemas.openxmlformats.org/officeDocument/2006/relationships/slide" Target="/ppt/slides/slide2.xml" Id="R8d8a8a853bb84fa3" /><Relationship Type="http://schemas.openxmlformats.org/officeDocument/2006/relationships/slide" Target="/ppt/slides/slide3.xml" Id="Re22337a6ec22441e" /><Relationship Type="http://schemas.openxmlformats.org/officeDocument/2006/relationships/slide" Target="/ppt/slides/slide4.xml" Id="Rd9423e825ab046db" /><Relationship Type="http://schemas.openxmlformats.org/officeDocument/2006/relationships/slide" Target="/ppt/slides/slide5.xml" Id="Rc62cde13b0b042a7" /><Relationship Type="http://schemas.openxmlformats.org/officeDocument/2006/relationships/slide" Target="/ppt/slides/slide6.xml" Id="R2d517d1860794fe6" /><Relationship Type="http://schemas.openxmlformats.org/officeDocument/2006/relationships/slide" Target="/ppt/slides/slide7.xml" Id="Rf1cdeae7b936497a" /><Relationship Type="http://schemas.openxmlformats.org/officeDocument/2006/relationships/slide" Target="/ppt/slides/slide8.xml" Id="R504843ee54e441b4" /><Relationship Type="http://schemas.openxmlformats.org/officeDocument/2006/relationships/slide" Target="/ppt/slides/slide9.xml" Id="R58a9e636f6c3448c" /><Relationship Type="http://schemas.openxmlformats.org/officeDocument/2006/relationships/slide" Target="/ppt/slides/slide10.xml" Id="Re48b564102664223" /><Relationship Type="http://schemas.openxmlformats.org/officeDocument/2006/relationships/slide" Target="/ppt/slides/slide11.xml" Id="Rae9f2af1c3cc4ab4" /><Relationship Type="http://schemas.openxmlformats.org/officeDocument/2006/relationships/slide" Target="/ppt/slides/slide12.xml" Id="R5b63ed42b7684b79" /><Relationship Type="http://schemas.openxmlformats.org/officeDocument/2006/relationships/slide" Target="/ppt/slides/slide13.xml" Id="Ra8fb747c528846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f122ec0e4d4b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c7fd6413a547b2" /><Relationship Type="http://schemas.openxmlformats.org/officeDocument/2006/relationships/notesMaster" Target="/ppt/notesMasters/notesMaster1.xml" Id="Rd793899e96d84f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3b0fcfa4534226" /><Relationship Type="http://schemas.openxmlformats.org/officeDocument/2006/relationships/notesMaster" Target="/ppt/notesMasters/notesMaster1.xml" Id="R227094efffea43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7f6b933c2345c3" /><Relationship Type="http://schemas.openxmlformats.org/officeDocument/2006/relationships/notesMaster" Target="/ppt/notesMasters/notesMaster1.xml" Id="Re98269ee0e7f48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ab5a741ad843c8" /><Relationship Type="http://schemas.openxmlformats.org/officeDocument/2006/relationships/notesMaster" Target="/ppt/notesMasters/notesMaster1.xml" Id="Rfa315054707c45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5b989089464b7b" /><Relationship Type="http://schemas.openxmlformats.org/officeDocument/2006/relationships/notesMaster" Target="/ppt/notesMasters/notesMaster1.xml" Id="R6ce7694a057a41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2b3fc049244851" /><Relationship Type="http://schemas.openxmlformats.org/officeDocument/2006/relationships/notesMaster" Target="/ppt/notesMasters/notesMaster1.xml" Id="Rffaef359ce9943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c62daa8bb74cb5" /><Relationship Type="http://schemas.openxmlformats.org/officeDocument/2006/relationships/notesMaster" Target="/ppt/notesMasters/notesMaster1.xml" Id="Rcab9b7ec5de04c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055bca21754c74" /><Relationship Type="http://schemas.openxmlformats.org/officeDocument/2006/relationships/notesMaster" Target="/ppt/notesMasters/notesMaster1.xml" Id="Rfe4acdc0dc514c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33f39bdf3242f9" /><Relationship Type="http://schemas.openxmlformats.org/officeDocument/2006/relationships/notesMaster" Target="/ppt/notesMasters/notesMaster1.xml" Id="Rf9b229f633fe4b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ea80e70d5c485b" /><Relationship Type="http://schemas.openxmlformats.org/officeDocument/2006/relationships/notesMaster" Target="/ppt/notesMasters/notesMaster1.xml" Id="Raf42385947964d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ed4ee3bbde4ca8" /><Relationship Type="http://schemas.openxmlformats.org/officeDocument/2006/relationships/notesMaster" Target="/ppt/notesMasters/notesMaster1.xml" Id="Rc80524b0c88844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98e81a620a451e" /><Relationship Type="http://schemas.openxmlformats.org/officeDocument/2006/relationships/notesMaster" Target="/ppt/notesMasters/notesMaster1.xml" Id="R1aec0151c2b842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4720daed424e0c" /><Relationship Type="http://schemas.openxmlformats.org/officeDocument/2006/relationships/notesMaster" Target="/ppt/notesMasters/notesMaster1.xml" Id="R56aa6d57e8e540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Начните с простой мысли: ответ DELETE 200 OK подтверждает только команду, но не исчезновение копий и производных. EraSeMap превращает обещание удаления в проверяемый путь.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один пользователь представлен не одной строкой: есть шаблон, кэш, backup и влияние на модель. Любая из ветвей может стать путём восстановления.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Проговорите пять вопросов вместо названий внутренних модулей. Так алгоритм понятен комиссии: карта, поиск пути, минимальный план, временная проверка и сертификат.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Ключевая сила — безопасный отказ. COMPLETE выдаётся только при одновременном физическом, производном и временном закрытии.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Расскажите это как одну историю: запрос идёт от карты данных к закрытию копий, затем к активной проверке и только после этого к вердикту. Если найден риск или путь не подтверждён, EraSeMap не говорит COMPLETE.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Чётко назовите метрику: false COMPLETE, а не общая точность. Ноль — безопасный результат на ограниченном протоколе, не обещание промышленного внедрения.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Сравнение показывает эффективность после прохождения safety gates. Это нормализованная bounded задача, поэтому не переносите цифры автоматически на production.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Активная проба выбирает следующий тест так, чтобы разделить оставшиеся гипотезы. Результат family-held-out показывает переносимость на новые семейства топологий, но не production deployment.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скрывайте отрицательный model-unlearning результат. Сильная область проекта — evidence-led storage deletion; модельный канал доказывается отдельно. Подчеркните, что четыре строки не складываются в один рейтинг.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Формула — удобная рамка для комиссии. Важно уточнить: formal checks подтверждают conformance протокола и composition property, но не заменяют внешний production pilot.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Поясните термины: retained utility — полезность для оставшихся пользователей; exact fallback — безопасное переобучение. Отрицательный результат здесь усиливает научную честность.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Новизна формулируется как композиция: recovery-path discovery, temporal closure и сертификат с границей неизвестности. Отдельно покажите, какие доказательства уже есть, а какие ещё нужны.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Закройте одной фразой: EraSeMap проверяет путь, а не обещание. Если спросят о следующем шаге, называйте independent hidden challenge и production pilot.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7c5ab215c549d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c4d4ede6404ac5" /><Relationship Type="http://schemas.openxmlformats.org/officeDocument/2006/relationships/slideLayout" Target="/ppt/slideLayouts/slideLayout1.xml" Id="R540668944dc94da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0668944dc94da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2fd12931c4a80" /><Relationship Type="http://schemas.openxmlformats.org/officeDocument/2006/relationships/notesSlide" Target="/ppt/notesSlides/notesSlide1.xml" Id="Rdf9b8fb14e524d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5c29976b84f8a" /><Relationship Type="http://schemas.openxmlformats.org/officeDocument/2006/relationships/notesSlide" Target="/ppt/notesSlides/notesSlide2.xml" Id="Rf5e9a33f441844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d1b7ebad24497" /><Relationship Type="http://schemas.openxmlformats.org/officeDocument/2006/relationships/notesSlide" Target="/ppt/notesSlides/notesSlide3.xml" Id="R2c6fdb1c1a524a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34b69cc804d46" /><Relationship Type="http://schemas.openxmlformats.org/officeDocument/2006/relationships/notesSlide" Target="/ppt/notesSlides/notesSlide4.xml" Id="R9c08a917d07945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c0b020af74c61" /><Relationship Type="http://schemas.openxmlformats.org/officeDocument/2006/relationships/notesSlide" Target="/ppt/notesSlides/notesSlide5.xml" Id="R369d0488125745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ae954e66c41cb" /><Relationship Type="http://schemas.openxmlformats.org/officeDocument/2006/relationships/image" Target="/ppt/media/image.png" Id="R2ce1e1993c73480b" /><Relationship Type="http://schemas.openxmlformats.org/officeDocument/2006/relationships/notesSlide" Target="/ppt/notesSlides/notesSlide6.xml" Id="R774e8798d94742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b8a2b1d794172" /><Relationship Type="http://schemas.openxmlformats.org/officeDocument/2006/relationships/image" Target="/ppt/media/image2.png" Id="R30fd9e8e01484973" /><Relationship Type="http://schemas.openxmlformats.org/officeDocument/2006/relationships/notesSlide" Target="/ppt/notesSlides/notesSlide7.xml" Id="R1d6136e17a8b44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ac24f8d3a4d7b" /><Relationship Type="http://schemas.openxmlformats.org/officeDocument/2006/relationships/image" Target="/ppt/media/image3.png" Id="R01870478b4a64d60" /><Relationship Type="http://schemas.openxmlformats.org/officeDocument/2006/relationships/notesSlide" Target="/ppt/notesSlides/notesSlide8.xml" Id="R3ea5fb61903442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920fce7f74e30" /><Relationship Type="http://schemas.openxmlformats.org/officeDocument/2006/relationships/notesSlide" Target="/ppt/notesSlides/notesSlide9.xml" Id="R32480964c4b241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4fe07d3404173" /><Relationship Type="http://schemas.openxmlformats.org/officeDocument/2006/relationships/notesSlide" Target="/ppt/notesSlides/notesSlide10.xml" Id="R208a6a8fc8dc4e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12d07da6a4685" /><Relationship Type="http://schemas.openxmlformats.org/officeDocument/2006/relationships/notesSlide" Target="/ppt/notesSlides/notesSlide11.xml" Id="R977ccac4889d42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be11a71b048e3" /><Relationship Type="http://schemas.openxmlformats.org/officeDocument/2006/relationships/notesSlide" Target="/ppt/notesSlides/notesSlide12.xml" Id="R4fff853fa2c940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0b55331d84f97" /><Relationship Type="http://schemas.openxmlformats.org/officeDocument/2006/relationships/notesSlide" Target="/ppt/notesSlides/notesSlide13.xml" Id="R857e75367afb4a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4C8EFC0-CFFB-4640-AFD0-E184DC29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9912096" y="0"/>
            <a:ext cx="2194560" cy="1234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6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F0E4F0-3EF5-44CE-9C95-E69C886B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">
            <a:off x="10744200" y="164592"/>
            <a:ext cx="1188720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6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836788-3CE0-4597-870C-02EBB0B6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8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BEDF141-1311-44B6-8BA4-C1289068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BF6B2EC-6131-47F7-9059-DC2F0A48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8F25527-6E13-4DCB-B5AE-CA8E55A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BC8EF69-893D-4779-A0EB-AF5CED33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97AC0E-8B06-455D-A1E7-6110BB81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02336"/>
            <a:ext cx="3566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8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RESEARCH PROTOTYPE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83F6371-10F1-41A4-8398-08672C9E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17320"/>
            <a:ext cx="5577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Удаление —</a:t>
            </a:r>
            <a:endParaRPr sz="4200"/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это не кнопка.</a:t>
            </a:r>
            <a:endParaRPr sz="4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D789D3B-0EE6-4D4E-80BB-61487A9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889504"/>
            <a:ext cx="49377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3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Это проверяемый путь.</a:t>
            </a:r>
            <a:endParaRPr sz="2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36A68B4-13E9-489F-A1D6-599F2C79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438144"/>
            <a:ext cx="50749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4F6960"/>
                </a:solidFill>
                <a:latin typeface="Arial"/>
                <a:ea typeface="Arial"/>
                <a:cs typeface="Arial"/>
              </a:rPr>
              <a:t>EraSeMap проверяет, исчезли ли данные из копий, производных</a:t>
            </a:r>
            <a:endParaRPr sz="1650"/>
          </a:p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4F6960"/>
                </a:solidFill>
                <a:latin typeface="Arial"/>
                <a:ea typeface="Arial"/>
                <a:cs typeface="Arial"/>
              </a:rPr>
              <a:t>и будущих каналов восстановления.</a:t>
            </a:r>
            <a:endParaRPr sz="16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B9A643A-9405-41BC-B59C-28B65687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90288"/>
            <a:ext cx="452628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4524137-4429-4CFD-9457-F7DF2683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727448"/>
            <a:ext cx="4187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DELETE 200 OK  →  карта  →  проверка  →  сертификат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F677EF2-2577-48B6-8A5D-8F8869A8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1097280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D70AB86-DD4E-42DF-801A-57DD095E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412480" y="2331720"/>
            <a:ext cx="1078992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716F4E-6471-486C-B01D-214BA87E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713232" cy="15727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08E4674-EC6C-42A3-80BD-EC9351E3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028432" y="2468880"/>
            <a:ext cx="1353312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77A8592-3340-4AB6-B742-8E58E267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1536192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2E9BD5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C711BEC-A0F2-4D09-80CF-916BDBEB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156362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8C87D4C-518A-4C65-BBC9-860F42F3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1508760"/>
            <a:ext cx="10332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источник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A8A1DA9-6A4A-4D75-B4E7-03360C80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1755648"/>
            <a:ext cx="1033272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исходная запись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6B6B7CC-8DFA-4314-8439-411C9344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39696"/>
            <a:ext cx="16002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A91DDF9-2969-48E3-B5D6-31D94717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22860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3DB9539-8CA7-4D66-95B6-907B6C0D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231136"/>
            <a:ext cx="1097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производная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B3E0AC9-D52C-4940-BD48-9BC65EC8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478024"/>
            <a:ext cx="109728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шаблон / индекс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C430718-9FC7-4636-A632-6983E3CB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3346704"/>
            <a:ext cx="157276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1F6E91C-3D20-46B2-8F38-DD52F0D3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49300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772283A-D21C-426D-B6F4-6CE909E9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438144"/>
            <a:ext cx="106984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возврат</a:t>
            </a:r>
            <a:endParaRPr sz="13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596BD8F-2622-424D-8208-65750F28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3685032"/>
            <a:ext cx="106984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резерв / восстановление</a:t>
            </a:r>
            <a:endParaRPr sz="9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67D73F-3772-4E41-9D50-80E8BF79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438144"/>
            <a:ext cx="146304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7077D7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CE89CE68-3CCA-40DB-8870-F82A6376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358444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77D7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4E84824-58D7-46C8-852A-D9FEAC8B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529584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доказательство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014049F-EE96-4FB2-AAFD-F5CF615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776472"/>
            <a:ext cx="9601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квитанция + повтор</a:t>
            </a:r>
            <a:endParaRPr sz="9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EA6F091-EEBF-4605-89B8-CC066BF6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34840"/>
            <a:ext cx="1993392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38"/>
          </a:solidFill>
          <a:ln xmlns:a="http://schemas.openxmlformats.org/drawingml/2006/main" w="12700">
            <a:solidFill>
              <a:srgbClr val="173F38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822A54DC-67A1-47E7-9785-9B491D96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45152"/>
            <a:ext cx="19933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</a:t>
            </a:r>
            <a:endParaRPr sz="15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5B0127F-CB2C-4C94-BF50-767D2D3C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601675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3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Проверяем путь, а не обещание «удалено».</a:t>
            </a:r>
            <a:endParaRPr sz="12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936709EA-64F3-45BA-813A-9D8CDC9B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1C1CE122-4A68-46DA-9F51-9C3407AE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475EE20-5143-4F7D-ADC3-F376B7DB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01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128130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2637143-BC5B-447F-B4A8-C98B0FDF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43800DB-0C32-4A26-B19F-23F22AD9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A1C50E-A15C-4947-BEC4-E3558134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E625BF-7ADE-486A-90F9-8AA22EA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C1E7D7D-83B8-424B-993C-52C651E3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200E477-2BC9-4D42-9234-83354E7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ПРОБЛЕМА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7DEDAF8-772D-48AB-8A24-43547E87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02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4BACE08-94BD-4E65-8134-2AB90A06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2A98649-078D-46C1-8598-70550986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DB4E8D4-134A-435D-9E1F-F26746FB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Проблема: запись не живёт в одном месте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8C52D2B-10BC-4572-9468-511E7F27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Копии, производные и отложенные задачи создают скрытый путь назад.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C8E67D0-92F4-413D-B7C3-BC8063F0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29968"/>
            <a:ext cx="137160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445039F-275F-4FFD-9783-52EEC3EB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057400"/>
            <a:ext cx="118872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50">
                <a:solidFill>
                  <a:srgbClr val="079E94"/>
                </a:solidFill>
                <a:latin typeface="Arial"/>
                <a:ea typeface="Arial"/>
                <a:cs typeface="Arial"/>
              </a:rPr>
              <a:t>ОДНА ПЕРСОНА</a:t>
            </a:r>
            <a:endParaRPr sz="7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C5ECB12-42C1-4BA3-89AB-47A2C7C8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542032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3A3053D-85AB-4F66-899E-5DB134BB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450592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Исходная запись</a:t>
            </a:r>
            <a:endParaRPr sz="13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97FFB3-1FF1-4748-BE64-2B4DD3E6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697480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пользователь / аккаунт</a:t>
            </a:r>
            <a:endParaRPr sz="93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52D3-C794-42AE-B775-720C7501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98064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339721C-FBFA-439E-8DBC-40A28C73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54096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3E8528-BE23-4286-B632-101AFA5E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962656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Биометрический шаблон</a:t>
            </a:r>
            <a:endParaRPr sz="132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A01D7F4-1FC3-4B38-9AEC-7E97CB67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209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4F6960"/>
                </a:solidFill>
                <a:latin typeface="Arial"/>
                <a:ea typeface="Arial"/>
                <a:cs typeface="Arial"/>
              </a:rPr>
              <a:t>биометрический вектор</a:t>
            </a:r>
            <a:endParaRPr sz="93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62D6023-9E45-4C52-9BC7-F37A2F5B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310128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73FEAF4-75DA-4225-B2DF-C3302AF9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66160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9B43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E7F431C-A876-4DDF-A4BD-E3D0E059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74720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Кэш и реплика</a:t>
            </a:r>
            <a:endParaRPr sz="132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8437A53-6A97-43C5-BC98-A70B79D3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721608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4F6960"/>
                </a:solidFill>
                <a:latin typeface="Arial"/>
                <a:ea typeface="Arial"/>
                <a:cs typeface="Arial"/>
              </a:rPr>
              <a:t>быстрый путь чтения</a:t>
            </a:r>
            <a:endParaRPr sz="93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FEB3A4-21C4-4BF9-A0D7-5749D03B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822192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37E7DA9-820D-46C0-BAF9-9947D305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078224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B75AE92-26B2-4BAC-8447-3435A718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986784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Резерв / восстановление</a:t>
            </a:r>
            <a:endParaRPr sz="13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5DE7DB4-7938-4FE2-8F0C-7D2916D6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33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4F6960"/>
                </a:solidFill>
                <a:latin typeface="Arial"/>
                <a:ea typeface="Arial"/>
                <a:cs typeface="Arial"/>
              </a:rPr>
              <a:t>отложенная копия</a:t>
            </a:r>
            <a:endParaRPr sz="93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EAC56DF-4B42-4F30-8F87-58E337DF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334256"/>
            <a:ext cx="0" cy="43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61CED30-ED33-4840-95FB-577687B4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590288"/>
            <a:ext cx="246888" cy="2468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77D7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A84848-FCE5-4D41-86A2-E1BA7D04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498848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Влияние на модель</a:t>
            </a:r>
            <a:endParaRPr sz="13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C25290A-F3EF-4159-BD03-0A64077B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745736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4F6960"/>
                </a:solidFill>
                <a:latin typeface="Arial"/>
                <a:ea typeface="Arial"/>
                <a:cs typeface="Arial"/>
              </a:rPr>
              <a:t>сигнал в модели</a:t>
            </a:r>
            <a:endParaRPr sz="93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0C75DAC-EF2E-4882-BB6B-0C92ACF3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34009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Один человек → несколько представлений данных</a:t>
            </a:r>
            <a:endParaRPr sz="15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ACBA8DC-C9E5-48C9-998A-8F8A966C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751576"/>
            <a:ext cx="3108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4F6960"/>
                </a:solidFill>
                <a:latin typeface="Arial"/>
                <a:ea typeface="Arial"/>
                <a:cs typeface="Arial"/>
              </a:rPr>
              <a:t>Удаление одной строки не закрывает весь граф.</a:t>
            </a:r>
            <a:endParaRPr sz="11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72ED9AC-52CE-41CB-86A7-7C5861DF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029968"/>
            <a:ext cx="6995160" cy="3794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26BF5D2-9C6E-4521-9198-93B0BA10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313432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Скрытый путь назад</a:t>
            </a:r>
            <a:endParaRPr sz="20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87F7FC5-7584-4EB9-BB47-EDDA0CD8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670048"/>
            <a:ext cx="5212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4F6960"/>
                </a:solidFill>
                <a:latin typeface="Arial"/>
                <a:ea typeface="Arial"/>
                <a:cs typeface="Arial"/>
              </a:rPr>
              <a:t>Если производное осталось, запись можно восстановить снова.</a:t>
            </a:r>
            <a:endParaRPr sz="11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90496052-9B18-44D8-82C2-4C35EF5F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669280" y="3218688"/>
            <a:ext cx="1536192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704C93B-D0E0-4BF3-923F-9FF8B433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218688"/>
            <a:ext cx="1481328" cy="6583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9FF6D0A-5040-417A-940A-18834667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858768"/>
            <a:ext cx="1261872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9E7E4CC9-771A-4A9D-A022-0934A5A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931152" y="3840480"/>
            <a:ext cx="1755648" cy="877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E6456DB-1A48-45F1-A130-51255809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29584"/>
            <a:ext cx="15544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2E9BD5"/>
            </a:solidFill>
            <a:prstDash val="solid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20E8BF04-3794-4BAB-B738-C8FCD079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367588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0DFBCC7-5A36-4365-AF0D-3A5C7ABF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408" y="3621024"/>
            <a:ext cx="10515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источник</a:t>
            </a:r>
            <a:endParaRPr sz="13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5AD0C12E-17F4-405D-A499-513A6DD9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408" y="3867912"/>
            <a:ext cx="105156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строка аккаунта</a:t>
            </a:r>
            <a:endParaRPr sz="95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0FBC509-F4A2-4D07-A461-7064B7A3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2926080"/>
            <a:ext cx="17373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62283D8C-F17C-49C0-91A1-AECC9D54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07238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9E1E5393-AE61-4E67-87C8-A39EE920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3017520"/>
            <a:ext cx="1234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шаблон</a:t>
            </a:r>
            <a:endParaRPr sz="1300"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B675E597-C291-46F7-9FD1-CAE75490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3264408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лицо / признаки</a:t>
            </a:r>
            <a:endParaRPr sz="95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8E70A842-E181-4322-8C58-80196828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529584"/>
            <a:ext cx="15087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D49B43"/>
            </a:solidFill>
            <a:prstDash val="solid"/>
          </a:ln>
        </p:spPr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0E2D98A7-B6F3-44CE-AE93-027D01ED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7384" y="367588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9B43"/>
          </a:solidFill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192A525E-2EB3-4470-A30A-8ADC8535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3621024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кэш</a:t>
            </a:r>
            <a:endParaRPr sz="130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263874AD-E008-4302-BD66-88ACAB32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3867912"/>
            <a:ext cx="1005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реплика</a:t>
            </a:r>
            <a:endParaRPr sz="9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FA876D39-82EB-40CF-A709-DFB0EC2B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98848"/>
            <a:ext cx="175564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62D11553-7FF1-4959-994F-958C67F2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464515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0B76441-1990-41CC-A24E-898440F0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590288"/>
            <a:ext cx="125272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резерв</a:t>
            </a:r>
            <a:endParaRPr sz="1300"/>
          </a:p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B86B6285-B7DB-4828-8020-D4752AA1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837176"/>
            <a:ext cx="125272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восстановление</a:t>
            </a:r>
            <a:endParaRPr sz="950"/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E0354218-226E-4BF9-9598-F9C52243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5248656"/>
            <a:ext cx="6099048" cy="3474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3128401F-69BA-439E-9B9A-DD69C2C3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340096"/>
            <a:ext cx="57150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«DELETE 200 OK»  ≠  данные исчезли</a:t>
            </a:r>
            <a:endParaRPr sz="1120"/>
          </a:p>
        </p:txBody>
      </p:sp>
    </p:spTree>
    <p:extLst>
      <p:ext uri="{BB962C8B-B14F-4D97-AF65-F5344CB8AC3E}">
        <p14:creationId xmlns:p14="http://schemas.microsoft.com/office/powerpoint/2010/main" val="1153655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AC0516-5821-4A11-8BC8-52F5A660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7FC7629-A4EF-4664-9E63-813A08FA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9EE3BDA-0596-4AC2-BC3C-BDA992CB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D2A2F6F-4526-4EA8-8681-A8BB18AF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6D66F87-13C1-40A9-94D8-7DA33E33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4AAD725-B359-4B1D-B99F-5FF87443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МЕТОД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E5AA703-F18D-4137-82D2-353386BB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03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41F48FB-2D58-418F-9A59-FB318BD1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963E3AD-D70C-4967-9EE3-BF74FDC7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EFF5A0D-FF97-4214-B6B9-CBE5C4DE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Один алгоритм. Пять вопросов.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B4CE83-CA19-4B98-B9D8-48768B16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Модули помогают аудиту, но публичный объект — один понятный вердикт EraSeMap.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5DBBAA1-EE9F-4BDF-BDA2-03051CEA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144" y="3703320"/>
            <a:ext cx="694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3B66C32-428B-4BAD-B035-B72D3AEE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907792"/>
            <a:ext cx="1572768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2E9BD5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974DCCC-89E5-40D9-9DE4-64F43E1A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09067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68D3C1-3919-41CF-91C7-E9B1D802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27248"/>
            <a:ext cx="228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  <a:endParaRPr sz="73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E33473-CC52-48CF-84E2-2F3A233C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016" y="3072384"/>
            <a:ext cx="93268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1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Что существует?</a:t>
            </a:r>
            <a:endParaRPr sz="121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34E3B39-3871-4573-9592-3D8077F1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04164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карта копий</a:t>
            </a:r>
            <a:endParaRPr sz="96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2CE1251-7F8F-4EBD-A679-C988A50D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703320"/>
            <a:ext cx="694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81ABF99-1FA2-4121-910D-EF89961C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2907792"/>
            <a:ext cx="1572768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537168B-855A-42CD-8D75-D966D619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24" y="309067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D4E6F2B-82CF-47D1-81D6-DD01F43A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3127248"/>
            <a:ext cx="228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  <a:endParaRPr sz="73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0419CE-881E-4D21-A724-BF2FA1B2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3072384"/>
            <a:ext cx="93268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1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Где путь назад?</a:t>
            </a:r>
            <a:endParaRPr sz="121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5D5B56C-F0F8-4C2D-BEFA-6FC01CE4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24" y="404164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">
                <a:solidFill>
                  <a:srgbClr val="4F6960"/>
                </a:solidFill>
                <a:latin typeface="Arial"/>
                <a:ea typeface="Arial"/>
                <a:cs typeface="Arial"/>
              </a:rPr>
              <a:t>активные пробы</a:t>
            </a:r>
            <a:endParaRPr sz="96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084243B-2BF1-48C2-8F01-60039B0D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703320"/>
            <a:ext cx="694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5C377DC-9241-4D12-9034-E73E933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07792"/>
            <a:ext cx="1572768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D49B43"/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EA6071F-B3A2-4EB5-9014-E3023798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309067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9B43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42B39F0-C3F9-4B14-AD9F-F7DA9923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04" y="3127248"/>
            <a:ext cx="228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  <a:endParaRPr sz="73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CDF0D92-22F1-4DED-8AED-9818E76A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72384"/>
            <a:ext cx="93268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1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Что удалить?</a:t>
            </a:r>
            <a:endParaRPr sz="121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029C08F-9B91-486C-8AE4-EF5C3703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404164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">
                <a:solidFill>
                  <a:srgbClr val="4F6960"/>
                </a:solidFill>
                <a:latin typeface="Arial"/>
                <a:ea typeface="Arial"/>
                <a:cs typeface="Arial"/>
              </a:rPr>
              <a:t>минимальный план</a:t>
            </a:r>
            <a:endParaRPr sz="96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B1A9BD7-BC3D-4D0D-A402-054C73D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703320"/>
            <a:ext cx="694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DBA23FE-749A-4FB5-B8AB-7A476E35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907792"/>
            <a:ext cx="1572768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12C5620-0269-4408-A5A8-4FB50D7E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09067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8DA637A-BF38-416C-B1EF-3825443C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3127248"/>
            <a:ext cx="228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  <a:endParaRPr sz="73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42BCA92-786A-4CAB-943F-4B9F21BE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3072384"/>
            <a:ext cx="93268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1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Что будет завтра?</a:t>
            </a:r>
            <a:endParaRPr sz="121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696C6709-5A53-4632-896B-9DBA8947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04164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во времени</a:t>
            </a:r>
            <a:endParaRPr sz="96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F63155A-ED47-4729-876E-AF6BDAD7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907792"/>
            <a:ext cx="1572768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7077D7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069C99F4-83D6-4D74-B91D-52A3AB9C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9067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77D7"/>
          </a:solidFill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F898767-AFC4-4953-B7FD-6BF17A07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088" y="3127248"/>
            <a:ext cx="228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  <a:endParaRPr sz="73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83B7B3F-E792-4747-9984-C057637D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8984" y="3072384"/>
            <a:ext cx="93268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1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Что доказано?</a:t>
            </a:r>
            <a:endParaRPr sz="121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022C99D-8CFB-466E-8B97-FC7A57E1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041648"/>
            <a:ext cx="1280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60">
                <a:solidFill>
                  <a:srgbClr val="4F6960"/>
                </a:solidFill>
                <a:latin typeface="Arial"/>
                <a:ea typeface="Arial"/>
                <a:cs typeface="Arial"/>
              </a:rPr>
              <a:t>сертификат</a:t>
            </a:r>
            <a:endParaRPr sz="96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DDA44D20-051D-4CED-B43B-1F3314B5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4892040"/>
            <a:ext cx="9710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D299D078-393A-4A56-A4F9-34D5D69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056632"/>
            <a:ext cx="9235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карта  →  поиск  →  минимум действий  →  проверка во времени  →  сертификат</a:t>
            </a:r>
            <a:endParaRPr sz="13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129BFFB-EFB5-43A5-96B0-37A867E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779008"/>
            <a:ext cx="10012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4F6960"/>
                </a:solidFill>
                <a:latin typeface="Arial"/>
                <a:ea typeface="Arial"/>
                <a:cs typeface="Arial"/>
              </a:rPr>
              <a:t>Это одна процедура с пятью проверяемыми выходами — не набор несвязанных алгоритмов.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61667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AA874AA-81CB-4EE9-AD62-1BEF6569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5149E4-1E7E-402B-9BC6-54F998BB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ED8C3C5-F915-4CF3-A76C-97889F7D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43497E-0123-42BC-A632-7036486C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BAA90F9-4917-413F-93C8-A536A9CF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E5CC4C6-5342-46E8-8278-9606851A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ВЕРДИКТ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A538D30-9C86-4031-B3C0-3191A376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04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148E677-63EF-4A23-A02B-D5652752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12B40F-E71A-450C-BB19-8FF22070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F049D34-5919-45AA-99C8-8E981653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Сильная система умеет сказать: INCOMPLETE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25C2F48-96FC-4F4B-B620-DCEF892A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Если путь ещё активен, EraSeMap не выдаёт ложную уверенность.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67A226B-29D7-48CC-8EB6-42366903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3794760" cy="3474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2C864C6-1250-4323-8EFD-593C739E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468880"/>
            <a:ext cx="3246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INCOMPLETE</a:t>
            </a:r>
            <a:endParaRPr sz="3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1FFAC8-92F6-429A-8488-BA98A5DE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724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Найден путь восстановления</a:t>
            </a:r>
            <a:endParaRPr sz="13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35D52AD-888A-47CD-8189-1039100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041648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C068EBD-C4C6-4F05-BF0A-54A81CBF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404164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8E1CE90-2F47-4BC9-819B-C8BC8630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136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27F73C-92F5-4AF5-BFEC-A8DFFE0B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39136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CE04266-06A2-4867-BFDA-AE96491A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343400"/>
            <a:ext cx="777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F6960"/>
                </a:solidFill>
                <a:latin typeface="Arial"/>
                <a:ea typeface="Arial"/>
                <a:cs typeface="Arial"/>
              </a:rPr>
              <a:t>источник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C36437B-7B5B-4CCF-81B3-0273E07C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4343400"/>
            <a:ext cx="10515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F6960"/>
                </a:solidFill>
                <a:latin typeface="Arial"/>
                <a:ea typeface="Arial"/>
                <a:cs typeface="Arial"/>
              </a:rPr>
              <a:t>шаблон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A9FCD50-F4D2-4B42-B0B9-127F337E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4846320"/>
            <a:ext cx="306324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2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План удаления ещё не закрыл</a:t>
            </a:r>
            <a:endParaRPr sz="1320"/>
          </a:p>
          <a:p xmlns:a="http://schemas.openxmlformats.org/drawingml/2006/main">
            <a:pPr marL="0" indent="0" algn="ctr">
              <a:buNone/>
            </a:pPr>
            <a:r>
              <a:rPr sz="132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производный шаблон.</a:t>
            </a:r>
            <a:endParaRPr sz="13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B7E3936-391E-448F-A2D4-E8BBB374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057400"/>
            <a:ext cx="6327648" cy="3474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25166BA-458B-4B5D-BC1C-629E52E9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468880"/>
            <a:ext cx="5577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COMPLETE только если</a:t>
            </a:r>
            <a:endParaRPr sz="21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3EE3EEC-6DB1-418C-A21A-97C0F0C5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3054096"/>
            <a:ext cx="53492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7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P  ∧  D  ∧  T</a:t>
            </a:r>
            <a:endParaRPr sz="3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E554117-38F0-4A7C-9C30-608DF773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209EEA0-F835-4EFB-A039-591C28D6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</a:t>
            </a:r>
            <a:endParaRPr sz="10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4184EEB-37A4-4426-BAD0-CB36F5E0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физическое</a:t>
            </a:r>
            <a:endParaRPr sz="103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B23FE6E-40D7-49C3-840E-56F19158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4F6960"/>
                </a:solidFill>
                <a:latin typeface="Arial"/>
                <a:ea typeface="Arial"/>
                <a:cs typeface="Arial"/>
              </a:rPr>
              <a:t>все пути закрыты</a:t>
            </a:r>
            <a:endParaRPr sz="88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8947E52-B6AF-4861-A8C2-62744EE2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A22F4CD-18AD-49B1-B115-017FAC24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CCEE232-AD5A-4675-93FC-3D3097B3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производное</a:t>
            </a:r>
            <a:endParaRPr sz="103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1E048CC-71E7-41EE-B505-08DA4A92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4F6960"/>
                </a:solidFill>
                <a:latin typeface="Arial"/>
                <a:ea typeface="Arial"/>
                <a:cs typeface="Arial"/>
              </a:rPr>
              <a:t>шаблоны + индексы</a:t>
            </a:r>
            <a:endParaRPr sz="88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A488EDC-5144-4874-942F-49A09AA0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3977640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E642EB9-68CD-4B77-B8A3-2AADFAAC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4069080"/>
            <a:ext cx="310896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  <a:endParaRPr sz="10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F788114-4F8A-4A72-A2C9-AC57FD49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временное</a:t>
            </a:r>
            <a:endParaRPr sz="103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0CD46CA-4461-4299-94BB-8CCA71DB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4690872"/>
            <a:ext cx="1417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повтор не вернёт данные</a:t>
            </a:r>
            <a:endParaRPr sz="880"/>
          </a:p>
        </p:txBody>
      </p:sp>
    </p:spTree>
    <p:extLst>
      <p:ext uri="{BB962C8B-B14F-4D97-AF65-F5344CB8AC3E}">
        <p14:creationId xmlns:p14="http://schemas.microsoft.com/office/powerpoint/2010/main" val="16882354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5D92CC6-E09C-4E6E-8927-B1BC7A76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E4FF6E6-28F3-4E6B-ABEA-99142E97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EB477C-C0F8-4043-86BF-CC7F21D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0DE12A-531C-461B-ACCC-BF0429F6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E91C266-AD67-4837-9311-5676C60D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FE1D6C1-4050-4A7A-A256-39A4A6C2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ПРИМЕР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9A8778B-EF14-461F-BA2A-4A90ABC0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05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FB5C86A-1647-4ED3-B1D3-644B0B02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213BC62-DF67-4B8E-8FD4-9234DE41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4E14E69-4495-491E-972D-AFE59CA2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Один запрос: как EraSeMap проверяет удаление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4D83950-41B1-4328-9684-4B1B1102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Клиент просит удалить биометрический шаблон. Система проходит пять шагов, прежде чем сказать «готово».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7229570-5F19-4AB9-8F02-B62038D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344728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A785540-1E30-4B3F-8B24-C438A3BE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  <a:ln xmlns:a="http://schemas.openxmlformats.org/drawingml/2006/main" w="12700">
            <a:solidFill>
              <a:srgbClr val="2E9BD5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E38C868-6D33-4987-B071-FEBB8BDF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21608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Запрос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14D6DB-7F02-467D-8250-14390670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41648"/>
            <a:ext cx="15544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клиент просит удалить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1FA91B0-CFC0-4222-B72B-71E0ADE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344728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F5F1B26-50AE-4F59-A315-02C636D5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8346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056BA93-6203-487E-8BE8-86E4E71D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721608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Карта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1D9548-0963-44C9-8281-B5595126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041648"/>
            <a:ext cx="15544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где лежат копии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2DB6FE6-B5EF-4124-A2D3-BD0E37B5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44728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E048C74-9FC1-494C-83B3-3B0CEF3C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8346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9B43"/>
          </a:solidFill>
          <a:ln xmlns:a="http://schemas.openxmlformats.org/drawingml/2006/main" w="12700">
            <a:solidFill>
              <a:srgbClr val="D49B43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5741AD6-5C90-4C49-AF67-E5F988BD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3721608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Закрытие</a:t>
            </a:r>
            <a:endParaRPr sz="14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3055A42-BA24-4376-9697-4F171A3B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041648"/>
            <a:ext cx="15544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закрываем нужные артефакты</a:t>
            </a:r>
            <a:endParaRPr sz="1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284C886-41F9-4312-BD41-90AD54EB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47288"/>
            <a:ext cx="804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24A448-48A5-46AF-88C0-02FE195B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8346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863E1BF-2776-4F13-BD03-6D0A2441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3721608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Проверка</a:t>
            </a:r>
            <a:endParaRPr sz="14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A614D9E-B258-47E8-BB06-0771FA64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4041648"/>
            <a:ext cx="15544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проба + время</a:t>
            </a:r>
            <a:endParaRPr sz="10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D6B5BCB-BA91-4B7C-BF66-68FB4B0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28346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77D7"/>
          </a:solidFill>
          <a:ln xmlns:a="http://schemas.openxmlformats.org/drawingml/2006/main" w="12700">
            <a:solidFill>
              <a:srgbClr val="7077D7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1568F4A-ED19-4B89-BC1C-D3C34B84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3721608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Вердикт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E7762FF-5BEE-4C3E-A75E-436C36AF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4041648"/>
            <a:ext cx="15544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COMPLETE / INCOMPLETE</a:t>
            </a:r>
            <a:endParaRPr sz="10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B7536C7E-5BDE-4593-8ACC-9BCB3EF3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882896"/>
            <a:ext cx="4370832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DA3CCEF-427D-4182-BAE5-9B1E7F4F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39319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COMPLETE ⇔ все известные пути закрыты</a:t>
            </a:r>
            <a:endParaRPr sz="16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CE0454C-82A8-4E16-933A-039D39FE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82896"/>
            <a:ext cx="48920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152CE64-CE13-47E4-981B-5AE99292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074920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7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INCOMPLETE = риск найден</a:t>
            </a:r>
            <a:endParaRPr sz="127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8440A292-C52E-4A0A-8F49-0EC27E86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88736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4F6960"/>
                </a:solidFill>
                <a:latin typeface="Arial"/>
                <a:ea typeface="Arial"/>
                <a:cs typeface="Arial"/>
              </a:rPr>
              <a:t>Если путь неизвестен или риск найден — EraSeMap не говорит «готово».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7651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169AF8C-36C0-4B3A-9D9B-57EEC503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7194DC8-EFD2-42B6-9D56-04F2C4B3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3728B17-7AD6-42B9-8794-A221C166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DFDDDE2-4B84-42B4-BB30-E1E0392F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BE41F7-C25F-4005-9681-B59C87A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2ECF4AD-75A0-42E0-969F-3DE27E38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9916DF-AC38-4BB1-B39B-EA1774F5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ДОКАЗАТЕЛЬСТВА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F01B6A-47BD-4D1C-AE4B-1F8DEE35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06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CFE880D-1055-45CF-903E-71F77E08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650742-01CC-4DEE-BAA0-0F55DF43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301C785-ADAE-4893-AB16-64855A66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Сравнение 1 / ложное «ГОТОВО»</a:t>
            </a:r>
            <a:endParaRPr sz="27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B25398-33F8-436D-9817-AC91D7C0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Безопасность: false-COMPLETE — система сказала «готово», хотя данные ещё можно восстановить. Ниже — лучше.</a:t>
            </a:r>
            <a:endParaRPr sz="13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1DE42E3-3393-454A-94E0-09606F0F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8394192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082A597-4684-4EAE-A61A-5B8D1406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38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4335150-6F20-4D7A-9F7D-DF051998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Arial"/>
                <a:ea typeface="Arial"/>
                <a:cs typeface="Arial"/>
              </a:rPr>
              <a:t>БЕЗОПАСНОСТЬ  ·  НИЖЕ ЛУЧШЕ</a:t>
            </a:r>
            <a:endParaRPr sz="820"/>
          </a:p>
        </p:txBody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1e1993c7348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688" y="2488468"/>
            <a:ext cx="8065008" cy="2896048"/>
          </a:xfrm>
          <a:prstGeom xmlns:a="http://schemas.openxmlformats.org/drawingml/2006/main" prst="rect">
            <a:avLst/>
          </a:prstGeom>
        </p:spPr>
      </p:pic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6EDEFD1-4583-4712-A6CE-0B7B46E9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12848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0 / 60</a:t>
            </a:r>
            <a:endParaRPr sz="24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240B730-4B1C-460F-9857-7671FDB3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60320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открытый перенос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894C3F52-DC6E-446E-8BD0-178F3A1B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246120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 / 75</a:t>
            </a:r>
            <a:endParaRPr sz="2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2F5C41E4-7400-4496-B49B-82F122F6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593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исходный протокол</a:t>
            </a:r>
            <a:endParaRPr sz="9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12F8B6F-C60A-4902-94A0-0BC2EF98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279392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2E9BD5"/>
                </a:solidFill>
                <a:latin typeface="Arial"/>
                <a:ea typeface="Arial"/>
                <a:cs typeface="Arial"/>
              </a:rPr>
              <a:t>20 / 20</a:t>
            </a:r>
            <a:endParaRPr sz="2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E5BF01C-F696-4D0B-9069-B7029034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626864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повторная проверка</a:t>
            </a:r>
            <a:endParaRPr sz="95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5B6BFBB-34DD-4039-8175-F3960AC3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516636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Ограниченный протокол;</a:t>
            </a:r>
            <a:endParaRPr sz="1000"/>
          </a:p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4F6960"/>
                </a:solidFill>
                <a:latin typeface="Arial"/>
                <a:ea typeface="Arial"/>
                <a:cs typeface="Arial"/>
              </a:rPr>
              <a:t>не заявление о внедрении.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525303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2734DF8-279E-4942-A555-41AD8AB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3137A84-A209-46AB-B383-33C207A8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274CA0-53DF-4A85-A471-3D6155E2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299E1B9-A270-4087-9A93-7A32F923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2985439-675B-44BB-AD12-885694CE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75A482B-3726-4E47-B0FC-E0A3CE18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ДОКАЗАТЕЛЬСТВА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6CA7E6B-4612-4233-AE59-223B8503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07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AED1BBC-AACF-4919-B6F4-62BC6B9E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7C51651-1B9F-409B-BEFB-44408190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23FBA51-A364-42AB-AF02-28FF93B3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Сравнение 2 / эффективность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7CDD1C6-F8FA-4F51-9486-11F1A352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Одна задача удаления: стоимость действий, время, байты и успешное завершение. Ниже — лучше.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FC592CA-E86D-4031-8708-BE74329A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8650224" cy="3657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65F944D-0186-4D6A-BA36-F3685959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38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0B6656B-C0E3-4B43-935E-A541390F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СТОИМОСТЬ  ·  ВРЕМЯ  ·  БАЙТЫ  ·  НИЖЕ ЛУЧШЕ</a:t>
            </a:r>
            <a:endParaRPr sz="820"/>
          </a:p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fd9e8e014849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" y="2618463"/>
            <a:ext cx="8321040" cy="2471467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DC09499-F397-43CC-8B6F-C1989BAD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212848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17.64×</a:t>
            </a:r>
            <a:endParaRPr sz="2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D17027F-5E69-4855-9F79-A8945029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560320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быстрее полной пересборки</a:t>
            </a:r>
            <a:endParaRPr sz="95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EADC44-C64D-491B-A4B3-77AF6A77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3246120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−94.62%</a:t>
            </a:r>
            <a:endParaRPr sz="24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283B485-D785-42EF-9661-DFCA0092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3593592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перезаписанные байты</a:t>
            </a:r>
            <a:endParaRPr sz="95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52E9894-EB52-463E-BBE9-77CF64E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4279392"/>
            <a:ext cx="1463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2E9BD5"/>
                </a:solidFill>
                <a:latin typeface="Arial"/>
                <a:ea typeface="Arial"/>
                <a:cs typeface="Arial"/>
              </a:rPr>
              <a:t>17</a:t>
            </a:r>
            <a:endParaRPr sz="2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B43ED04B-0930-4EBB-A58D-872E062D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4626864"/>
            <a:ext cx="1645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4F6960"/>
                </a:solidFill>
                <a:latin typeface="Arial"/>
                <a:ea typeface="Arial"/>
                <a:cs typeface="Arial"/>
              </a:rPr>
              <a:t>средняя стоимость</a:t>
            </a:r>
            <a:endParaRPr sz="95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FB036C20-5F03-489F-87E3-75839EF0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5175504"/>
            <a:ext cx="205740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48880408-266A-4523-A6F8-07FE26F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285232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Сначала safety,</a:t>
            </a:r>
            <a:endParaRPr sz="1020"/>
          </a:p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потом оптимизация.</a:t>
            </a:r>
            <a:endParaRPr sz="1020"/>
          </a:p>
        </p:txBody>
      </p:sp>
    </p:spTree>
    <p:extLst>
      <p:ext uri="{BB962C8B-B14F-4D97-AF65-F5344CB8AC3E}">
        <p14:creationId xmlns:p14="http://schemas.microsoft.com/office/powerpoint/2010/main" val="1851688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EDC21D9-80C1-4ADB-97C4-B6A1C6F8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3DA5AC4-3032-4115-BDD1-F70619A2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129CBC-6FE8-4E44-944B-083E2DDC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C008A5E-A62B-4802-82D1-20332C44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5A9602-0B93-4F54-AF8B-F66FBB96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0C75252-571B-406B-AAED-665E05DE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ДОКАЗАТЕЛЬСТВА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009DBB0-B64B-4EA7-B46E-1753EC52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08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4EDDB77-B287-4B3C-B343-AA172BE2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E64C1F3-3BDE-4F66-A0EF-B17E1235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F232D5-EAEF-4B72-8717-408231A7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Сравнение 3 / поиск скрытого пути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210FF83-7AE1-4120-BE43-42E99132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Активная проба сокращает пространство гипотез после каждого ответа системы восстановления.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66749E2-3CA8-4280-9CAC-42F77EA6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7571232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0780C4-DC6B-4D53-AB7C-152F51A9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1408"/>
            <a:ext cx="2423160" cy="246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38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455C3F4-169D-41CD-9B8B-2BF79340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240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 spc="25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ПОИСК ПУТИ  ·  НИЖЕ ЛУЧШЕ</a:t>
            </a:r>
            <a:endParaRPr sz="820"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70478b4a64d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60698" y="2359152"/>
            <a:ext cx="5567740" cy="3236976"/>
          </a:xfrm>
          <a:prstGeom xmlns:a="http://schemas.openxmlformats.org/drawingml/2006/main" prst="rect">
            <a:avLst/>
          </a:prstGeom>
        </p:spPr>
      </p:pic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98AB0E03-F739-46C9-A69B-05294ECE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993392"/>
            <a:ext cx="2834640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FAED8BD-1F8C-4BEE-AC7B-9E366852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233172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Почему это важно</a:t>
            </a:r>
            <a:endParaRPr sz="2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2E8A6F4B-D9A5-458B-B5D4-01490001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2962656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7</a:t>
            </a:r>
            <a:endParaRPr sz="24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3CA80B1-033B-4A13-8BB0-F5F1D86B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035808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EraSeMap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A5AFD49-AA7D-476C-AE9F-97BBFA47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3529584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13</a:t>
            </a:r>
            <a:endParaRPr sz="2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6605BAF-EB1A-4695-9D79-745E001E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60273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случайный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28FCDE61-721A-4CFF-90EC-0ED44F8A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4096512"/>
            <a:ext cx="5029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49</a:t>
            </a:r>
            <a:endParaRPr sz="24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D09E2BE-0DC7-4E21-BBE8-BF5F7828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1696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полный перебор</a:t>
            </a:r>
            <a:endParaRPr sz="1100"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E5108B37-5404-4170-B742-29EEBF8D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5266944"/>
            <a:ext cx="2286000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8961B50-CBB7-4735-908B-505ABEC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5358384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50 / 50 новых семейств вне разработки</a:t>
            </a:r>
            <a:endParaRPr sz="840"/>
          </a:p>
        </p:txBody>
      </p:sp>
    </p:spTree>
    <p:extLst>
      <p:ext uri="{BB962C8B-B14F-4D97-AF65-F5344CB8AC3E}">
        <p14:creationId xmlns:p14="http://schemas.microsoft.com/office/powerpoint/2010/main" val="1874984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E827577-7A1D-41DF-B535-951F4B2D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9354A4A-20B8-4F50-940C-828E1BB5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011002A-8F30-4223-A7DD-F5FE61A0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0A35D6C-4805-4AFE-A01C-297F13A1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A4EA1EF-FD66-4E57-826D-A64B1CAB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A6D9A93-6FBD-4E4E-BA94-E61CD0D2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ДОКАЗАТЕЛЬСТВА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CE15DCD-7A3B-4881-9A6D-FC4AEBBC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09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CF5C807-59A6-4ABC-8917-A48A7C52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41738E2-C948-49F0-ACE2-48B075F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7D5CFFE-09BE-4165-A4B2-474C355A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Сравнение 4 / итог по критериям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078A80B-1432-47FF-A917-410068F4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Четыре независимых критерия — не единый сводный балл.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98EAD33-F716-4646-B969-00B6DE07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7735824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2792C98-2F79-4AA8-B74B-837DBA0B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86000"/>
            <a:ext cx="3931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Где EraSeMap лучше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A9ACDF8-F794-4189-A3C2-49EF7AA1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9CFA959-469E-44C7-ADD2-450430EB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85292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F2A0277-D10A-4881-B959-DC8368ED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779776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Безопасность</a:t>
            </a:r>
            <a:endParaRPr sz="112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266E2D8-69F3-4611-919C-88F2A153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017520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4F6960"/>
                </a:solidFill>
                <a:latin typeface="Arial"/>
                <a:ea typeface="Arial"/>
                <a:cs typeface="Arial"/>
              </a:rPr>
              <a:t>ложное «ГОТОВО» ↓</a:t>
            </a:r>
            <a:endParaRPr sz="8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D17506F-4118-4719-892F-0B3694A3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2779776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</a:t>
            </a:r>
            <a:endParaRPr sz="87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F6E6C63-5308-4AFE-9203-47BD36DB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2743200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0 / 100</a:t>
            </a:r>
            <a:endParaRPr sz="15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C6AE426-3315-49DC-863B-6B2A17D4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999232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8D6CE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3A5B5C9-4CD7-4300-A04C-E0F9CB87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779776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чек-лист</a:t>
            </a:r>
            <a:endParaRPr sz="87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3A8198-C18F-455F-9564-C1DD7BA2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743200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100 / 100</a:t>
            </a:r>
            <a:endParaRPr sz="15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8C48063-8E32-4CF6-B8D0-5F143491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83280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FB0634D-3544-4351-8FC9-5CE7F9AC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56616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C358114-B03F-4083-9ABC-0A829EF9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493008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Будущая регенерация</a:t>
            </a:r>
            <a:endParaRPr sz="11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9A73699-8E05-4C52-911F-B83E6757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730752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4F6960"/>
                </a:solidFill>
                <a:latin typeface="Arial"/>
                <a:ea typeface="Arial"/>
                <a:cs typeface="Arial"/>
              </a:rPr>
              <a:t>найденные риски ↑</a:t>
            </a:r>
            <a:endParaRPr sz="8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AA48239-0403-4761-AC91-5CCDB434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493008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</a:t>
            </a:r>
            <a:endParaRPr sz="87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B40074D-E0B5-4D77-BB5F-E8B900BC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3456432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30 / 30</a:t>
            </a:r>
            <a:endParaRPr sz="15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033EB5B7-E2D3-41D8-93D8-6F29945B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712464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8D6CE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C8CC5D0-150E-4A09-811A-8148FD19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49300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снимок</a:t>
            </a:r>
            <a:endParaRPr sz="87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1612C85-C9B3-4AF3-B84B-362167C1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456432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0 / 30</a:t>
            </a:r>
            <a:endParaRPr sz="15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ECF75D2-A50F-496A-90F8-D610F508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96512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3C1F48C-2B8A-478B-9796-73E0A5A8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2793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9B43"/>
          </a:solidFill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910E72C-B058-42DF-B7DC-208E4719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206240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Стоимость действий</a:t>
            </a:r>
            <a:endParaRPr sz="11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636637D3-B325-4076-9341-1C30427C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443984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4F6960"/>
                </a:solidFill>
                <a:latin typeface="Arial"/>
                <a:ea typeface="Arial"/>
                <a:cs typeface="Arial"/>
              </a:rPr>
              <a:t>средняя стоимость ↓</a:t>
            </a:r>
            <a:endParaRPr sz="8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6EC84F4-B01B-445D-BC12-63685AC2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4206240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</a:t>
            </a:r>
            <a:endParaRPr sz="87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1DF8DE7-CF31-46C4-8D03-7E17ABEE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169664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17</a:t>
            </a:r>
            <a:endParaRPr sz="15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CA4D337-8A8E-4FF8-9CC5-D91DDB4C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42569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8D6CE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1EF27E3B-1A6C-4698-9600-1D08189C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206240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удалить всё</a:t>
            </a:r>
            <a:endParaRPr sz="87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7FEE6B0-684C-4D8A-A3CC-70868B0A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169664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48.67</a:t>
            </a:r>
            <a:endParaRPr sz="15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077167B1-9623-423D-BDEA-CE84DE64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809744"/>
            <a:ext cx="7086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D90A5237-1B16-4DA2-830F-3428CA2E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9926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68AC2CC-3400-467B-A9D4-2C13EEBE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919472"/>
            <a:ext cx="2331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Время задачи</a:t>
            </a:r>
            <a:endParaRPr sz="112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1A81948F-0CE5-4DC2-B5D7-40726033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157216"/>
            <a:ext cx="1417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4F6960"/>
                </a:solidFill>
                <a:latin typeface="Arial"/>
                <a:ea typeface="Arial"/>
                <a:cs typeface="Arial"/>
              </a:rPr>
              <a:t>норм. время ↓</a:t>
            </a:r>
            <a:endParaRPr sz="8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727570A5-E38D-4493-A7FC-9AE5ED15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4919472"/>
            <a:ext cx="1051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</a:t>
            </a:r>
            <a:endParaRPr sz="87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A06FF1E-A5AC-413B-BA71-4F05C07E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882896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5.67%</a:t>
            </a:r>
            <a:endParaRPr sz="150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97930087-8D9F-41B4-A435-ABD6566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138928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C8D6CE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EA12EBA0-4454-4BB7-90CC-3DA1F454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919472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7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пересобрать всё</a:t>
            </a:r>
            <a:endParaRPr sz="870"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AF041560-8CA2-463E-A901-B60754D6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882896"/>
            <a:ext cx="8961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100%</a:t>
            </a:r>
            <a:endParaRPr sz="150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01A88428-B810-4F31-870A-1B6262D5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1993392"/>
            <a:ext cx="2670048" cy="36758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517538D9-30E5-45AD-936E-31F5CED5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31720"/>
            <a:ext cx="2231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Где не заявляем</a:t>
            </a:r>
            <a:endParaRPr sz="19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74A17E3-AA99-4B27-92CA-EC81E3EA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2999232"/>
            <a:ext cx="217627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Кандидат MUFAC не прошёл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порог полезности для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оставшихся пользователей.</a:t>
            </a:r>
            <a:endParaRPr sz="103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F9EC8994-907D-4849-B52E-F7E8D034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3703320"/>
            <a:ext cx="2176272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92D4652-FE26-4C91-BED3-3F4AA4A9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822192"/>
            <a:ext cx="18836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FAIL · полезность</a:t>
            </a:r>
            <a:endParaRPr sz="900"/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559E8DBA-AE6C-4D3F-9EE5-D8D1DAD0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389120"/>
            <a:ext cx="23774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4F6960"/>
                </a:solidFill>
                <a:latin typeface="Arial"/>
                <a:ea typeface="Arial"/>
                <a:cs typeface="Arial"/>
              </a:rPr>
              <a:t>Точная пересборка сохраняет</a:t>
            </a:r>
            <a:endParaRPr sz="1020"/>
          </a:p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4F6960"/>
                </a:solidFill>
                <a:latin typeface="Arial"/>
                <a:ea typeface="Arial"/>
                <a:cs typeface="Arial"/>
              </a:rPr>
              <a:t>безопасность, но не ускоряет работу.</a:t>
            </a:r>
            <a:endParaRPr sz="1020"/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EEFD37EC-08D1-46BC-A569-BC091B9E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157216"/>
            <a:ext cx="224942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4F6960"/>
                </a:solidFill>
                <a:latin typeface="Arial"/>
                <a:ea typeface="Arial"/>
                <a:cs typeface="Arial"/>
              </a:rPr>
              <a:t>Метрики взяты из отдельных</a:t>
            </a:r>
            <a:endParaRPr sz="900"/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4F6960"/>
                </a:solidFill>
                <a:latin typeface="Arial"/>
                <a:ea typeface="Arial"/>
                <a:cs typeface="Arial"/>
              </a:rPr>
              <a:t>экспериментов с одним протоколом.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58148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029083-E668-4DF2-9F2B-187A3925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FC446A6-5E0B-4973-AE57-A816E774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EC06990-9031-4DC4-A4E8-90299AF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14BDF20-A0BB-4639-959B-47CA5234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CCE81-D4CE-431D-B02B-70E1EFA2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121B6E1-5BCB-4451-A179-8C5D09DE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4F0C0C4-678A-4EFE-8F9F-8408427C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ТЕОРИЯ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92A8239-4BFD-435B-A231-4565E731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10</a:t>
            </a:r>
            <a:endParaRPr sz="8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9256F9B-1A76-4EF0-96A7-D3F08915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A13BD0-0707-4264-951B-889AFDD8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B3B7D9-0193-4B15-8C42-88F8DFA8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Формула вердикта и три проверяемых условия</a:t>
            </a:r>
            <a:endParaRPr sz="27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48E7E36-B9FB-464A-A9D7-8C73870F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Короткая запись облегчает объяснение; мы проверяем совместную корректность условий.</a:t>
            </a:r>
            <a:endParaRPr sz="13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6727AF6-0E5E-47D4-9028-6F161AF2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84248"/>
            <a:ext cx="1019556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06E5496-3CB5-4383-ADAA-B9D11453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67712"/>
            <a:ext cx="9738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COMPLETE  ⇔  P  ∧  D  ∧  T</a:t>
            </a:r>
            <a:endParaRPr sz="3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4354715-68F8-4544-B4DD-B87EC24C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2E9BD5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12CC254-F396-47E4-B6D3-76E5F111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DE65600-3AAD-48D7-99E3-4C8077B1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1542296-6E55-4336-84DB-CF4DA938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физическое</a:t>
            </a:r>
            <a:endParaRPr sz="122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64ED5AC-8D32-4636-8D37-DBB1B6A0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4F6960"/>
                </a:solidFill>
                <a:latin typeface="Arial"/>
                <a:ea typeface="Arial"/>
                <a:cs typeface="Arial"/>
              </a:rPr>
              <a:t>все пути закрыты</a:t>
            </a:r>
            <a:endParaRPr sz="94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FEA4EDA-6274-4CF7-AA70-EC8016F4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5B5DAEC-447D-4553-9BE3-900E0BF5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A0731E1-0CA1-4ECD-AA0F-7A9A6F04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701069E-25BF-412C-9E8F-9F6B6349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производное</a:t>
            </a:r>
            <a:endParaRPr sz="122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77E9B0D-2532-453D-976C-021502D3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4F6960"/>
                </a:solidFill>
                <a:latin typeface="Arial"/>
                <a:ea typeface="Arial"/>
                <a:cs typeface="Arial"/>
              </a:rPr>
              <a:t>шаблоны + индексы</a:t>
            </a:r>
            <a:endParaRPr sz="94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2ACD237-4554-4C0A-838E-A089960D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429000"/>
            <a:ext cx="3054096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939D043-754C-4DC8-B698-29257277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4904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25AAD37-12C8-413C-9133-D91EE725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858768"/>
            <a:ext cx="402336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C458376-EC6A-4941-B895-6C2C1FE4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3657600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временное</a:t>
            </a:r>
            <a:endParaRPr sz="12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43436B8-2527-4258-AC7D-0CE1AC94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3959352"/>
            <a:ext cx="20299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повтор не вернёт данные</a:t>
            </a:r>
            <a:endParaRPr sz="94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7037F8C-94FC-4F67-B640-602B3F19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184648"/>
            <a:ext cx="10149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D5B50"/>
                </a:solidFill>
                <a:latin typeface="Arial"/>
                <a:ea typeface="Arial"/>
                <a:cs typeface="Arial"/>
              </a:rPr>
              <a:t>3 072 / 3 072 формальных проверок прошли в proof harness проекта.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AE8AE32-68BB-450C-9C18-04D07FCE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650992"/>
            <a:ext cx="10012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4F6960"/>
                </a:solidFill>
                <a:latin typeface="Arial"/>
                <a:ea typeface="Arial"/>
                <a:cs typeface="Arial"/>
              </a:rPr>
              <a:t>Это проверка соответствия протоколу, а не доказательство внедрения в production.</a:t>
            </a:r>
            <a:endParaRPr sz="1120"/>
          </a:p>
        </p:txBody>
      </p:sp>
    </p:spTree>
    <p:extLst>
      <p:ext uri="{BB962C8B-B14F-4D97-AF65-F5344CB8AC3E}">
        <p14:creationId xmlns:p14="http://schemas.microsoft.com/office/powerpoint/2010/main" val="8282506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074D4EB-D0FC-4ADB-A93C-82BABB74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AFDA9E6-6F2B-41B7-B339-47BC26D7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51B95CA-4E47-4BA8-9A8F-78AE2DE1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EA1ACB5-3456-4E71-B4E7-09CFD574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5F71BCF-AED1-4E89-B6AA-D621ECF5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4821E9-734C-4D0C-8990-22841B32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ОГРАНИЧЕНИЕ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A8C10E3-D2CF-4B24-AB63-3D306F7F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11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AF785EC-4302-4288-9F24-DEC1A40C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A93544B-B449-4E2F-91EC-C0B3A852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B95622F-D5A3-4491-ABE3-13753CBC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Влияние на модель — отдельный канал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4F9D15-D07E-404D-971B-2216D6BC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Model unlearning проверяется отдельно и не заменяет физическое удаление.</a:t>
            </a:r>
            <a:endParaRPr sz="133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D7F5014-8AF3-4CA1-BE7E-CAF66612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993392"/>
            <a:ext cx="5074920" cy="3520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B2ABF25-64F3-404E-9A09-9A3102B0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331720"/>
            <a:ext cx="4343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Что проверяем</a:t>
            </a:r>
            <a:endParaRPr sz="2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00099A9-3D65-4ADC-BADF-28F90CE3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923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750FCB-D0F9-4489-A64B-7BC70CA7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1528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  <a:endParaRPr sz="7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013488D-513D-4566-BD78-17F8E764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3017520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влияние / полезность для оставшихся</a:t>
            </a:r>
            <a:endParaRPr sz="122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FFFB2AE-E6C0-4CEE-A36B-8152EC69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7641F9A-3AFB-41CF-91A0-EFED26E9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39896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  <a:endParaRPr sz="7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9A1DF68-323F-4BD6-BE02-04B7DA1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3675888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сравнение с точным переобучением</a:t>
            </a:r>
            <a:endParaRPr sz="122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C4B3F82-1D5C-466E-B6A3-F0C812DF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1596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478AAFB-42B4-4B4F-86B3-34B38563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98264"/>
            <a:ext cx="2743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  <a:endParaRPr sz="7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99D3B1-79F3-492A-A8B5-61073C7E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4334256"/>
            <a:ext cx="3611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атака на приватность + порог качества</a:t>
            </a:r>
            <a:endParaRPr sz="122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088EF56-5E7E-4C50-907A-FE898042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93392"/>
            <a:ext cx="5138928" cy="3520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6619FB4-DE0B-444E-A087-CD320A8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31720"/>
            <a:ext cx="4425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Реальный результат</a:t>
            </a:r>
            <a:endParaRPr sz="2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99E640F-033E-4713-874B-0DEB439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9232"/>
            <a:ext cx="3566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Кандидат MUFAC</a:t>
            </a:r>
            <a:endParaRPr sz="16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B248D9C-7A6A-4B0E-B347-230215B5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64992"/>
            <a:ext cx="2395728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A8D9E91-AF1E-4015-B2A5-4A30D448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47288"/>
            <a:ext cx="215798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FAIL · порог полезности</a:t>
            </a:r>
            <a:endParaRPr sz="81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FE884A2-34D7-4379-A3ED-00A71240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42232"/>
            <a:ext cx="3566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Точное переобучение</a:t>
            </a:r>
            <a:endParaRPr sz="16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9AFF7C7-8EBB-4203-B57A-89BCB3E5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07992"/>
            <a:ext cx="2304288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3DB8757-4284-4608-9AE8-279CAF5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590288"/>
            <a:ext cx="206654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PASS · безопасно / без ускорения</a:t>
            </a:r>
            <a:endParaRPr sz="81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CC70D7D-1A03-437B-B1B0-06CABF70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7880"/>
            <a:ext cx="9966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60">
                <a:solidFill>
                  <a:srgbClr val="4F6960"/>
                </a:solidFill>
                <a:latin typeface="Arial"/>
                <a:ea typeface="Arial"/>
                <a:cs typeface="Arial"/>
              </a:rPr>
              <a:t>Честная граница: приближённое переобучение не считается успешным без проверки полезности.</a:t>
            </a:r>
            <a:endParaRPr sz="1160"/>
          </a:p>
        </p:txBody>
      </p:sp>
    </p:spTree>
    <p:extLst>
      <p:ext uri="{BB962C8B-B14F-4D97-AF65-F5344CB8AC3E}">
        <p14:creationId xmlns:p14="http://schemas.microsoft.com/office/powerpoint/2010/main" val="21023291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C8B23F4-1CFA-46D0-A7BD-D63AB8FE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10195560" y="36576"/>
            <a:ext cx="1755648" cy="8778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3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9268AB2-6C3F-4739-9EEA-7F36F17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FF346DE-334F-4197-A6A8-CDBD5E12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7B27727-EEE4-4C94-A15B-05A3E10A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66A4668-8FE2-4D48-9174-7DDD722A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0EBD195-93C1-44BD-A58C-21F68A0D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8600"/>
            <a:ext cx="3017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 spc="4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ПОЗИЦИОНИРОВАНИЕ</a:t>
            </a:r>
            <a:endParaRPr sz="8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99F48B8-E609-4390-8162-2C684371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12</a:t>
            </a:r>
            <a:endParaRPr sz="8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86302BA-7346-4635-83FD-A8DB1D9B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 spc="1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7ECDD44-AAE0-457F-8D42-09FD67C4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7C5FD2C-C106-48D1-84F4-DDDAC938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841248"/>
            <a:ext cx="1060704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Новизна — в составе доказательств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D3039B-56A7-4EF1-92B2-7714DF87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408176"/>
            <a:ext cx="102412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30">
                <a:solidFill>
                  <a:srgbClr val="4F6960"/>
                </a:solidFill>
                <a:latin typeface="Arial"/>
                <a:ea typeface="Arial"/>
                <a:cs typeface="Arial"/>
              </a:rPr>
              <a:t>Не четыре разрозненных алгоритма, а одна процедура, закрывающая три риска.</a:t>
            </a:r>
            <a:endParaRPr sz="133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C0E68B2-681D-457B-A2DD-B9B87070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011680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Три отличительных объекта</a:t>
            </a:r>
            <a:endParaRPr sz="2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C103DB1-E938-4219-93BE-C777F6CC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67919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BD5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1DF48A-C296-4C0C-8E65-52FD8A9F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697480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путь восстановления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9745A7E-74F8-4922-8EFC-3C0A9FCC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971800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4F6960"/>
                </a:solidFill>
                <a:latin typeface="Arial"/>
                <a:ea typeface="Arial"/>
                <a:cs typeface="Arial"/>
              </a:rPr>
              <a:t>ищем, где запись может появиться снова</a:t>
            </a:r>
            <a:endParaRPr sz="97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044BC0B-B389-4025-901C-6FD83913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43814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03F10ED-C3B7-4733-8FBD-3A3072A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45643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временное закрытие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3956FE-AEB5-4C9C-9F49-17868851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730752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проверяем будущую регенерацию</a:t>
            </a:r>
            <a:endParaRPr sz="97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ED3395B-9603-4A74-9565-AD7E19E3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970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77D7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FCCA49B-8654-40D9-87E2-B427E31E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4215384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сертификат удаления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11C60D5-59D3-4E15-AD76-4C52BE09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4489704"/>
            <a:ext cx="3154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4F6960"/>
                </a:solidFill>
                <a:latin typeface="Arial"/>
                <a:ea typeface="Arial"/>
                <a:cs typeface="Arial"/>
              </a:rPr>
              <a:t>показываем границу неизвестности</a:t>
            </a:r>
            <a:endParaRPr sz="97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BC1A45-2FE4-49FC-B27B-0F6BB606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2011680"/>
            <a:ext cx="5843016" cy="3584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12700">
            <a:solidFill>
              <a:srgbClr val="C8D6CE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5B6FFC-56E6-4231-96A0-3DECDF61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340864"/>
            <a:ext cx="4956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Лестница доказательств</a:t>
            </a:r>
            <a:endParaRPr sz="20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19158F9-7C04-47B4-8029-7D58C2A4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962656"/>
            <a:ext cx="2011680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BFDC225-7C31-4ECF-A187-41DB1C2D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1294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→</a:t>
            </a:r>
            <a:endParaRPr sz="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C4EAD3A-63E4-4722-B60C-5913D10B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01294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пилот внедрения</a:t>
            </a:r>
            <a:endParaRPr sz="88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85E381A-0DAB-48EF-9C2D-6EBD8724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3374136"/>
            <a:ext cx="2011680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D2C8"/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84208D7-E069-43CF-88D8-19C2EFEA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2442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→</a:t>
            </a:r>
            <a:endParaRPr sz="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A0B5CCF-6256-4AF0-A654-E2E25FC8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42442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скрытая проверка</a:t>
            </a:r>
            <a:endParaRPr sz="88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DCB1FB5-967E-406A-92F5-C3448091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3785616"/>
            <a:ext cx="3639312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A5164E8-09C4-4C11-BE24-AB6C8C8C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3590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✓</a:t>
            </a:r>
            <a:endParaRPr sz="8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BB9E5DC-7F67-48B4-9CCC-098DAA9E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3590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семейства вне разработки</a:t>
            </a:r>
            <a:endParaRPr sz="88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CBBB131-0D3B-450D-8E2E-216569CD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197096"/>
            <a:ext cx="3493008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231F49F-756F-44FD-9112-62546519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24738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✓</a:t>
            </a:r>
            <a:endParaRPr sz="8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E82A03A0-8C61-4A73-9964-0A1C6E4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24738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скрытая выборка</a:t>
            </a:r>
            <a:endParaRPr sz="88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8B3EE5FF-2B80-44A8-8CDF-919D878D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608576"/>
            <a:ext cx="3346704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F52D981-B16A-4667-9F98-CEA126AC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58868"/>
            <a:ext cx="33832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✓</a:t>
            </a:r>
            <a:endParaRPr sz="8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F449E77A-9379-454D-925A-F2C5D694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658868"/>
            <a:ext cx="3017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воспроизводимая лаборатория</a:t>
            </a:r>
            <a:endParaRPr sz="88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4AB9ABD-754A-458D-B9CC-402AAE97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5138928"/>
            <a:ext cx="504748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70">
                <a:solidFill>
                  <a:srgbClr val="4F6960"/>
                </a:solidFill>
                <a:latin typeface="Arial"/>
                <a:ea typeface="Arial"/>
                <a:cs typeface="Arial"/>
              </a:rPr>
              <a:t>Сейчас: сильная воспроизводимость и ограниченные внешние данные.</a:t>
            </a:r>
            <a:endParaRPr sz="1070"/>
          </a:p>
          <a:p xmlns:a="http://schemas.openxmlformats.org/drawingml/2006/main">
            <a:pPr marL="0" indent="0" algn="ctr">
              <a:buNone/>
            </a:pPr>
            <a:r>
              <a:rPr sz="1070">
                <a:solidFill>
                  <a:srgbClr val="4F6960"/>
                </a:solidFill>
                <a:latin typeface="Arial"/>
                <a:ea typeface="Arial"/>
                <a:cs typeface="Arial"/>
              </a:rPr>
              <a:t>Следующий честный шаг — независимая скрытая проверка.</a:t>
            </a:r>
            <a:endParaRPr sz="1070"/>
          </a:p>
        </p:txBody>
      </p:sp>
    </p:spTree>
    <p:extLst>
      <p:ext uri="{BB962C8B-B14F-4D97-AF65-F5344CB8AC3E}">
        <p14:creationId xmlns:p14="http://schemas.microsoft.com/office/powerpoint/2010/main" val="9756193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2872596-0D20-4552-9C22-09D3E6C9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0000">
            <a:off x="9912096" y="0"/>
            <a:ext cx="2194560" cy="1234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6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7C83B4F-5233-48AC-9066-DD84058E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">
            <a:off x="10744200" y="164592"/>
            <a:ext cx="1188720" cy="8046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68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A130B8-F779-4042-92BB-AE1A48BC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0" y="6236208"/>
            <a:ext cx="1920240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38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3D7C843-4CDD-497E-8FC7-31790BB0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960120"/>
            <a:ext cx="1325880" cy="3474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4E260F9-10EB-4D45-B34A-CD333A76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032" y="420624"/>
            <a:ext cx="694944" cy="384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D93EFB4-E017-42CD-8729-4FA7BBDC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286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9E94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3AADADF-7A59-4720-AEA8-1F3136D6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93192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5E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D363D4B-04DD-47EC-8A61-E095B67F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02336"/>
            <a:ext cx="3291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80">
                <a:solidFill>
                  <a:srgbClr val="079E94"/>
                </a:solidFill>
                <a:latin typeface="Arial"/>
                <a:ea typeface="Arial"/>
                <a:cs typeface="Arial"/>
              </a:rPr>
              <a:t>ERASEMAP  /  CONCLUSION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D40C1C-7DB9-4965-B79D-13924E6F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417320"/>
            <a:ext cx="534924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Проверять путь,</a:t>
            </a:r>
            <a:endParaRPr sz="4200"/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а не обещание.</a:t>
            </a:r>
            <a:endParaRPr sz="4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AF714A3-F5FE-47D5-BD8A-F6B968FE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246120"/>
            <a:ext cx="516636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4F6960"/>
                </a:solidFill>
                <a:latin typeface="Arial"/>
                <a:ea typeface="Arial"/>
                <a:cs typeface="Arial"/>
              </a:rPr>
              <a:t>EraSeMap превращает удаление из одной команды</a:t>
            </a:r>
            <a:endParaRPr sz="1650"/>
          </a:p>
          <a:p xmlns:a="http://schemas.openxmlformats.org/drawingml/2006/main">
            <a:pPr marL="0" indent="0" algn="l">
              <a:buNone/>
            </a:pPr>
            <a:r>
              <a:rPr sz="1650">
                <a:solidFill>
                  <a:srgbClr val="4F6960"/>
                </a:solidFill>
                <a:latin typeface="Arial"/>
                <a:ea typeface="Arial"/>
                <a:cs typeface="Arial"/>
              </a:rPr>
              <a:t>в проверяемый, устойчивый во времени вердикт.</a:t>
            </a:r>
            <a:endParaRPr sz="16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C3D820C-C4BF-4B76-8FD2-5D0062E1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443984"/>
            <a:ext cx="45262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2F0E8"/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E7D8A0A-F383-4A15-8316-A803F7E5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4617720"/>
            <a:ext cx="41879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3F38"/>
                </a:solidFill>
                <a:latin typeface="Arial"/>
                <a:ea typeface="Arial"/>
                <a:cs typeface="Arial"/>
              </a:rPr>
              <a:t>Следующий эксперимент: независимая скрытая проверка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8F2179B-E31C-43BC-AE58-1AF16E5A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011680"/>
            <a:ext cx="1207008" cy="8046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179589E-40EE-4799-B7F5-DFC8D935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321040" y="2816352"/>
            <a:ext cx="566928" cy="1078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3A7F21F-D826-4254-BB2B-A440F52F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321040" y="3255264"/>
            <a:ext cx="1234440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DCF8AF7-3181-4DCB-8BE0-121D1447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1737360"/>
            <a:ext cx="1481328" cy="14813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E4D6">
              <a:alpha val="85000"/>
            </a:srgbClr>
          </a:solidFill>
          <a:ln xmlns:a="http://schemas.openxmlformats.org/drawingml/2006/main" w="12700">
            <a:solidFill>
              <a:srgbClr val="079E94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E04CE00-75FA-4324-B5BB-DAEDACFB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2331720"/>
            <a:ext cx="14813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79E94"/>
                </a:solidFill>
                <a:latin typeface="Arial"/>
                <a:ea typeface="Arial"/>
                <a:cs typeface="Arial"/>
              </a:rPr>
              <a:t>MAP</a:t>
            </a:r>
            <a:endParaRPr sz="15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E6DEE9D-3B49-4736-9971-CD435886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2743200"/>
            <a:ext cx="1170432" cy="11704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D2C8">
              <a:alpha val="88000"/>
            </a:srgbClr>
          </a:solidFill>
          <a:ln xmlns:a="http://schemas.openxmlformats.org/drawingml/2006/main" w="12700">
            <a:solidFill>
              <a:srgbClr val="E8795E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10986DE-D548-4208-BDE8-50A7521A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3236976"/>
            <a:ext cx="117043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8795E"/>
                </a:solidFill>
                <a:latin typeface="Arial"/>
                <a:ea typeface="Arial"/>
                <a:cs typeface="Arial"/>
              </a:rPr>
              <a:t>PROVE</a:t>
            </a:r>
            <a:endParaRPr sz="13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2205ED7-B08E-4652-9174-72CB1DAD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89120"/>
            <a:ext cx="960120" cy="96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F0E8">
              <a:alpha val="90000"/>
            </a:srgbClr>
          </a:solidFill>
          <a:ln xmlns:a="http://schemas.openxmlformats.org/drawingml/2006/main" w="12700">
            <a:solidFill>
              <a:srgbClr val="7077D7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772347D-2250-440F-B5F3-BDD74754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82312"/>
            <a:ext cx="960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7077D7"/>
                </a:solidFill>
                <a:latin typeface="Arial"/>
                <a:ea typeface="Arial"/>
                <a:cs typeface="Arial"/>
              </a:rPr>
              <a:t>SAFE</a:t>
            </a:r>
            <a:endParaRPr sz="11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36AD910-DF81-4EC9-A3A9-65D0AD86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601968"/>
            <a:ext cx="2743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4F6960"/>
                </a:solidFill>
                <a:latin typeface="Arial"/>
                <a:ea typeface="Arial"/>
                <a:cs typeface="Arial"/>
              </a:rPr>
              <a:t>проверка удаления по доказательствам</a:t>
            </a:r>
            <a:endParaRPr sz="72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4FDF916-FE72-48DB-BD79-DE51C2F0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601968"/>
            <a:ext cx="98755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РКНП · ISEF 2026</a:t>
            </a:r>
            <a:endParaRPr sz="72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000EA58-3368-45C0-A088-E8CBBE62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228600"/>
            <a:ext cx="411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4F6960"/>
                </a:solidFill>
                <a:latin typeface="Arial"/>
                <a:ea typeface="Arial"/>
                <a:cs typeface="Arial"/>
              </a:rPr>
              <a:t>13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3482419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2026-08-28T22:51:47.5190000Z</dcterms:created>
  <dcterms:modified xsi:type="dcterms:W3CDTF">2026-08-28T22:51:47.5190000Z</dcterms:modified>
</coreProperties>
</file>