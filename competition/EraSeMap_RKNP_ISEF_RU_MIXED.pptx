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d3ab8fe3af4824" /><Relationship Type="http://schemas.openxmlformats.org/officeDocument/2006/relationships/extended-properties" Target="/docProps/app.xml" Id="R68c6f1e0a06040a4" /><Relationship Type="http://schemas.openxmlformats.org/officeDocument/2006/relationships/officeDocument" Target="/ppt/presentation.xml" Id="R42638906145c48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fe4963d3d74aac"/>
  </p:sldMasterIdLst>
  <p:notesMasterIdLst>
    <p:notesMasterId xmlns:r="http://schemas.openxmlformats.org/officeDocument/2006/relationships" r:id="Rd4b8fba1edd44586"/>
  </p:notesMasterIdLst>
  <p:sldIdLst>
    <p:sldId xmlns:r="http://schemas.openxmlformats.org/officeDocument/2006/relationships" id="256" r:id="Reaa7675c994d4a2e"/>
    <p:sldId xmlns:r="http://schemas.openxmlformats.org/officeDocument/2006/relationships" id="257" r:id="R57533149af2c4a09"/>
    <p:sldId xmlns:r="http://schemas.openxmlformats.org/officeDocument/2006/relationships" id="258" r:id="Rce297e63f08e4dd1"/>
    <p:sldId xmlns:r="http://schemas.openxmlformats.org/officeDocument/2006/relationships" id="259" r:id="R7446eea5dd7e495f"/>
    <p:sldId xmlns:r="http://schemas.openxmlformats.org/officeDocument/2006/relationships" id="260" r:id="R01f76af4f76e4cab"/>
    <p:sldId xmlns:r="http://schemas.openxmlformats.org/officeDocument/2006/relationships" id="261" r:id="Rb73bceef41d245b0"/>
    <p:sldId xmlns:r="http://schemas.openxmlformats.org/officeDocument/2006/relationships" id="262" r:id="Rc96e76cb6dd646d2"/>
    <p:sldId xmlns:r="http://schemas.openxmlformats.org/officeDocument/2006/relationships" id="263" r:id="R606f4c5477d34a43"/>
    <p:sldId xmlns:r="http://schemas.openxmlformats.org/officeDocument/2006/relationships" id="264" r:id="R8dc088a1b1414e1f"/>
    <p:sldId xmlns:r="http://schemas.openxmlformats.org/officeDocument/2006/relationships" id="265" r:id="Rb4edc2de6e0c4eb7"/>
    <p:sldId xmlns:r="http://schemas.openxmlformats.org/officeDocument/2006/relationships" id="266" r:id="Rfd6b3040fe764f59"/>
    <p:sldId xmlns:r="http://schemas.openxmlformats.org/officeDocument/2006/relationships" id="267" r:id="Rb0440168f0ee4755"/>
    <p:sldId xmlns:r="http://schemas.openxmlformats.org/officeDocument/2006/relationships" id="268" r:id="R15af4ffebfb6482b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68e344969c4171" /><Relationship Type="http://schemas.openxmlformats.org/officeDocument/2006/relationships/slideMaster" Target="/ppt/slideMasters/slideMaster1.xml" Id="R9efe4963d3d74aac" /><Relationship Type="http://schemas.openxmlformats.org/officeDocument/2006/relationships/notesMaster" Target="/ppt/notesMasters/notesMaster1.xml" Id="Rd4b8fba1edd44586" /><Relationship Type="http://schemas.openxmlformats.org/officeDocument/2006/relationships/presProps" Target="/ppt/presProps.xml" Id="R1b030851d4d6461a" /><Relationship Type="http://schemas.openxmlformats.org/officeDocument/2006/relationships/tableStyles" Target="/ppt/tableStyles.xml" Id="Rf6287d8b1cfa4265" /><Relationship Type="http://schemas.openxmlformats.org/officeDocument/2006/relationships/slide" Target="/ppt/slides/slide1.xml" Id="Reaa7675c994d4a2e" /><Relationship Type="http://schemas.openxmlformats.org/officeDocument/2006/relationships/slide" Target="/ppt/slides/slide2.xml" Id="R57533149af2c4a09" /><Relationship Type="http://schemas.openxmlformats.org/officeDocument/2006/relationships/slide" Target="/ppt/slides/slide3.xml" Id="Rce297e63f08e4dd1" /><Relationship Type="http://schemas.openxmlformats.org/officeDocument/2006/relationships/slide" Target="/ppt/slides/slide4.xml" Id="R7446eea5dd7e495f" /><Relationship Type="http://schemas.openxmlformats.org/officeDocument/2006/relationships/slide" Target="/ppt/slides/slide5.xml" Id="R01f76af4f76e4cab" /><Relationship Type="http://schemas.openxmlformats.org/officeDocument/2006/relationships/slide" Target="/ppt/slides/slide6.xml" Id="Rb73bceef41d245b0" /><Relationship Type="http://schemas.openxmlformats.org/officeDocument/2006/relationships/slide" Target="/ppt/slides/slide7.xml" Id="Rc96e76cb6dd646d2" /><Relationship Type="http://schemas.openxmlformats.org/officeDocument/2006/relationships/slide" Target="/ppt/slides/slide8.xml" Id="R606f4c5477d34a43" /><Relationship Type="http://schemas.openxmlformats.org/officeDocument/2006/relationships/slide" Target="/ppt/slides/slide9.xml" Id="R8dc088a1b1414e1f" /><Relationship Type="http://schemas.openxmlformats.org/officeDocument/2006/relationships/slide" Target="/ppt/slides/slide10.xml" Id="Rb4edc2de6e0c4eb7" /><Relationship Type="http://schemas.openxmlformats.org/officeDocument/2006/relationships/slide" Target="/ppt/slides/slide11.xml" Id="Rfd6b3040fe764f59" /><Relationship Type="http://schemas.openxmlformats.org/officeDocument/2006/relationships/slide" Target="/ppt/slides/slide12.xml" Id="Rb0440168f0ee4755" /><Relationship Type="http://schemas.openxmlformats.org/officeDocument/2006/relationships/slide" Target="/ppt/slides/slide13.xml" Id="R15af4ffebfb648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f2962eb62a4e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0198a450394d28" /><Relationship Type="http://schemas.openxmlformats.org/officeDocument/2006/relationships/notesMaster" Target="/ppt/notesMasters/notesMaster1.xml" Id="R3438d3db977d4b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515a597ed14085" /><Relationship Type="http://schemas.openxmlformats.org/officeDocument/2006/relationships/notesMaster" Target="/ppt/notesMasters/notesMaster1.xml" Id="R9ecf21bf63b848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92052bfd304989" /><Relationship Type="http://schemas.openxmlformats.org/officeDocument/2006/relationships/notesMaster" Target="/ppt/notesMasters/notesMaster1.xml" Id="Rdffce183d33f4e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2c637240b74c90" /><Relationship Type="http://schemas.openxmlformats.org/officeDocument/2006/relationships/notesMaster" Target="/ppt/notesMasters/notesMaster1.xml" Id="Rfded798d505c41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37beea687d47bf" /><Relationship Type="http://schemas.openxmlformats.org/officeDocument/2006/relationships/notesMaster" Target="/ppt/notesMasters/notesMaster1.xml" Id="Ra61e5dc2fc9a48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bc206451bc495e" /><Relationship Type="http://schemas.openxmlformats.org/officeDocument/2006/relationships/notesMaster" Target="/ppt/notesMasters/notesMaster1.xml" Id="Ra952dbc4b32544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ee0b6a5f044b7e" /><Relationship Type="http://schemas.openxmlformats.org/officeDocument/2006/relationships/notesMaster" Target="/ppt/notesMasters/notesMaster1.xml" Id="Rebb36dacdb224d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333332b1f94acb" /><Relationship Type="http://schemas.openxmlformats.org/officeDocument/2006/relationships/notesMaster" Target="/ppt/notesMasters/notesMaster1.xml" Id="R6404d5d464e746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f53c79dc7f4465" /><Relationship Type="http://schemas.openxmlformats.org/officeDocument/2006/relationships/notesMaster" Target="/ppt/notesMasters/notesMaster1.xml" Id="Rc54e3fd6188c44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8db3a10f224549" /><Relationship Type="http://schemas.openxmlformats.org/officeDocument/2006/relationships/notesMaster" Target="/ppt/notesMasters/notesMaster1.xml" Id="Rd456fe2d531c4f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aee3feab974685" /><Relationship Type="http://schemas.openxmlformats.org/officeDocument/2006/relationships/notesMaster" Target="/ppt/notesMasters/notesMaster1.xml" Id="Rb5b123e0dc7946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d6603d72e140a3" /><Relationship Type="http://schemas.openxmlformats.org/officeDocument/2006/relationships/notesMaster" Target="/ppt/notesMasters/notesMaster1.xml" Id="R1c6b7f08f7d447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8ec564a7cc4caa" /><Relationship Type="http://schemas.openxmlformats.org/officeDocument/2006/relationships/notesMaster" Target="/ppt/notesMasters/notesMaster1.xml" Id="Re9c661df2d7c4a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problem: a successful DELETE response does not prove that copies, templates, caches, backups, or model derivatives are gone.</a:t>
            </a:r>
          </a:p>
          <a:p xmlns:a="http://schemas.openxmlformats.org/drawingml/2006/main">
            <a:r>
              <a:t>The visual language adapts a free hexagonal technology template; all metrics and claims in this deck come from EraSeMap project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concrete risk: a database row can be deleted while a face template, cache, backup, or model influence still permits recovery.</a:t>
            </a:r>
          </a:p>
          <a:p xmlns:a="http://schemas.openxmlformats.org/drawingml/2006/main">
            <a:r>
              <a:t>This is why EraSeMap audits a graph of copies and derivatives, not a single endpoint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across the five stages. Each stage has an explicit output, so the algorithm is explainable to a non-specialist and auditable by a reviewer.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memorable point: a safe system must be comfortable saying INCOMPLETE. The formula P ∧ D ∧ T is the gate for COMPLETE, not a generic accuracy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evidence chain, not the implementation details: registry → probes → minimal action plan → temporal replay → certificate.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metric definition aloud: false COMPLETE, not generic accuracy. A lower bar means fewer unsafe success verdicts.</a:t>
            </a:r>
          </a:p>
          <a:p xmlns:a="http://schemas.openxmlformats.org/drawingml/2006/main">
            <a:r>
              <a:t>These are bounded project experiments, not a production deployment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does not trade away safety to be fast. The comparison is between EraSeMap, greedy planning, and delete-all under the same bounded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‘active’: the next probe is chosen to split the remaining topology hypotheses, not sampled at random.</a:t>
            </a:r>
          </a:p>
          <a:p xmlns:a="http://schemas.openxmlformats.org/drawingml/2006/main">
            <a:r>
              <a:t>The 50/50 family-held-out result is transfer evidence across unseen topology families, not a production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designed to block overclaiming. EraSeMap is strong on evidence-led storage deletion; the model-unlearning candidate is reported as a negative or exact fallback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equation is not presented as a proof by itself. The non-trivial contribution is that sound local verifiers plus topology replay imply a sound composite verdict under declared erasure semantics.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candidate model-unlearning result is a real limitation: retained utility failed. The exact fallback is safe but loses the speed advantage. This honesty strengthens the overall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Novelty is framed as a composition: active recovery-path discovery, temporal closure, and a certificate with an explicit unknown boundary.</a:t>
            </a:r>
          </a:p>
          <a:p xmlns:a="http://schemas.openxmlformats.org/drawingml/2006/main">
            <a:r>
              <a:t>The ladder is intentionally honest about what is still missing: an independent hidden evaluator and a production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memorable sentence. If asked what is next, answer directly: an independent hidden challenge and a production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b67e1e2c04c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1e17bd14c5461c" /><Relationship Type="http://schemas.openxmlformats.org/officeDocument/2006/relationships/slideLayout" Target="/ppt/slideLayouts/slideLayout1.xml" Id="R350106a8a18148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0106a8a18148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1d3ae40954122" /><Relationship Type="http://schemas.openxmlformats.org/officeDocument/2006/relationships/notesSlide" Target="/ppt/notesSlides/notesSlide1.xml" Id="Racde534f9d6c42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267db2c2a48c6" /><Relationship Type="http://schemas.openxmlformats.org/officeDocument/2006/relationships/notesSlide" Target="/ppt/notesSlides/notesSlide2.xml" Id="R04db1cf38b4b46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bea0706cf4470" /><Relationship Type="http://schemas.openxmlformats.org/officeDocument/2006/relationships/notesSlide" Target="/ppt/notesSlides/notesSlide3.xml" Id="Re56fa85dd96347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1b26aee0f42b2" /><Relationship Type="http://schemas.openxmlformats.org/officeDocument/2006/relationships/notesSlide" Target="/ppt/notesSlides/notesSlide4.xml" Id="R3600e55575b041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e3fe20d7041e0" /><Relationship Type="http://schemas.openxmlformats.org/officeDocument/2006/relationships/notesSlide" Target="/ppt/notesSlides/notesSlide5.xml" Id="R55b33c0aa65c4e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80afb9cd7403d" /><Relationship Type="http://schemas.openxmlformats.org/officeDocument/2006/relationships/image" Target="/ppt/media/image.png" Id="Rccea9c58b3ed4b26" /><Relationship Type="http://schemas.openxmlformats.org/officeDocument/2006/relationships/notesSlide" Target="/ppt/notesSlides/notesSlide6.xml" Id="R66f027109f2745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d0281a8344836" /><Relationship Type="http://schemas.openxmlformats.org/officeDocument/2006/relationships/image" Target="/ppt/media/image2.png" Id="R67a5482473334e67" /><Relationship Type="http://schemas.openxmlformats.org/officeDocument/2006/relationships/notesSlide" Target="/ppt/notesSlides/notesSlide7.xml" Id="R0b33c851772c41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fe1ecccee405f" /><Relationship Type="http://schemas.openxmlformats.org/officeDocument/2006/relationships/image" Target="/ppt/media/image3.png" Id="Rc17e1c914005448b" /><Relationship Type="http://schemas.openxmlformats.org/officeDocument/2006/relationships/notesSlide" Target="/ppt/notesSlides/notesSlide8.xml" Id="Re3cdd187e74143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57756064b4a3e" /><Relationship Type="http://schemas.openxmlformats.org/officeDocument/2006/relationships/image" Target="/ppt/media/image4.png" Id="R768641a3b58b40c1" /><Relationship Type="http://schemas.openxmlformats.org/officeDocument/2006/relationships/notesSlide" Target="/ppt/notesSlides/notesSlide9.xml" Id="R2a7a0b43b3bb4b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047e38af04ed9" /><Relationship Type="http://schemas.openxmlformats.org/officeDocument/2006/relationships/notesSlide" Target="/ppt/notesSlides/notesSlide10.xml" Id="R186724fb3daa48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f2600d2794285" /><Relationship Type="http://schemas.openxmlformats.org/officeDocument/2006/relationships/notesSlide" Target="/ppt/notesSlides/notesSlide11.xml" Id="R55bcb1b0eae040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64be6a45648b5" /><Relationship Type="http://schemas.openxmlformats.org/officeDocument/2006/relationships/notesSlide" Target="/ppt/notesSlides/notesSlide12.xml" Id="Rd47025cd5c9346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1d4b7a2524e6a" /><Relationship Type="http://schemas.openxmlformats.org/officeDocument/2006/relationships/notesSlide" Target="/ppt/notesSlides/notesSlide13.xml" Id="R6223023d8fba47cc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31F"/>
            </a:gs>
            <a:gs pos="55000">
              <a:srgbClr val="0E293C"/>
            </a:gs>
            <a:gs pos="100000">
              <a:srgbClr val="1B4A5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AA483F-A998-4DD9-9C3A-23276303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A52F5-968E-4C87-B820-C5E7320F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49574-E530-479A-9652-416559B2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D4979-1048-4CD3-A501-98D9357A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5184A-3E97-4C96-A74B-8F014DB9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D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0D197-4F0F-40D1-A6FA-E9C8121B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CCF23-5A71-4D40-A629-A578E488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06691-B973-418E-B4B6-B5DD7BE8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D5F9E-B12A-4EB8-8DC5-1C1B67F1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0B229-0D16-4C9F-8E1B-A4972346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D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F2C0B-0FB3-40D2-8662-D18C5BFB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ERASEMAP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4F89E-ABDB-45EE-BF8E-B7B9F577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1181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F46"/>
          </a:solidFill>
          <a:ln xmlns:a="http://schemas.openxmlformats.org/drawingml/2006/main" w="9525">
            <a:solidFill>
              <a:srgbClr val="19BB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AB114-E190-4056-A6D4-C4586BD0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RKNP · ISEF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C4695-4BE7-47F2-9A4E-414FAD38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3F8FA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3F8FA"/>
                </a:solidFill>
                <a:latin typeface="Georgia"/>
                <a:ea typeface="Georgia"/>
                <a:cs typeface="Georgia"/>
              </a:rPr>
              <a:t>Удалить запись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6BC39-AAFB-4D35-96AD-55FCA25D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E1C6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00E1C6"/>
                </a:solidFill>
                <a:latin typeface="Georgia"/>
                <a:ea typeface="Georgia"/>
                <a:cs typeface="Georgia"/>
              </a:rPr>
              <a:t>недостаточно.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68675-7524-4F37-82E3-D4243110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3367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Доказательная проверка удаления данных</a:t>
            </a:r>
          </a:p>
          <a:p xmlns:a="http://schemas.openxmlformats.org/drawingml/2006/main">
            <a:pPr algn="l">
              <a:defRPr sz="1350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по всей цепочке копий и производных.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352270-5374-478B-8E23-8D197C84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Проверяем путь, а не обещание «удалено».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E5F1D-349A-4489-AEA9-7AF1D622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781050" cy="666750"/>
          </a:xfrm>
          <a:custGeom xmlns:a="http://schemas.openxmlformats.org/drawingml/2006/main">
            <a:pathLst>
              <a:path w="781050" h="666750">
                <a:moveTo>
                  <a:pt x="195263" y="0"/>
                </a:moveTo>
                <a:lnTo>
                  <a:pt x="585788" y="0"/>
                </a:lnTo>
                <a:lnTo>
                  <a:pt x="781050" y="333375"/>
                </a:lnTo>
                <a:lnTo>
                  <a:pt x="585788" y="666750"/>
                </a:lnTo>
                <a:lnTo>
                  <a:pt x="195263" y="666750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5000"/>
            </a:srgbClr>
          </a:solidFill>
          <a:ln xmlns:a="http://schemas.openxmlformats.org/drawingml/2006/main" w="19050">
            <a:solidFill>
              <a:srgbClr val="19BB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B6ABB-4BB5-4586-BD0D-F938AED1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628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56B6A-6C53-4A65-A606-4FC63002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859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9D3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7EA48-8579-4AA3-AD6A-F8435B69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762000"/>
            <a:ext cx="781050" cy="666750"/>
          </a:xfrm>
          <a:custGeom xmlns:a="http://schemas.openxmlformats.org/drawingml/2006/main">
            <a:pathLst>
              <a:path w="781050" h="666750">
                <a:moveTo>
                  <a:pt x="195263" y="0"/>
                </a:moveTo>
                <a:lnTo>
                  <a:pt x="585788" y="0"/>
                </a:lnTo>
                <a:lnTo>
                  <a:pt x="781050" y="333375"/>
                </a:lnTo>
                <a:lnTo>
                  <a:pt x="585788" y="666750"/>
                </a:lnTo>
                <a:lnTo>
                  <a:pt x="195263" y="666750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15000"/>
            </a:srgbClr>
          </a:solidFill>
          <a:ln xmlns:a="http://schemas.openxmlformats.org/drawingml/2006/main" w="19050">
            <a:solidFill>
              <a:srgbClr val="00E1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B05F3-46E2-4115-850E-04B98F4A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009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3909B7-C714-41EE-B38F-58F038B4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6685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9D3"/>
                </a:solidFill>
                <a:latin typeface="Arial"/>
                <a:ea typeface="Arial"/>
                <a:cs typeface="Arial"/>
              </a:rPr>
              <a:t>derivative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10198-4DBF-4F0D-9A2A-A84F1B86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781050" cy="666750"/>
          </a:xfrm>
          <a:custGeom xmlns:a="http://schemas.openxmlformats.org/drawingml/2006/main">
            <a:pathLst>
              <a:path w="781050" h="666750">
                <a:moveTo>
                  <a:pt x="195263" y="0"/>
                </a:moveTo>
                <a:lnTo>
                  <a:pt x="585788" y="0"/>
                </a:lnTo>
                <a:lnTo>
                  <a:pt x="781050" y="333375"/>
                </a:lnTo>
                <a:lnTo>
                  <a:pt x="585788" y="666750"/>
                </a:lnTo>
                <a:lnTo>
                  <a:pt x="195263" y="666750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FF8C66">
              <a:alpha val="15000"/>
            </a:srgbClr>
          </a:solidFill>
          <a:ln xmlns:a="http://schemas.openxmlformats.org/drawingml/2006/main" w="19050">
            <a:solidFill>
              <a:srgbClr val="FF8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523E68-7733-4343-AD49-52F2E6A6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590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37E63B-0011-479E-BD8A-997647FA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480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9D3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4D6503-6C67-4357-8A54-C886BFD1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781050" cy="666750"/>
          </a:xfrm>
          <a:custGeom xmlns:a="http://schemas.openxmlformats.org/drawingml/2006/main">
            <a:pathLst>
              <a:path w="781050" h="666750">
                <a:moveTo>
                  <a:pt x="195263" y="0"/>
                </a:moveTo>
                <a:lnTo>
                  <a:pt x="585788" y="0"/>
                </a:lnTo>
                <a:lnTo>
                  <a:pt x="781050" y="333375"/>
                </a:lnTo>
                <a:lnTo>
                  <a:pt x="585788" y="666750"/>
                </a:lnTo>
                <a:lnTo>
                  <a:pt x="195263" y="666750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5A65D8">
              <a:alpha val="15000"/>
            </a:srgbClr>
          </a:solidFill>
          <a:ln xmlns:a="http://schemas.openxmlformats.org/drawingml/2006/main" w="19050">
            <a:solidFill>
              <a:srgbClr val="5A6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F45DE-0CC2-4530-99BC-DCF9F9CB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90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B05E93-AC29-4108-BB6C-433189CB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481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9D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C00856-51C5-4B2E-97C5-F99B99B9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095375"/>
            <a:ext cx="102870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4D6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9F5385-9C53-4F54-81D6-1172DB7A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095375"/>
            <a:ext cx="266700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4D6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CDB806-116A-443D-B014-B143B82E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14500"/>
            <a:ext cx="152400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4D6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18ABCB-D6DD-4AA0-BCD3-0C1A2EFD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76525"/>
            <a:ext cx="144780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4D6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2E4E32-4B5E-4F1C-B977-5DB879B4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33775"/>
            <a:ext cx="1143000" cy="971550"/>
          </a:xfrm>
          <a:custGeom xmlns:a="http://schemas.openxmlformats.org/drawingml/2006/main">
            <a:pathLst>
              <a:path w="1143000" h="971550">
                <a:moveTo>
                  <a:pt x="285750" y="0"/>
                </a:moveTo>
                <a:lnTo>
                  <a:pt x="857250" y="0"/>
                </a:lnTo>
                <a:lnTo>
                  <a:pt x="1143000" y="485775"/>
                </a:lnTo>
                <a:lnTo>
                  <a:pt x="857250" y="971550"/>
                </a:lnTo>
                <a:lnTo>
                  <a:pt x="285750" y="971550"/>
                </a:lnTo>
                <a:lnTo>
                  <a:pt x="0" y="485775"/>
                </a:lnTo>
                <a:close/>
              </a:path>
            </a:pathLst>
          </a:custGeom>
          <a:solidFill xmlns:a="http://schemas.openxmlformats.org/drawingml/2006/main">
            <a:srgbClr val="FF8C66">
              <a:alpha val="10000"/>
            </a:srgbClr>
          </a:solidFill>
          <a:ln xmlns:a="http://schemas.openxmlformats.org/drawingml/2006/main" w="19050">
            <a:solidFill>
              <a:srgbClr val="FF8C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50A841-0498-459F-BBBE-762DD7E0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957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8C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8C66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7AC2F4-F9F0-41F5-B0AF-09592FA1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evidence-led deletion verification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1884A6-11F8-42F7-89DE-8E3F83EB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9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8157957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9FA"/>
            </a:gs>
            <a:gs pos="100000">
              <a:srgbClr val="E6EEF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C732EA-9F73-4A6A-BEDD-2B88C1C8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7D3CA-8A38-4A5B-AE5B-BF10D394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C065B-FD66-451B-BA06-E2FAFA73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9D97E-CC06-418D-B3C0-84C8E607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33822-2FAF-4664-9D07-88868496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04C37-1291-4FCF-B0BE-6FE3F566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21147-477E-4293-961E-FADE49E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6FCD8-676E-4B13-B6E5-AA0C0C61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A1C0C-A8F1-4EFE-BADD-A1A44BF5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8E327-69F7-481C-A832-8D74F6AF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65A39-4037-48E1-B85B-E25F476C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ERASEMAP  /  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63581-3A87-4332-92A6-1DF531ED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21793-5046-4576-9AB7-D651FD6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266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evidence-led deletion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E162F-548B-48E7-ADB3-D1BE3E27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244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RKNP · ISEF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B715C-F657-4C3B-BF98-2B18B071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32E41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32E41"/>
                </a:solidFill>
                <a:latin typeface="Georgia"/>
                <a:ea typeface="Georgia"/>
                <a:cs typeface="Georgia"/>
              </a:rPr>
              <a:t>Проблема: запись живёт дольше одной таблицы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594CA-4E5B-4573-A7ED-BB185DB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Копии, производные и отложенные задачи создают скрытые recovery-path.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1B24D-10DF-4414-979B-3597A83A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32766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85270-FBD0-455B-AE0F-99D0E841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ОДНА ПЕРСОНА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532AD-3F65-4E4F-93CC-8271AC86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400050" cy="314325"/>
          </a:xfrm>
          <a:custGeom xmlns:a="http://schemas.openxmlformats.org/drawingml/2006/main">
            <a:pathLst>
              <a:path w="400050" h="314325">
                <a:moveTo>
                  <a:pt x="100013" y="0"/>
                </a:moveTo>
                <a:lnTo>
                  <a:pt x="300038" y="0"/>
                </a:lnTo>
                <a:lnTo>
                  <a:pt x="400050" y="157163"/>
                </a:lnTo>
                <a:lnTo>
                  <a:pt x="300038" y="314325"/>
                </a:lnTo>
                <a:lnTo>
                  <a:pt x="100013" y="314325"/>
                </a:lnTo>
                <a:lnTo>
                  <a:pt x="0" y="157163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5000"/>
            </a:srgbClr>
          </a:solidFill>
          <a:ln xmlns:a="http://schemas.openxmlformats.org/drawingml/2006/main" w="9525">
            <a:solidFill>
              <a:srgbClr val="19BB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BAEEC-15C4-4BE1-AD54-B7D04594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71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24617-80E2-4250-8FB0-6A0CA7A2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05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source 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754F0-7CDE-48BA-BA4C-35606F98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400050" cy="314325"/>
          </a:xfrm>
          <a:custGeom xmlns:a="http://schemas.openxmlformats.org/drawingml/2006/main">
            <a:pathLst>
              <a:path w="400050" h="314325">
                <a:moveTo>
                  <a:pt x="100013" y="0"/>
                </a:moveTo>
                <a:lnTo>
                  <a:pt x="300038" y="0"/>
                </a:lnTo>
                <a:lnTo>
                  <a:pt x="400050" y="157163"/>
                </a:lnTo>
                <a:lnTo>
                  <a:pt x="300038" y="314325"/>
                </a:lnTo>
                <a:lnTo>
                  <a:pt x="100013" y="314325"/>
                </a:lnTo>
                <a:lnTo>
                  <a:pt x="0" y="157163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15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1BCA6-70B1-421F-861D-B7846E4A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336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62BA2F-C717-47F3-9E44-DE5754BE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6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face / feature template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B8CF93-9B9C-4AA6-9376-39DFF676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400050" cy="314325"/>
          </a:xfrm>
          <a:custGeom xmlns:a="http://schemas.openxmlformats.org/drawingml/2006/main">
            <a:pathLst>
              <a:path w="400050" h="314325">
                <a:moveTo>
                  <a:pt x="100013" y="0"/>
                </a:moveTo>
                <a:lnTo>
                  <a:pt x="300038" y="0"/>
                </a:lnTo>
                <a:lnTo>
                  <a:pt x="400050" y="157163"/>
                </a:lnTo>
                <a:lnTo>
                  <a:pt x="300038" y="314325"/>
                </a:lnTo>
                <a:lnTo>
                  <a:pt x="100013" y="314325"/>
                </a:lnTo>
                <a:lnTo>
                  <a:pt x="0" y="157163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5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2120A-8E08-43DF-A419-B3FCBEB7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95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D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6239DF-5C31-4611-B0E1-E50B61D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cache / replica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AAB14A-FF28-4D48-9B31-EE081497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400050" cy="314325"/>
          </a:xfrm>
          <a:custGeom xmlns:a="http://schemas.openxmlformats.org/drawingml/2006/main">
            <a:pathLst>
              <a:path w="400050" h="314325">
                <a:moveTo>
                  <a:pt x="100013" y="0"/>
                </a:moveTo>
                <a:lnTo>
                  <a:pt x="300038" y="0"/>
                </a:lnTo>
                <a:lnTo>
                  <a:pt x="400050" y="157163"/>
                </a:lnTo>
                <a:lnTo>
                  <a:pt x="300038" y="314325"/>
                </a:lnTo>
                <a:lnTo>
                  <a:pt x="100013" y="314325"/>
                </a:lnTo>
                <a:lnTo>
                  <a:pt x="0" y="157163"/>
                </a:lnTo>
                <a:close/>
              </a:path>
            </a:pathLst>
          </a:custGeom>
          <a:solidFill xmlns:a="http://schemas.openxmlformats.org/drawingml/2006/main">
            <a:srgbClr val="FF8C66">
              <a:alpha val="15000"/>
            </a:srgbClr>
          </a:solidFill>
          <a:ln xmlns:a="http://schemas.openxmlformats.org/drawingml/2006/main" w="9525">
            <a:solidFill>
              <a:srgbClr val="FF8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BEE999-B016-4E19-AB21-E29E8F2B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57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6D0B07-CA9A-447F-BE58-3D400137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90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backup / restore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51B231-9ABC-452E-A924-9B18D9CE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24275"/>
            <a:ext cx="400050" cy="314325"/>
          </a:xfrm>
          <a:custGeom xmlns:a="http://schemas.openxmlformats.org/drawingml/2006/main">
            <a:pathLst>
              <a:path w="400050" h="314325">
                <a:moveTo>
                  <a:pt x="100013" y="0"/>
                </a:moveTo>
                <a:lnTo>
                  <a:pt x="300038" y="0"/>
                </a:lnTo>
                <a:lnTo>
                  <a:pt x="400050" y="157163"/>
                </a:lnTo>
                <a:lnTo>
                  <a:pt x="300038" y="314325"/>
                </a:lnTo>
                <a:lnTo>
                  <a:pt x="100013" y="314325"/>
                </a:lnTo>
                <a:lnTo>
                  <a:pt x="0" y="157163"/>
                </a:lnTo>
                <a:close/>
              </a:path>
            </a:pathLst>
          </a:custGeom>
          <a:solidFill xmlns:a="http://schemas.openxmlformats.org/drawingml/2006/main">
            <a:srgbClr val="5A65D8">
              <a:alpha val="15000"/>
            </a:srgbClr>
          </a:solidFill>
          <a:ln xmlns:a="http://schemas.openxmlformats.org/drawingml/2006/main" w="9525">
            <a:solidFill>
              <a:srgbClr val="5A6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9D77EE-D383-4F2D-B014-87B0EF1F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195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2F9723-370D-48EC-A27F-AB9FA51D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52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model influence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91693D-790B-452A-8E2B-DBAEDD5E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76400"/>
            <a:ext cx="44196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F793E6-A721-4A19-95A9-39B84059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E1C6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00E1C6"/>
                </a:solidFill>
                <a:latin typeface="Georgia"/>
                <a:ea typeface="Georgia"/>
                <a:cs typeface="Georgia"/>
              </a:rPr>
              <a:t>Скрытый recovery-path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CEDFE-F92E-4FBB-A72C-0A39A4B1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69545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5D4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8EB0C7-FC8A-4574-BD0D-5E70517E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144780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5D4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E4C65D-302C-47C0-A319-2B81AE46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169545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5D4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7FF3B6-4D37-4407-971F-E4AF52CF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48000"/>
            <a:ext cx="14478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5D4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925862-CACB-40DC-80F3-F331619B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38450"/>
            <a:ext cx="552450" cy="457200"/>
          </a:xfrm>
          <a:custGeom xmlns:a="http://schemas.openxmlformats.org/drawingml/2006/main">
            <a:pathLst>
              <a:path w="552450" h="457200">
                <a:moveTo>
                  <a:pt x="138113" y="0"/>
                </a:moveTo>
                <a:lnTo>
                  <a:pt x="414338" y="0"/>
                </a:lnTo>
                <a:lnTo>
                  <a:pt x="552450" y="228600"/>
                </a:lnTo>
                <a:lnTo>
                  <a:pt x="414338" y="457200"/>
                </a:lnTo>
                <a:lnTo>
                  <a:pt x="138113" y="4572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4000"/>
            </a:srgbClr>
          </a:solidFill>
          <a:ln xmlns:a="http://schemas.openxmlformats.org/drawingml/2006/main" w="14288">
            <a:solidFill>
              <a:srgbClr val="19BB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50CDBF-8D42-4A62-BC08-1D8E4906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0003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3459A0-0E73-4AD7-9496-15778C5D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52800"/>
            <a:ext cx="904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90FBAE-D86D-431E-BAF7-9F563F56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552450" cy="457200"/>
          </a:xfrm>
          <a:custGeom xmlns:a="http://schemas.openxmlformats.org/drawingml/2006/main">
            <a:pathLst>
              <a:path w="552450" h="457200">
                <a:moveTo>
                  <a:pt x="138113" y="0"/>
                </a:moveTo>
                <a:lnTo>
                  <a:pt x="414338" y="0"/>
                </a:lnTo>
                <a:lnTo>
                  <a:pt x="552450" y="228600"/>
                </a:lnTo>
                <a:lnTo>
                  <a:pt x="414338" y="457200"/>
                </a:lnTo>
                <a:lnTo>
                  <a:pt x="138113" y="4572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14000"/>
            </a:srgbClr>
          </a:solidFill>
          <a:ln xmlns:a="http://schemas.openxmlformats.org/drawingml/2006/main" w="14288">
            <a:solidFill>
              <a:srgbClr val="00E1C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800CB2-EBE9-4EB9-87C4-BEE6D322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669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07D7A8-3D5A-40B4-82AE-0E270D71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904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template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8266EB-4AEA-4149-9889-1C81E08D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38450"/>
            <a:ext cx="552450" cy="457200"/>
          </a:xfrm>
          <a:custGeom xmlns:a="http://schemas.openxmlformats.org/drawingml/2006/main">
            <a:pathLst>
              <a:path w="552450" h="457200">
                <a:moveTo>
                  <a:pt x="138113" y="0"/>
                </a:moveTo>
                <a:lnTo>
                  <a:pt x="414338" y="0"/>
                </a:lnTo>
                <a:lnTo>
                  <a:pt x="552450" y="228600"/>
                </a:lnTo>
                <a:lnTo>
                  <a:pt x="414338" y="457200"/>
                </a:lnTo>
                <a:lnTo>
                  <a:pt x="138113" y="4572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4000"/>
            </a:srgbClr>
          </a:solidFill>
          <a:ln xmlns:a="http://schemas.openxmlformats.org/drawingml/2006/main" w="14288">
            <a:solidFill>
              <a:srgbClr val="2C9DD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8454CC-2842-4EA5-9325-59F2B2AA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003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D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FB5E0D-1CD8-4E54-B857-BEB3A56E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52800"/>
            <a:ext cx="904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cache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15CEC6-EC5A-44BD-B93C-23842BDA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6650"/>
            <a:ext cx="552450" cy="457200"/>
          </a:xfrm>
          <a:custGeom xmlns:a="http://schemas.openxmlformats.org/drawingml/2006/main">
            <a:pathLst>
              <a:path w="552450" h="457200">
                <a:moveTo>
                  <a:pt x="138113" y="0"/>
                </a:moveTo>
                <a:lnTo>
                  <a:pt x="414338" y="0"/>
                </a:lnTo>
                <a:lnTo>
                  <a:pt x="552450" y="228600"/>
                </a:lnTo>
                <a:lnTo>
                  <a:pt x="414338" y="457200"/>
                </a:lnTo>
                <a:lnTo>
                  <a:pt x="138113" y="4572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FF8C66">
              <a:alpha val="14000"/>
            </a:srgbClr>
          </a:solidFill>
          <a:ln xmlns:a="http://schemas.openxmlformats.org/drawingml/2006/main" w="14288">
            <a:solidFill>
              <a:srgbClr val="FF8C6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3343C8-F22C-46CB-86EF-AE0F6D4C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385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123BD2-3818-4D0B-BB44-202AD5B4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91000"/>
            <a:ext cx="904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backup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6927A3-BEA6-4A07-A8C2-16208D68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71925"/>
            <a:ext cx="3876675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8C66">
              <a:alpha val="12000"/>
            </a:srgbClr>
          </a:solidFill>
          <a:ln xmlns:a="http://schemas.openxmlformats.org/drawingml/2006/main" w="9525">
            <a:solidFill>
              <a:srgbClr val="FF8C6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75D15E-CD9C-4511-891B-E40EF885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19550"/>
            <a:ext cx="3590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8C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8C66"/>
                </a:solidFill>
                <a:latin typeface="Arial"/>
                <a:ea typeface="Arial"/>
                <a:cs typeface="Arial"/>
              </a:rPr>
              <a:t>«DELETE 200 OK» ещё не доказательство.</a:t>
            </a:r>
          </a:p>
        </p:txBody>
      </p:sp>
    </p:spTree>
    <p:extLst>
      <p:ext uri="{BB962C8B-B14F-4D97-AF65-F5344CB8AC3E}">
        <p14:creationId xmlns:p14="http://schemas.microsoft.com/office/powerpoint/2010/main" val="213483468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1722"/>
            </a:gs>
            <a:gs pos="100000">
              <a:srgbClr val="153A4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08A58F-0CD1-465A-833A-89FC99C6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D3617-5A50-4933-AF4F-3828F037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6B50F-C76B-490D-8835-ABED83F4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6A584-EE6D-4584-8AC0-712D8E03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AD9BC-3FED-43F3-B535-9F35658B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D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A4A56-C866-4989-B778-0CD722FF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319D2-4EC0-43A2-872F-D797EBE2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9C752-4609-4FD7-B35F-F4FC66A6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3B726-AB64-4B8F-9BA8-5BC2E06C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AF899-4111-410F-BA61-AF8C21C5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D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3445D-A8BF-472B-A5F6-9B2449BB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ERASEMAP  /  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4AA42-A8DE-48E5-84C2-9189FA31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9D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2C5E1-C267-4FFA-9804-FECA5D0B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266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evidence-led deletion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92121-5E6E-4676-90E3-0F171E57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244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B8C9D3"/>
                </a:solidFill>
                <a:latin typeface="Arial"/>
                <a:ea typeface="Arial"/>
                <a:cs typeface="Arial"/>
              </a:rPr>
              <a:t>RKNP · ISEF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710EF-FE62-4572-B2E0-724EEBE5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E1C6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00E1C6"/>
                </a:solidFill>
                <a:latin typeface="Georgia"/>
                <a:ea typeface="Georgia"/>
                <a:cs typeface="Georgia"/>
              </a:rPr>
              <a:t>Один алгоритм: пять последовательных проверок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5A05E-FB86-40AD-A515-7A4EE9A0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Внутренние модули помогают аудиту; публичный объект — один EraSeMap verdict.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E903B-6A0D-45FA-B584-06C9EDD9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57500"/>
            <a:ext cx="390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4D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84EDB-FA04-4B5B-9549-F85498AF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66800" cy="781050"/>
          </a:xfrm>
          <a:custGeom xmlns:a="http://schemas.openxmlformats.org/drawingml/2006/main">
            <a:pathLst>
              <a:path w="1066800" h="781050">
                <a:moveTo>
                  <a:pt x="266700" y="0"/>
                </a:moveTo>
                <a:lnTo>
                  <a:pt x="800100" y="0"/>
                </a:lnTo>
                <a:lnTo>
                  <a:pt x="1066800" y="390525"/>
                </a:lnTo>
                <a:lnTo>
                  <a:pt x="800100" y="781050"/>
                </a:lnTo>
                <a:lnTo>
                  <a:pt x="266700" y="781050"/>
                </a:lnTo>
                <a:lnTo>
                  <a:pt x="0" y="3905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5000"/>
            </a:srgbClr>
          </a:solidFill>
          <a:ln xmlns:a="http://schemas.openxmlformats.org/drawingml/2006/main" w="17145">
            <a:solidFill>
              <a:srgbClr val="19BB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5A2CF-72DF-43A5-A289-897C4A60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8AAD8-7FAB-4008-B06A-2E0F38AE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7E0F5-3BB5-447C-8D6F-669B33D8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042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реестр копий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6995CB-C6BA-4E67-9F28-8FBE9A64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390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4D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EF4D74-4155-46EE-9F2E-EF9D83CB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466975"/>
            <a:ext cx="1066800" cy="781050"/>
          </a:xfrm>
          <a:custGeom xmlns:a="http://schemas.openxmlformats.org/drawingml/2006/main">
            <a:pathLst>
              <a:path w="1066800" h="781050">
                <a:moveTo>
                  <a:pt x="266700" y="0"/>
                </a:moveTo>
                <a:lnTo>
                  <a:pt x="800100" y="0"/>
                </a:lnTo>
                <a:lnTo>
                  <a:pt x="1066800" y="390525"/>
                </a:lnTo>
                <a:lnTo>
                  <a:pt x="800100" y="781050"/>
                </a:lnTo>
                <a:lnTo>
                  <a:pt x="266700" y="781050"/>
                </a:lnTo>
                <a:lnTo>
                  <a:pt x="0" y="390525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15000"/>
            </a:srgbClr>
          </a:solidFill>
          <a:ln xmlns:a="http://schemas.openxmlformats.org/drawingml/2006/main" w="17145">
            <a:solidFill>
              <a:srgbClr val="00E1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64F6F2-675A-4A6A-A28B-B8E54A07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571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4E134-D727-4FF4-8E6D-DEDEC7EC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8098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6DF7BF-C0A6-425A-9F04-D392931E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0042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активные пробы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8B62A5-BAD3-4CD9-B653-23120341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390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4D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459CFA-BD1C-439E-AC17-26EE9B3C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66975"/>
            <a:ext cx="1066800" cy="781050"/>
          </a:xfrm>
          <a:custGeom xmlns:a="http://schemas.openxmlformats.org/drawingml/2006/main">
            <a:pathLst>
              <a:path w="1066800" h="781050">
                <a:moveTo>
                  <a:pt x="266700" y="0"/>
                </a:moveTo>
                <a:lnTo>
                  <a:pt x="800100" y="0"/>
                </a:lnTo>
                <a:lnTo>
                  <a:pt x="1066800" y="390525"/>
                </a:lnTo>
                <a:lnTo>
                  <a:pt x="800100" y="781050"/>
                </a:lnTo>
                <a:lnTo>
                  <a:pt x="266700" y="781050"/>
                </a:lnTo>
                <a:lnTo>
                  <a:pt x="0" y="390525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5000"/>
            </a:srgbClr>
          </a:solidFill>
          <a:ln xmlns:a="http://schemas.openxmlformats.org/drawingml/2006/main" w="17145">
            <a:solidFill>
              <a:srgbClr val="2C9D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EA3B84-92C1-4C72-B279-D2282C2F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71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9DD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C9DD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8C78C6-EB9D-437F-8D5C-BA4FB0BB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098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MINIMIZE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116BA8-63F9-45D3-ADD4-15B84EC5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минимальный план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B602E3-804A-4775-BB41-C31BA426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857500"/>
            <a:ext cx="390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4D6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21C452-E788-436F-93C9-606B265E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66975"/>
            <a:ext cx="1066800" cy="781050"/>
          </a:xfrm>
          <a:custGeom xmlns:a="http://schemas.openxmlformats.org/drawingml/2006/main">
            <a:pathLst>
              <a:path w="1066800" h="781050">
                <a:moveTo>
                  <a:pt x="266700" y="0"/>
                </a:moveTo>
                <a:lnTo>
                  <a:pt x="800100" y="0"/>
                </a:lnTo>
                <a:lnTo>
                  <a:pt x="1066800" y="390525"/>
                </a:lnTo>
                <a:lnTo>
                  <a:pt x="800100" y="781050"/>
                </a:lnTo>
                <a:lnTo>
                  <a:pt x="266700" y="781050"/>
                </a:lnTo>
                <a:lnTo>
                  <a:pt x="0" y="390525"/>
                </a:lnTo>
                <a:close/>
              </a:path>
            </a:pathLst>
          </a:custGeom>
          <a:solidFill xmlns:a="http://schemas.openxmlformats.org/drawingml/2006/main">
            <a:srgbClr val="FF8C66">
              <a:alpha val="15000"/>
            </a:srgbClr>
          </a:solidFill>
          <a:ln xmlns:a="http://schemas.openxmlformats.org/drawingml/2006/main" w="17145">
            <a:solidFill>
              <a:srgbClr val="FF8C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B44CF1-6960-4B46-8BED-19A34BBC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571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8C6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8C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997677-DA25-4118-B1E9-830830EE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098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1AF4EF-CD7B-41EF-ACEB-0B284D20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40042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replay во времени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A53019-80CD-46A7-A03F-0B75CFB8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66975"/>
            <a:ext cx="1066800" cy="781050"/>
          </a:xfrm>
          <a:custGeom xmlns:a="http://schemas.openxmlformats.org/drawingml/2006/main">
            <a:pathLst>
              <a:path w="1066800" h="781050">
                <a:moveTo>
                  <a:pt x="266700" y="0"/>
                </a:moveTo>
                <a:lnTo>
                  <a:pt x="800100" y="0"/>
                </a:lnTo>
                <a:lnTo>
                  <a:pt x="1066800" y="390525"/>
                </a:lnTo>
                <a:lnTo>
                  <a:pt x="800100" y="781050"/>
                </a:lnTo>
                <a:lnTo>
                  <a:pt x="266700" y="781050"/>
                </a:lnTo>
                <a:lnTo>
                  <a:pt x="0" y="390525"/>
                </a:lnTo>
                <a:close/>
              </a:path>
            </a:pathLst>
          </a:custGeom>
          <a:solidFill xmlns:a="http://schemas.openxmlformats.org/drawingml/2006/main">
            <a:srgbClr val="5A65D8">
              <a:alpha val="15000"/>
            </a:srgbClr>
          </a:solidFill>
          <a:ln xmlns:a="http://schemas.openxmlformats.org/drawingml/2006/main" w="17145">
            <a:solidFill>
              <a:srgbClr val="5A65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5AF535-AFA8-4F10-8167-A31971F8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A65D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A65D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CCFD32-B1E3-47C1-A246-FB54AA12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098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CERTIFY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6DED46-8584-4763-B215-EC2F078B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0042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сертификат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F70117-322F-4B86-AAA7-68BDC467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5725"/>
            <a:ext cx="75057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F46"/>
          </a:solidFill>
          <a:ln xmlns:a="http://schemas.openxmlformats.org/drawingml/2006/main" w="9525">
            <a:solidFill>
              <a:srgbClr val="2A4D6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203B97-DB2E-4D66-8A74-8C0E100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9550"/>
            <a:ext cx="7200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карта → поиск → минимум действий → temporal replay → доказательный COMPLETE</a:t>
            </a:r>
          </a:p>
        </p:txBody>
      </p:sp>
    </p:spTree>
    <p:extLst>
      <p:ext uri="{BB962C8B-B14F-4D97-AF65-F5344CB8AC3E}">
        <p14:creationId xmlns:p14="http://schemas.microsoft.com/office/powerpoint/2010/main" val="179746807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9FA"/>
            </a:gs>
            <a:gs pos="100000">
              <a:srgbClr val="EAF0F3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8BF25A-90C1-4722-87C8-E2BCDC79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99889-63F0-4EDC-8ED8-D05701AD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821B4-3895-40B1-9E2A-2AAA44D2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C2488-04A3-4D8E-A9EA-604D950D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FA3FA-75B2-49F0-B50E-A92D74C0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CB08E-8677-49A9-AF3A-111B3889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086CB-EF07-4CAF-B8E3-161FA594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7B9FE-7CA2-4171-A13E-4A699C40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973FD-8EAE-4EF3-B83A-11CCBB92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6A4AB-618C-4FD4-AE48-1CADAED3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DAE88-0E51-4889-929C-01120786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ERASEMAP  /  VERDICT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AE22F-2682-4A32-83B7-755BB328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99285-F1FA-456D-B7F0-8313CC42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266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evidence-led deletion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B3385-5D27-46E2-856B-8054AF7A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244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RKNP · ISEF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D7672-48A3-4ACC-A14E-7D052868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32E41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32E41"/>
                </a:solidFill>
                <a:latin typeface="Georgia"/>
                <a:ea typeface="Georgia"/>
                <a:cs typeface="Georgia"/>
              </a:rPr>
              <a:t>Главная сила: система умеет отказать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94993-F6EC-4F10-84B5-B73D0567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Если путь ещё активен, она показывает INCOMPLETE вместо ложной уверенности.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C7954-6CB4-46D3-A8E0-749EEE05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85925"/>
            <a:ext cx="31432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8C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733CE-A845-4617-98A8-0665F217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F8C66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FF8C66"/>
                </a:solidFill>
                <a:latin typeface="Georgia"/>
                <a:ea typeface="Georgia"/>
                <a:cs typeface="Georgia"/>
              </a:rPr>
              <a:t>INCOMPLETE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671DB-12E7-4653-900D-4484186A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050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Найден residual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584A2E-8DE9-4DA7-80CA-110DA5BA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8C66">
              <a:alpha val="10000"/>
            </a:srgbClr>
          </a:solidFill>
          <a:ln xmlns:a="http://schemas.openxmlformats.org/drawingml/2006/main" w="9525">
            <a:solidFill>
              <a:srgbClr val="FF8C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F836C-7E21-409C-A5E2-E79646F6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source  →  face template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9D6A2-DEAB-4C49-88C8-11026BDC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План не закрывает</a:t>
            </a:r>
          </a:p>
          <a:p xmlns:a="http://schemas.openxmlformats.org/drawingml/2006/main">
            <a:pPr algn="ctr">
              <a:defRPr sz="10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производный шаблон.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A9572A-1A0A-4FD3-8847-B6BE3EBD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85925"/>
            <a:ext cx="4495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68FF0-04C6-455B-92D6-4110FEC6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9072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E1C6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00E1C6"/>
                </a:solidFill>
                <a:latin typeface="Georgia"/>
                <a:ea typeface="Georgia"/>
                <a:cs typeface="Georgia"/>
              </a:rPr>
              <a:t>COMPLETE только если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77AC8-55BF-459D-AA55-DBC9C33A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955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P  ∧  D  ∧  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74089B-5F69-4227-BE4B-28DAE1A2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146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physical closure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DE7CDF-C1BF-4A4A-85BA-27AAAD09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146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derivative closure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D4E9E9-15C6-435E-85ED-46D52579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1146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8C6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8C66"/>
                </a:solidFill>
                <a:latin typeface="Arial"/>
                <a:ea typeface="Arial"/>
                <a:cs typeface="Arial"/>
              </a:rPr>
              <a:t>temporal closure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7AD53C-E8F7-4095-A06C-5244B4B0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19475"/>
            <a:ext cx="3162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A6DA7C-B862-4712-B5EF-BCE49C13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814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нет активного registered path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AD2D8C-4574-490E-A9C9-C9060CC7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290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replay не создаёт запись снова</a:t>
            </a:r>
          </a:p>
        </p:txBody>
      </p:sp>
    </p:spTree>
    <p:extLst>
      <p:ext uri="{BB962C8B-B14F-4D97-AF65-F5344CB8AC3E}">
        <p14:creationId xmlns:p14="http://schemas.microsoft.com/office/powerpoint/2010/main" val="177826150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2536"/>
            </a:gs>
            <a:gs pos="100000">
              <a:srgbClr val="1B334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98437F-3162-4DB7-9B90-4C9DA3B7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C3780-4A23-47DF-BBB4-22C46C31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92A07-75F2-4C58-9199-5564AB67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B425A-C1A5-4531-AB28-EA524C7C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095F2-6EB6-40D0-9F15-EB94D175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D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9CEA3-9208-4AC7-876E-5041316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C9B68-A269-4C62-9356-20F068EB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CD653-B924-49F4-A6C3-B528D964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E412E-A4D8-441F-9708-76D15485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D2EDC-A949-4EE5-AC98-BC9C6D43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D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E8144-DC1E-41DA-BCB9-01174AE7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ERASEMAP  /  MECHANISM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EB409-9271-46D0-901E-8E14E33A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9D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DCFF6-B607-4777-A506-511685E8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266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evidence-led deletion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C7798-3239-429D-B0BF-9C02922F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244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B8C9D3"/>
                </a:solidFill>
                <a:latin typeface="Arial"/>
                <a:ea typeface="Arial"/>
                <a:cs typeface="Arial"/>
              </a:rPr>
              <a:t>RKNP · ISEF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49E13-431C-4A22-B328-F43BFBB7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202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E1C6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00E1C6"/>
                </a:solidFill>
                <a:latin typeface="Georgia"/>
                <a:ea typeface="Georgia"/>
                <a:cs typeface="Georgia"/>
              </a:rPr>
              <a:t>Как решение превращается в проверяемое доказательство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1D537-8DCE-4AA5-98DC-B4708439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Каждый переход оставляет receipt, probe, replay или certificate.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8562B-51E3-4846-8473-B13775A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05100"/>
            <a:ext cx="361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4D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00400-7D1F-4A19-9342-16B5B989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009650" cy="704850"/>
          </a:xfrm>
          <a:custGeom xmlns:a="http://schemas.openxmlformats.org/drawingml/2006/main">
            <a:pathLst>
              <a:path w="1009650" h="704850">
                <a:moveTo>
                  <a:pt x="252413" y="0"/>
                </a:moveTo>
                <a:lnTo>
                  <a:pt x="757238" y="0"/>
                </a:lnTo>
                <a:lnTo>
                  <a:pt x="1009650" y="352425"/>
                </a:lnTo>
                <a:lnTo>
                  <a:pt x="757238" y="704850"/>
                </a:lnTo>
                <a:lnTo>
                  <a:pt x="252413" y="704850"/>
                </a:lnTo>
                <a:lnTo>
                  <a:pt x="0" y="3524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3000"/>
            </a:srgbClr>
          </a:solidFill>
          <a:ln xmlns:a="http://schemas.openxmlformats.org/drawingml/2006/main" w="14288">
            <a:solidFill>
              <a:srgbClr val="19BB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A22CA-8242-4511-8973-36E18730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Registry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4B067-3EA9-48AD-8CF6-ABB55234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known copies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92F043-7B59-463E-AC17-4E6081D2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05100"/>
            <a:ext cx="361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4D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E015F-8762-4390-80A8-8220E1B1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24100"/>
            <a:ext cx="1009650" cy="704850"/>
          </a:xfrm>
          <a:custGeom xmlns:a="http://schemas.openxmlformats.org/drawingml/2006/main">
            <a:pathLst>
              <a:path w="1009650" h="704850">
                <a:moveTo>
                  <a:pt x="252413" y="0"/>
                </a:moveTo>
                <a:lnTo>
                  <a:pt x="757238" y="0"/>
                </a:lnTo>
                <a:lnTo>
                  <a:pt x="1009650" y="352425"/>
                </a:lnTo>
                <a:lnTo>
                  <a:pt x="757238" y="704850"/>
                </a:lnTo>
                <a:lnTo>
                  <a:pt x="252413" y="704850"/>
                </a:lnTo>
                <a:lnTo>
                  <a:pt x="0" y="352425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13000"/>
            </a:srgbClr>
          </a:solidFill>
          <a:ln xmlns:a="http://schemas.openxmlformats.org/drawingml/2006/main" w="14288">
            <a:solidFill>
              <a:srgbClr val="00E1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35F61E-4384-4FA9-9B59-13D0DF0D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479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Probes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5E6863-3509-413E-ACF8-5A56EF48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908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recovery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44B5B6-EBCA-4065-A315-10F0656D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05100"/>
            <a:ext cx="361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4D6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795A00-C980-4D4C-974E-C04877EE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24100"/>
            <a:ext cx="1009650" cy="704850"/>
          </a:xfrm>
          <a:custGeom xmlns:a="http://schemas.openxmlformats.org/drawingml/2006/main">
            <a:pathLst>
              <a:path w="1009650" h="704850">
                <a:moveTo>
                  <a:pt x="252413" y="0"/>
                </a:moveTo>
                <a:lnTo>
                  <a:pt x="757238" y="0"/>
                </a:lnTo>
                <a:lnTo>
                  <a:pt x="1009650" y="352425"/>
                </a:lnTo>
                <a:lnTo>
                  <a:pt x="757238" y="704850"/>
                </a:lnTo>
                <a:lnTo>
                  <a:pt x="252413" y="704850"/>
                </a:lnTo>
                <a:lnTo>
                  <a:pt x="0" y="352425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3000"/>
            </a:srgbClr>
          </a:solidFill>
          <a:ln xmlns:a="http://schemas.openxmlformats.org/drawingml/2006/main" w="14288">
            <a:solidFill>
              <a:srgbClr val="2C9D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1E9E77-BB9B-4D35-A03B-4DD41820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479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604D71-C9F7-4C8F-BB9A-C3D00D39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908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minimal actions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0DC526-5DAA-4BE4-8078-AA62FA9A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05100"/>
            <a:ext cx="361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4D6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DCA4B6-C45E-473C-B178-226A9E19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24100"/>
            <a:ext cx="1009650" cy="704850"/>
          </a:xfrm>
          <a:custGeom xmlns:a="http://schemas.openxmlformats.org/drawingml/2006/main">
            <a:pathLst>
              <a:path w="1009650" h="704850">
                <a:moveTo>
                  <a:pt x="252413" y="0"/>
                </a:moveTo>
                <a:lnTo>
                  <a:pt x="757238" y="0"/>
                </a:lnTo>
                <a:lnTo>
                  <a:pt x="1009650" y="352425"/>
                </a:lnTo>
                <a:lnTo>
                  <a:pt x="757238" y="704850"/>
                </a:lnTo>
                <a:lnTo>
                  <a:pt x="252413" y="704850"/>
                </a:lnTo>
                <a:lnTo>
                  <a:pt x="0" y="352425"/>
                </a:lnTo>
                <a:close/>
              </a:path>
            </a:pathLst>
          </a:custGeom>
          <a:solidFill xmlns:a="http://schemas.openxmlformats.org/drawingml/2006/main">
            <a:srgbClr val="FF8C66">
              <a:alpha val="13000"/>
            </a:srgbClr>
          </a:solidFill>
          <a:ln xmlns:a="http://schemas.openxmlformats.org/drawingml/2006/main" w="14288">
            <a:solidFill>
              <a:srgbClr val="FF8C6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A3A33D-A976-4DBB-BEFA-B1B0229B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479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2706D8-D336-440A-B073-E9F2A642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908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future check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A88F15-DE02-420A-9FB7-E1481E17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24100"/>
            <a:ext cx="1009650" cy="704850"/>
          </a:xfrm>
          <a:custGeom xmlns:a="http://schemas.openxmlformats.org/drawingml/2006/main">
            <a:pathLst>
              <a:path w="1009650" h="704850">
                <a:moveTo>
                  <a:pt x="252413" y="0"/>
                </a:moveTo>
                <a:lnTo>
                  <a:pt x="757238" y="0"/>
                </a:lnTo>
                <a:lnTo>
                  <a:pt x="1009650" y="352425"/>
                </a:lnTo>
                <a:lnTo>
                  <a:pt x="757238" y="704850"/>
                </a:lnTo>
                <a:lnTo>
                  <a:pt x="252413" y="704850"/>
                </a:lnTo>
                <a:lnTo>
                  <a:pt x="0" y="352425"/>
                </a:lnTo>
                <a:close/>
              </a:path>
            </a:pathLst>
          </a:custGeom>
          <a:solidFill xmlns:a="http://schemas.openxmlformats.org/drawingml/2006/main">
            <a:srgbClr val="5A65D8">
              <a:alpha val="13000"/>
            </a:srgbClr>
          </a:solidFill>
          <a:ln xmlns:a="http://schemas.openxmlformats.org/drawingml/2006/main" w="14288">
            <a:solidFill>
              <a:srgbClr val="5A6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EFFDE9-13EC-4F66-BC94-BF4D6506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479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Certificate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86BCE5-2DEE-434B-8067-11E8F6ED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908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known + unknown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25147D-4AB1-4F81-9284-8DA317A0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3581400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102F46"/>
          </a:solidFill>
          <a:ln xmlns:a="http://schemas.openxmlformats.org/drawingml/2006/main" w="9525">
            <a:solidFill>
              <a:srgbClr val="2A4D6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CA039C-62F3-4973-9BB6-C6E432AA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COMPLETE  ⇔  P ∧ D ∧ 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6E44F6-AC5D-432F-AAC9-B425E398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43325"/>
            <a:ext cx="3638550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00E1C6">
              <a:alpha val="1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5808B4-A428-4030-9524-C8F1D93C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876675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Сертификат показывает границу знаний</a:t>
            </a:r>
          </a:p>
        </p:txBody>
      </p:sp>
    </p:spTree>
    <p:extLst>
      <p:ext uri="{BB962C8B-B14F-4D97-AF65-F5344CB8AC3E}">
        <p14:creationId xmlns:p14="http://schemas.microsoft.com/office/powerpoint/2010/main" val="4766469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9FA"/>
            </a:gs>
            <a:gs pos="100000">
              <a:srgbClr val="E8EFF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2FD5E2-7ECE-4DEC-BD16-23F418CE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480D1-B653-4F9E-8446-737CF6BA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5FBF8-9617-4203-8406-41EDFE59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5CDCC-87C6-49FC-A33D-037D5C16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F9B30-3888-4DB4-8CBA-F27A504E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30411-9B28-4FDD-8480-D47963FC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6531E-FD22-42EF-B764-98838A2C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03BB6-CFF6-4E61-A535-57A25439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492D0-045F-4ADA-96A5-5D083F48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CF97D-6979-43A0-B7B3-36943298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60AFF-BA2A-4A90-ACFA-BF8CD1BF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ERASEMAP  / 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0FF31-6B90-43A6-AD9B-BC6FC540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6E402-FEC4-4340-80CF-E2538A9F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266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evidence-led deletion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82392-E253-4EAF-90CD-E3B77C48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244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RKNP · ISEF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9E85B-F60B-4DBC-AB0B-595420C1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32E41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32E41"/>
                </a:solidFill>
                <a:latin typeface="Georgia"/>
                <a:ea typeface="Georgia"/>
                <a:cs typeface="Georgia"/>
              </a:rPr>
              <a:t>Сравнение 1 / безопасность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71A94-CDDE-4BE2-8572-B7DA7936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График показывает false COMPLETE: где система ошибочно сказала «готово».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BE660-FEC7-41C1-8436-A750FA74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47825"/>
            <a:ext cx="5953125" cy="264795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BB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852947-3982-4999-829E-22607EDD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2152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93C"/>
          </a:solidFill>
          <a:ln xmlns:a="http://schemas.openxmlformats.org/drawingml/2006/main" w="9525">
            <a:solidFill>
              <a:srgbClr val="19BB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D183E-454A-49B7-AD60-DBBA0323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FALSE COMPLETE · ниже лучше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a9c58b3ed4b26"/>
          <a:stretch xmlns:a="http://schemas.openxmlformats.org/drawingml/2006/main"/>
        </p:blipFill>
        <p:spPr>
          <a:xfrm xmlns:a="http://schemas.openxmlformats.org/drawingml/2006/main">
            <a:off x="821978" y="2085975"/>
            <a:ext cx="5414068" cy="1943100"/>
          </a:xfrm>
          <a:prstGeom xmlns:a="http://schemas.openxmlformats.org/drawingml/2006/main" prst="roundRect">
            <a:avLst>
              <a:gd name="adj" fmla="val 4902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130A7-A40C-4301-8E02-6D9833D2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561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52C3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C3F"/>
                </a:solidFill>
                <a:latin typeface="Arial"/>
                <a:ea typeface="Arial"/>
                <a:cs typeface="Arial"/>
              </a:rPr>
              <a:t>bounded stock-service protocol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57919-182C-4A66-8DC1-0B7A6E75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43075"/>
            <a:ext cx="17526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CBA44-9B7B-4556-9C78-E0412166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1927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0 / 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0E82A8-9DAE-4B68-9B2B-7A904615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14550"/>
            <a:ext cx="1485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EraSeMap cases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FCE62-8438-45C0-A462-8D17FB6F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33650"/>
            <a:ext cx="17526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3DFE7F-434B-49DD-9EDF-A2CE897A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098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0 / 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1ED225-6C38-4E2D-ADB8-C4B1CF62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05125"/>
            <a:ext cx="1485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PCUG cases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80C798-364B-48FB-888C-16EC0BB2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24225"/>
            <a:ext cx="17526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6EBF81-FA75-4541-BABE-2EBC5558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004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C9DD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9DDE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679604-C058-4542-A357-DC876880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95700"/>
            <a:ext cx="1485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replayed 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E88CCA-425B-45F6-8F5D-F8F3BAF5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95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Real project evidence; bounded scope;</a:t>
            </a:r>
          </a:p>
          <a:p xmlns:a="http://schemas.openxmlformats.org/drawingml/2006/main">
            <a:pPr algn="ctr">
              <a:defRPr sz="7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no production claim.</a:t>
            </a:r>
          </a:p>
        </p:txBody>
      </p:sp>
    </p:spTree>
    <p:extLst>
      <p:ext uri="{BB962C8B-B14F-4D97-AF65-F5344CB8AC3E}">
        <p14:creationId xmlns:p14="http://schemas.microsoft.com/office/powerpoint/2010/main" val="484994037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B"/>
            </a:gs>
            <a:gs pos="100000">
              <a:srgbClr val="E7EFF3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2FF93D-F4E5-4ECB-8226-9F1E3F9B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26FF6-E857-469C-B133-E1DFCCE1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AF6BA-0EA5-4172-989D-B31CD2C5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74B1C-D3D7-440F-974C-75FDE731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0468F-63CE-4EFC-BB6A-6A0403A5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ECF90-4885-4AA5-A31C-CAA1787B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FE383-D1C6-488B-8FBC-719E79C6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5E0B9-9187-4E8A-BD1B-87F0E96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4C8F2-F018-49FC-AE7F-EEDFE214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59BAF-C7CF-4A4F-8113-9F669846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3DC15-EB65-449B-841D-1870B1BE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ERASEMAP  / 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53472-38DD-4D7C-8F59-AC85E5DD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EFC14-0C12-4C26-954F-C6805D34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266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evidence-led deletion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91105-2575-4FF2-B67D-54839928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244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RKNP · ISEF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14D6B-5B5C-449B-9136-FB4392DC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32E41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32E41"/>
                </a:solidFill>
                <a:latin typeface="Georgia"/>
                <a:ea typeface="Georgia"/>
                <a:cs typeface="Georgia"/>
              </a:rPr>
              <a:t>Сравнение 2 / эффективность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4F635-6DFE-4133-8687-5B4952DB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График показывает action cost, wall time и bytes при одной задаче удаления.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54CAD-CBFF-434D-A049-81B9F02D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47825"/>
            <a:ext cx="6400800" cy="242887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BB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1A14B-DA74-4343-B888-F0D3249D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2152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93C"/>
          </a:solidFill>
          <a:ln xmlns:a="http://schemas.openxmlformats.org/drawingml/2006/main" w="9525">
            <a:solidFill>
              <a:srgbClr val="19BB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2F05F-5F5F-4EC1-A386-4DB42D08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COST · TIME · BYTES · ниже лучше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5482473334e67"/>
          <a:stretch xmlns:a="http://schemas.openxmlformats.org/drawingml/2006/main"/>
        </p:blipFill>
        <p:spPr>
          <a:xfrm xmlns:a="http://schemas.openxmlformats.org/drawingml/2006/main">
            <a:off x="666750" y="2111581"/>
            <a:ext cx="6172200" cy="1663288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83B7D-16D2-4C4B-AD48-5EA90C29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6096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52C3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52C3F"/>
                </a:solidFill>
                <a:latin typeface="Arial"/>
                <a:ea typeface="Arial"/>
                <a:cs typeface="Arial"/>
              </a:rPr>
              <a:t>same task · normalized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8CA88-3A12-4211-B613-60B84CC2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43075"/>
            <a:ext cx="13144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B422B7-C741-44E0-B13B-919DFA0F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192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17.64×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CD3365-339E-40C9-8123-A7D1143D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14550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speedup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DB351D-2AE2-4805-A0D1-DDD8FFD7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33650"/>
            <a:ext cx="13144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4EB3F9-1CD3-4551-9CD9-2E3DEBB5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09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−94.62%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EF2446-539F-4F87-9CF4-8916D9EF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05125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bytes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420ED4-1D69-4260-9150-E1E49CA3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24225"/>
            <a:ext cx="13144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939EEB-744F-4D59-B6B8-A3632A9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004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C9DD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9DDE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53739E-2144-4C16-BEFE-0AF4E5AF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95700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mean cost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DD588F-AC16-4B3E-BB8E-F8DD17CF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052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Сначала safety gates,</a:t>
            </a:r>
          </a:p>
          <a:p xmlns:a="http://schemas.openxmlformats.org/drawingml/2006/main">
            <a:pPr algn="ctr">
              <a:defRPr sz="7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потом оптимизация.</a:t>
            </a:r>
          </a:p>
        </p:txBody>
      </p:sp>
    </p:spTree>
    <p:extLst>
      <p:ext uri="{BB962C8B-B14F-4D97-AF65-F5344CB8AC3E}">
        <p14:creationId xmlns:p14="http://schemas.microsoft.com/office/powerpoint/2010/main" val="869927505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B"/>
            </a:gs>
            <a:gs pos="100000">
              <a:srgbClr val="E7EFF3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8C8133-B4EA-4A0D-A23F-7CDB19FA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5A939-13A6-43B0-96AC-BB60DCCE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BDB63-63C2-4E60-9AB4-81203526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679B2-490C-4E3D-A02F-6B59D305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F824E-8904-4FB2-9129-9DB367BB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29569-65BB-4311-B826-C72F9F72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55A68-A99F-4E1C-B5C0-AE11B9C0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6F79B-70BE-43B9-8D5E-3662746B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579D2-5692-413A-AC86-78508CC7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42B18-43E2-4333-B8D1-CED00C05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3EC8E-3BE8-402E-8C0F-78CC87C1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ERASEMAP  / 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DF217-96C3-4984-9496-C694BA37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ECE96-AD93-48D3-8144-0CB8660F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266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evidence-led deletion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0B825-E39F-4AEA-9224-44393636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244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RKNP · ISEF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29DC4-4572-467B-8CE0-4F94B657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32E41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32E41"/>
                </a:solidFill>
                <a:latin typeface="Georgia"/>
                <a:ea typeface="Georgia"/>
                <a:cs typeface="Georgia"/>
              </a:rPr>
              <a:t>Сравнение 3 / поиск скрытого пути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150E0-8144-4D8B-A27B-87A65C1A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Активная проба сокращает пространство гипотез после каждого recovery response.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3195E-A2E9-4830-A0AF-2030A983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47825"/>
            <a:ext cx="5715000" cy="2686050"/>
          </a:xfrm>
          <a:prstGeom xmlns:a="http://schemas.openxmlformats.org/drawingml/2006/main" prst="roundRect">
            <a:avLst>
              <a:gd name="adj" fmla="val 35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BB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A2D07-12E2-487F-A15B-8E42637F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2152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93C"/>
          </a:solidFill>
          <a:ln xmlns:a="http://schemas.openxmlformats.org/drawingml/2006/main" w="9525">
            <a:solidFill>
              <a:srgbClr val="19BB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C49CB-AFAD-4906-A74D-F58C8F9E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HIDDEN-PATH PROBES · ниже лучше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e1c914005448b"/>
          <a:stretch xmlns:a="http://schemas.openxmlformats.org/drawingml/2006/main"/>
        </p:blipFill>
        <p:spPr>
          <a:xfrm xmlns:a="http://schemas.openxmlformats.org/drawingml/2006/main">
            <a:off x="1793310" y="2085975"/>
            <a:ext cx="3233281" cy="200025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CE4D85-6676-41AA-9654-64F9A544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47825"/>
            <a:ext cx="2000250" cy="26860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AA463-0315-4E63-9D85-C895289D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85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E1C6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00E1C6"/>
                </a:solidFill>
                <a:latin typeface="Georgia"/>
                <a:ea typeface="Georgia"/>
                <a:cs typeface="Georgia"/>
              </a:rPr>
              <a:t>Число проб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66303-1F8A-4087-8BC7-C465EBB4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193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CE0D2C-2B0A-4F51-9C30-37113418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669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EraSeMap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080BB9-E500-4238-9B88-9732F94F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241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4A2B0D-093C-48F5-94E9-205E2F21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71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random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F45278-A393-49F1-8687-8F34C69D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290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9341CD-4D5D-4B6B-BCF1-3F35E75C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7662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exhaustive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CC87C6-8F2B-4B48-AB60-8E6A0670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57625"/>
            <a:ext cx="1695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E1C6">
              <a:alpha val="12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C09A7B-83BC-419D-87AF-5323C66C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50 / 50 family-held-out OOD</a:t>
            </a:r>
          </a:p>
        </p:txBody>
      </p:sp>
    </p:spTree>
    <p:extLst>
      <p:ext uri="{BB962C8B-B14F-4D97-AF65-F5344CB8AC3E}">
        <p14:creationId xmlns:p14="http://schemas.microsoft.com/office/powerpoint/2010/main" val="1189057695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6F9FA"/>
            </a:gs>
            <a:gs pos="100000">
              <a:srgbClr val="E8F0F3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5F69D5-1951-4BCE-9F7C-325899FA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6BB2C-2063-4F4C-99A9-150517D5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10081-4F31-445E-B77B-F59A8D53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BE5EF-3552-4C10-A830-D5517AE0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FDB64-0FA9-484C-ABF3-116C0B0C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E3945-6143-4E34-A3E9-A439F7EA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6F43E-3DAC-41DE-8D60-56D9445B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8CE52-1158-4E23-B0E9-D6BF7381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95981-B935-4867-A29E-A475F36C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61706-9DBE-4F2F-A81B-8A5A0FD4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44FA6-9465-4EB7-89C3-FE0B5244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ERASEMAP  / 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79A0D-D5AE-4393-A27A-57B6FDA9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21375-7868-4FF9-A300-714C4297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266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evidence-led deletion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0D560-AFE4-42F8-BD3E-24527C57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244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RKNP · ISEF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B568A-8BC7-4009-B620-8E08EE29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32E41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32E41"/>
                </a:solidFill>
                <a:latin typeface="Georgia"/>
                <a:ea typeface="Georgia"/>
                <a:cs typeface="Georgia"/>
              </a:rPr>
              <a:t>Сравнение 4 / сильные стороны и границы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23496-43E8-4D7D-B63E-1229B4CB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Разделяем выигрыш в storage deletion и отдельный model-unlearning канал.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7FFF3-9F81-4436-931F-23F331A8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47825"/>
            <a:ext cx="5715000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BB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F1BB8-0886-4425-A713-925B7FAD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2152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93C"/>
          </a:solidFill>
          <a:ln xmlns:a="http://schemas.openxmlformats.org/drawingml/2006/main" w="9525">
            <a:solidFill>
              <a:srgbClr val="19BB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0FCC9-1448-44A8-92BE-8FC7C968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MULTI-AXIS SYSTEM VIEW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641a3b58b40c1"/>
          <a:stretch xmlns:a="http://schemas.openxmlformats.org/drawingml/2006/main"/>
        </p:blipFill>
        <p:spPr>
          <a:xfrm xmlns:a="http://schemas.openxmlformats.org/drawingml/2006/main">
            <a:off x="1276350" y="2085975"/>
            <a:ext cx="4267200" cy="200025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C492A-3FEE-4FE1-A409-4A02B43C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47825"/>
            <a:ext cx="2000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70ED1-237F-4CF5-AA31-9218C218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E1C6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00E1C6"/>
                </a:solidFill>
                <a:latin typeface="Georgia"/>
                <a:ea typeface="Georgia"/>
                <a:cs typeface="Georgia"/>
              </a:rPr>
              <a:t>Сильные стороны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B2853-A0D9-49D5-9032-8545EBA5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33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C10AED-E5BD-4165-BFFC-B9442B52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86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false COMPLETE =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F7B462-F9EE-468E-AB9E-6F6555C6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76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B53E01-6BCD-464D-9C5F-ED4291F9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289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temporal risk = 0 / 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DFD515-924C-4536-A286-A7D2C3D4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19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3335F-5164-4380-98AF-783BAA4C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71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action set is minimal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0FA4E7-6BBA-46CD-9365-1FD23CEB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8C66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FF8C66"/>
                </a:solidFill>
                <a:latin typeface="Georgia"/>
                <a:ea typeface="Georgia"/>
                <a:cs typeface="Georgia"/>
              </a:rPr>
              <a:t>Честная граница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76053C-2720-4D25-A9AA-CDD3C91E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528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MUFAC candidate не прошёл</a:t>
            </a:r>
          </a:p>
          <a:p xmlns:a="http://schemas.openxmlformats.org/drawingml/2006/main">
            <a:pPr algn="ctr">
              <a:defRPr sz="7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retained-utility gate; exact</a:t>
            </a:r>
          </a:p>
          <a:p xmlns:a="http://schemas.openxmlformats.org/drawingml/2006/main">
            <a:pPr algn="ctr">
              <a:defRPr sz="7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fallback сохраняет safety,</a:t>
            </a:r>
          </a:p>
          <a:p xmlns:a="http://schemas.openxmlformats.org/drawingml/2006/main">
            <a:pPr algn="ctr">
              <a:defRPr sz="7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но не даёт ускорения.</a:t>
            </a:r>
          </a:p>
        </p:txBody>
      </p:sp>
    </p:spTree>
    <p:extLst>
      <p:ext uri="{BB962C8B-B14F-4D97-AF65-F5344CB8AC3E}">
        <p14:creationId xmlns:p14="http://schemas.microsoft.com/office/powerpoint/2010/main" val="1794713775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9FA"/>
            </a:gs>
            <a:gs pos="100000">
              <a:srgbClr val="E6EEF1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A4885D-C9FC-48B5-820C-0E6B12B5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D043A-314B-4DD7-9FDC-54FF3D5F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670AB-8767-4B27-A63F-26D20615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7DE45-8BDA-4D9A-8739-F7E05486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ECB33-E413-4E4B-92E2-A011B75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F3926-CE0A-4AE2-A99E-641E865A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19480-0D94-45CB-813D-24ABAD9E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C1EC1-E850-450C-813C-816D418B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99982-AFE1-41A1-86A0-9F6F470B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1D03E-C74B-4C79-A9C5-1B763B9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CDBC9-D2A2-43C3-A619-22E6F2E5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ERASEMAP  /  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2A39A-C59E-4EC2-8AC1-EF979C8F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4655E-205E-421E-AC6B-EA673474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266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evidence-led deletion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B4BA5-FCDC-42A3-869A-DD6C4082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244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RKNP · ISEF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11DCC-74A2-4B0D-A57A-894EF600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32E41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32E41"/>
                </a:solidFill>
                <a:latin typeface="Georgia"/>
                <a:ea typeface="Georgia"/>
                <a:cs typeface="Georgia"/>
              </a:rPr>
              <a:t>Формула вердикта и три проверяемых условия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7C1AB-69CB-42C5-8213-A59D89BF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Компактная запись облегчает объяснение; доказательство проверяет composition property.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644CE-F06E-4AA7-A25D-F6A88C54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7658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9BB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C75AD-DD21-4822-AA82-2E82FA26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7277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9BBD5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9BBD5"/>
                </a:solidFill>
                <a:latin typeface="Georgia"/>
                <a:ea typeface="Georgia"/>
                <a:cs typeface="Georgia"/>
              </a:rPr>
              <a:t>COMPLETE  ⇔  P  ∧  D  ∧  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7D041-6AAB-4B88-9324-EE75D02D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2479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BB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C3DF8-DE33-4BC9-B527-41C6F11C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00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9BBD5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9BBD5"/>
                </a:solidFill>
                <a:latin typeface="Georgia"/>
                <a:ea typeface="Georgia"/>
                <a:cs typeface="Georgia"/>
              </a:rPr>
              <a:t>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56B0C-78B6-43A3-AB2B-D3C55DAD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physical closure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59D89B-7BC3-4E1B-89D0-940A7737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registered paths closed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107256-BFBB-45F5-813A-FFB49F92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52750"/>
            <a:ext cx="22479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108F3-CB16-4DB8-8EA1-BF3E50BB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05150"/>
            <a:ext cx="400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E1C6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00E1C6"/>
                </a:solidFill>
                <a:latin typeface="Georgia"/>
                <a:ea typeface="Georgia"/>
                <a:cs typeface="Georgia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BA1E4E-8F68-4E27-8AC7-0DFBEAA7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derivative closure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81A56A-FD0F-4684-8AE9-008278EF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433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templates and indexes closed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7F97B-0CC8-4730-84B2-3A47D248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52750"/>
            <a:ext cx="22479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C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1CEA22-3C7B-4BB0-819C-3D51DA8F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400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8C66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8C66"/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FF42D6-A3CB-4688-ADDA-3C5C680C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temporal closure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1A10D8-BE32-4A0E-92CD-B01F83C1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433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replay cannot regenerate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30552F-043C-4202-B39F-2E1AEB66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7658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3,072 / 3,072 formal checks passed in the project proof harness.</a:t>
            </a:r>
          </a:p>
        </p:txBody>
      </p:sp>
    </p:spTree>
    <p:extLst>
      <p:ext uri="{BB962C8B-B14F-4D97-AF65-F5344CB8AC3E}">
        <p14:creationId xmlns:p14="http://schemas.microsoft.com/office/powerpoint/2010/main" val="659907721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1722"/>
            </a:gs>
            <a:gs pos="100000">
              <a:srgbClr val="183B4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ED5EEA-A951-4E5C-9676-19F15E49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F7A83-944F-4C83-9F7B-25EBD5E9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32276-45F7-4BC6-87B1-27C1441F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EA092-8A0E-4E55-AD73-C315D58B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40A49-1767-4388-A993-5EE245FA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D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DFC0E-7CAD-4CA3-8C35-25C03D47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76DDD-5001-415A-BE6A-9A7D0976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33053-9CAB-40D5-9454-50D0B064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FDB8A-8CDB-4260-B969-8B4F5051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45E52-00D1-40F5-89A5-85182ED9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D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3D897-ADD0-4EA3-AAE7-684D7CA8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ERASEMAP  /  LIMIT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0A442-6FAA-459A-9E36-1221030B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9D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080F7-6721-49E8-AFFF-3A376980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266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evidence-led deletion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036E5-AFA8-4557-A19D-D36B7A29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244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B8C9D3"/>
                </a:solidFill>
                <a:latin typeface="Arial"/>
                <a:ea typeface="Arial"/>
                <a:cs typeface="Arial"/>
              </a:rPr>
              <a:t>RKNP · ISEF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CB263-FA2F-492A-AACB-11AF5089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E1C6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00E1C6"/>
                </a:solidFill>
                <a:latin typeface="Georgia"/>
                <a:ea typeface="Georgia"/>
                <a:cs typeface="Georgia"/>
              </a:rPr>
              <a:t>Model unlearning — отдельный канал, не вся система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960C7-A084-4FEF-8EA8-B02E6512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Низкий MIA-score не превращаем автоматически в доказательство удаления.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78ABC-DDF0-45BD-87B1-B3A15288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714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02F46"/>
          </a:solidFill>
          <a:ln xmlns:a="http://schemas.openxmlformats.org/drawingml/2006/main" w="9525">
            <a:solidFill>
              <a:srgbClr val="2A4D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C4917-D5A7-4AD2-BAB5-1F95B58A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E1C6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00E1C6"/>
                </a:solidFill>
                <a:latin typeface="Georgia"/>
                <a:ea typeface="Georgia"/>
                <a:cs typeface="Georgia"/>
              </a:rPr>
              <a:t>Что проверяем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95091-6E71-4D42-8EA6-479934F6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28EB3-104B-4F28-ABFE-F83B68A1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669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influence / retained utility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0EECB5-6C1F-47CC-937C-1D756E81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587C36-6448-4FCD-A523-3AA221D2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908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comparison to exact retraining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C66A4F-D027-49DC-94E1-88B84758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8C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8C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068A74-A83C-434C-8AE3-CD004E54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147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privacy attack / utility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95BB2C-0E48-4904-906B-184079D7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57350"/>
            <a:ext cx="39624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02F46"/>
          </a:solidFill>
          <a:ln xmlns:a="http://schemas.openxmlformats.org/drawingml/2006/main" w="11430">
            <a:solidFill>
              <a:srgbClr val="FF8C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E32C04-7A3B-414E-9279-A56C6F7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85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8C66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8C66"/>
                </a:solidFill>
                <a:latin typeface="Georgia"/>
                <a:ea typeface="Georgia"/>
                <a:cs typeface="Georgia"/>
              </a:rPr>
              <a:t>Реальный результат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9C51CE-91D6-4079-9805-75CCD571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907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MUFAC candidate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2E85D3-EA8C-4AA1-9688-E8076CF6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24150"/>
            <a:ext cx="21145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C66">
              <a:alpha val="12000"/>
            </a:srgbClr>
          </a:solidFill>
          <a:ln xmlns:a="http://schemas.openxmlformats.org/drawingml/2006/main" w="9525">
            <a:solidFill>
              <a:srgbClr val="FF8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FD8E28-6D32-423B-9AAF-B4B1460A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3367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8C6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8C66"/>
                </a:solidFill>
                <a:latin typeface="Arial"/>
                <a:ea typeface="Arial"/>
                <a:cs typeface="Arial"/>
              </a:rPr>
              <a:t>FAIL · retained-utility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4A58C1-E51C-4C60-89F6-F15868E5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242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Exact fallback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59619B-2EBE-4706-9CE6-6D4A4DC8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57600"/>
            <a:ext cx="20383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E1C6">
              <a:alpha val="12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6F99F1-A8D6-4D0A-AE19-D4839F73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671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PASS · safety / no speedup</a:t>
            </a:r>
          </a:p>
        </p:txBody>
      </p:sp>
    </p:spTree>
    <p:extLst>
      <p:ext uri="{BB962C8B-B14F-4D97-AF65-F5344CB8AC3E}">
        <p14:creationId xmlns:p14="http://schemas.microsoft.com/office/powerpoint/2010/main" val="325498929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6F9FA"/>
            </a:gs>
            <a:gs pos="100000">
              <a:srgbClr val="E7EFF3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473A9C-DAFB-45C6-B785-3D881A5C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4662C-E41D-46C1-BCC0-F14A5C79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8738A-FFA5-4194-8A86-525877B1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888A4-9C2D-4EA2-980C-5D8358AD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56600-8711-4FB8-B4E5-41E3E662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5B013-7B52-4B2D-AB6B-A16D4177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99D92-7343-4557-B894-AE66172E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67483-A37B-455A-A9BC-2DF5CEF3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36651-DD2A-4AE4-AE51-20DFC3D5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BCF36-D308-4284-BB0A-5E0AE7BA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7B6D1-9A67-414D-8CEE-07CE1E7F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ERASEMAP  /  POSITION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2637D-E2A8-4072-85C7-8B22C017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8714B-7476-4BF4-A9AD-20A5F87C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266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evidence-led deletion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5DD1A-35C1-4BE4-9E32-8F076AF4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244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RKNP · ISEF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BB3FA-A2FD-41E4-8CC7-7C8BAD66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32E41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32E41"/>
                </a:solidFill>
                <a:latin typeface="Georgia"/>
                <a:ea typeface="Georgia"/>
                <a:cs typeface="Georgia"/>
              </a:rPr>
              <a:t>Новизна — в составе доказательств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3100D-00A0-4B32-9E54-C90D4373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Не четыре разрозненных алгоритма, а одна процедура, закрывающая три риска.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73AA2-A000-485A-A1B7-422AA0FF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E1C6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00E1C6"/>
                </a:solidFill>
                <a:latin typeface="Georgia"/>
                <a:ea typeface="Georgia"/>
                <a:cs typeface="Georgia"/>
              </a:rPr>
              <a:t>Три отличительных объекта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CE85C-2110-4759-A874-6BCC23C5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419100" cy="361950"/>
          </a:xfrm>
          <a:custGeom xmlns:a="http://schemas.openxmlformats.org/drawingml/2006/main">
            <a:pathLst>
              <a:path w="419100" h="361950">
                <a:moveTo>
                  <a:pt x="104775" y="0"/>
                </a:moveTo>
                <a:lnTo>
                  <a:pt x="314325" y="0"/>
                </a:lnTo>
                <a:lnTo>
                  <a:pt x="419100" y="180975"/>
                </a:lnTo>
                <a:lnTo>
                  <a:pt x="314325" y="361950"/>
                </a:lnTo>
                <a:lnTo>
                  <a:pt x="104775" y="361950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5000"/>
            </a:srgbClr>
          </a:solidFill>
          <a:ln xmlns:a="http://schemas.openxmlformats.org/drawingml/2006/main" w="11430">
            <a:solidFill>
              <a:srgbClr val="19BB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81AA5-467A-4321-9442-14937D27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812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recovery-path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4B44E-3D9E-4992-9FCD-4A295331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ищем, где запись может появиться снова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B2BA8-57F2-46C9-945D-DC757F0E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19100" cy="361950"/>
          </a:xfrm>
          <a:custGeom xmlns:a="http://schemas.openxmlformats.org/drawingml/2006/main">
            <a:pathLst>
              <a:path w="419100" h="361950">
                <a:moveTo>
                  <a:pt x="104775" y="0"/>
                </a:moveTo>
                <a:lnTo>
                  <a:pt x="314325" y="0"/>
                </a:lnTo>
                <a:lnTo>
                  <a:pt x="419100" y="180975"/>
                </a:lnTo>
                <a:lnTo>
                  <a:pt x="314325" y="361950"/>
                </a:lnTo>
                <a:lnTo>
                  <a:pt x="104775" y="361950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15000"/>
            </a:srgbClr>
          </a:solidFill>
          <a:ln xmlns:a="http://schemas.openxmlformats.org/drawingml/2006/main" w="11430">
            <a:solidFill>
              <a:srgbClr val="00E1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ACBD2-F7DF-495C-8DCB-7DA13E0F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622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temporal closure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4E60F-AE9E-4AE9-9988-BF84F85F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813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проверяем будущую регенерацию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ECADA9-9C5A-4737-8744-5A6424E3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419100" cy="361950"/>
          </a:xfrm>
          <a:custGeom xmlns:a="http://schemas.openxmlformats.org/drawingml/2006/main">
            <a:pathLst>
              <a:path w="419100" h="361950">
                <a:moveTo>
                  <a:pt x="104775" y="0"/>
                </a:moveTo>
                <a:lnTo>
                  <a:pt x="314325" y="0"/>
                </a:lnTo>
                <a:lnTo>
                  <a:pt x="419100" y="180975"/>
                </a:lnTo>
                <a:lnTo>
                  <a:pt x="314325" y="361950"/>
                </a:lnTo>
                <a:lnTo>
                  <a:pt x="104775" y="361950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5A65D8">
              <a:alpha val="15000"/>
            </a:srgbClr>
          </a:solidFill>
          <a:ln xmlns:a="http://schemas.openxmlformats.org/drawingml/2006/main" w="11430">
            <a:solidFill>
              <a:srgbClr val="5A6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C8DCF4-BFD6-4C78-B6AA-D93B38CF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432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deletion certificate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9A24DA-9686-447A-A0DD-4C190896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видна граница неизвестности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5478AE-914C-4060-8004-28F8B787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363855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4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5AAD1E-08DA-43C0-ACFE-DB506A42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E1C6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00E1C6"/>
                </a:solidFill>
                <a:latin typeface="Georgia"/>
                <a:ea typeface="Georgia"/>
                <a:cs typeface="Georgia"/>
              </a:rPr>
              <a:t>Лестница доказательств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96DED9-EC6E-4E2F-95A0-AF0B0890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52675"/>
            <a:ext cx="14668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8C66">
              <a:alpha val="10000"/>
            </a:srgbClr>
          </a:solidFill>
          <a:ln xmlns:a="http://schemas.openxmlformats.org/drawingml/2006/main" w="9525">
            <a:solidFill>
              <a:srgbClr val="FF8C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4DACEA-5CE8-44D2-A5B0-E830D9FC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717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8C6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8C66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149A8F-41F7-464F-9142-25E20B6B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3717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production pilot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7C0A11-A920-4213-9685-63A4A36E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95575"/>
            <a:ext cx="14668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8C66">
              <a:alpha val="10000"/>
            </a:srgbClr>
          </a:solidFill>
          <a:ln xmlns:a="http://schemas.openxmlformats.org/drawingml/2006/main" w="9525">
            <a:solidFill>
              <a:srgbClr val="FF8C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8ADEC5-ECA3-4CF2-92AE-E5E64E8E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1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8C6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8C66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602865-1001-4332-9B9E-1BECD84C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714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87080"/>
                </a:solidFill>
                <a:latin typeface="Arial"/>
                <a:ea typeface="Arial"/>
                <a:cs typeface="Arial"/>
              </a:rPr>
              <a:t>independent hidden challenge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8C6599-3E40-4EDB-8A67-5874E408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38475"/>
            <a:ext cx="21907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0E1C6">
              <a:alpha val="15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20225E-39A6-4E90-A14F-4215AC5F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57525"/>
            <a:ext cx="180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D28347-6BB4-4FE9-A899-BC5590DF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575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family-held-out OOD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1A4AF4-FB75-40F3-88B9-05D69035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81375"/>
            <a:ext cx="20002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0E1C6">
              <a:alpha val="15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BCEBEC-6558-4D67-8D57-724E57AF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00425"/>
            <a:ext cx="180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C1C532-9442-4386-9672-16F10CC1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004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source-locked holdout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AFA3CC-C349-43F2-804A-43214D97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24275"/>
            <a:ext cx="18097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0E1C6">
              <a:alpha val="15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BB3BF0-3B29-4B5D-899C-94DB4A9F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43325"/>
            <a:ext cx="180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4C9F2C-D7EF-490D-B26E-51714A80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433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2E41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32E41"/>
                </a:solidFill>
                <a:latin typeface="Arial"/>
                <a:ea typeface="Arial"/>
                <a:cs typeface="Arial"/>
              </a:rPr>
              <a:t>reproducible project lab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D8F241-F5E7-4FEC-AB76-91B3651B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052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Сейчас: сильная воспроизводимость и bounded external inputs.</a:t>
            </a:r>
          </a:p>
          <a:p xmlns:a="http://schemas.openxmlformats.org/drawingml/2006/main">
            <a:pPr algn="ctr">
              <a:defRPr sz="7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Следующий честный шаг: независимый hidden evaluator.</a:t>
            </a:r>
          </a:p>
        </p:txBody>
      </p:sp>
    </p:spTree>
    <p:extLst>
      <p:ext uri="{BB962C8B-B14F-4D97-AF65-F5344CB8AC3E}">
        <p14:creationId xmlns:p14="http://schemas.microsoft.com/office/powerpoint/2010/main" val="287077445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1722"/>
            </a:gs>
            <a:gs pos="100000">
              <a:srgbClr val="16394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8D79D-5B5C-46F8-9BDB-B7CC1FE5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338D3-56D6-4616-B6DD-731303FF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A219A-48B8-4F84-9063-47BFFCD1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14D19-75E0-43EE-BA48-9CA14E6C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9A7C9-2217-4F60-B29A-F79C3E31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D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9D2B2-44FC-4489-BA56-12A7FAF8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5250"/>
            <a:ext cx="552450" cy="476250"/>
          </a:xfrm>
          <a:custGeom xmlns:a="http://schemas.openxmlformats.org/drawingml/2006/main">
            <a:pathLst>
              <a:path w="552450" h="476250">
                <a:moveTo>
                  <a:pt x="138113" y="0"/>
                </a:moveTo>
                <a:lnTo>
                  <a:pt x="414338" y="0"/>
                </a:lnTo>
                <a:lnTo>
                  <a:pt x="552450" y="238125"/>
                </a:lnTo>
                <a:lnTo>
                  <a:pt x="414338" y="476250"/>
                </a:lnTo>
                <a:lnTo>
                  <a:pt x="138113" y="4762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8000"/>
            </a:srgbClr>
          </a:solidFill>
          <a:ln xmlns:a="http://schemas.openxmlformats.org/drawingml/2006/main" w="12383">
            <a:solidFill>
              <a:srgbClr val="19BB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A6EE8-D306-4899-BF71-E6E678D4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83344" y="0"/>
                </a:moveTo>
                <a:lnTo>
                  <a:pt x="250031" y="0"/>
                </a:lnTo>
                <a:lnTo>
                  <a:pt x="333375" y="147638"/>
                </a:lnTo>
                <a:lnTo>
                  <a:pt x="250031" y="295275"/>
                </a:lnTo>
                <a:lnTo>
                  <a:pt x="83344" y="295275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00E1C6">
              <a:alpha val="2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EF6BC-BA53-45A0-AC5F-A03CC444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"/>
            <a:ext cx="438150" cy="381000"/>
          </a:xfrm>
          <a:custGeom xmlns:a="http://schemas.openxmlformats.org/drawingml/2006/main">
            <a:pathLst>
              <a:path w="438150" h="381000">
                <a:moveTo>
                  <a:pt x="109538" y="0"/>
                </a:moveTo>
                <a:lnTo>
                  <a:pt x="328613" y="0"/>
                </a:lnTo>
                <a:lnTo>
                  <a:pt x="438150" y="190500"/>
                </a:lnTo>
                <a:lnTo>
                  <a:pt x="328613" y="381000"/>
                </a:lnTo>
                <a:lnTo>
                  <a:pt x="109538" y="3810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2C9DDE">
              <a:alpha val="18000"/>
            </a:srgbClr>
          </a:solidFill>
          <a:ln xmlns:a="http://schemas.openxmlformats.org/drawingml/2006/main" w="9525">
            <a:solidFill>
              <a:srgbClr val="2C9D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75AAE-F177-4FC6-8F2A-7C45BBA1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7675E-30AC-4307-A2D3-0D3058B6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00075"/>
            <a:ext cx="6191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D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5E0A0-DC61-4DB8-84C6-BEF17FCC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E1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E1C6"/>
                </a:solidFill>
                <a:latin typeface="Arial"/>
                <a:ea typeface="Arial"/>
                <a:cs typeface="Arial"/>
              </a:rPr>
              <a:t>ERASEMAP  /  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1A416-003D-45D3-82F1-6031F77F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E1C6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00E1C6"/>
                </a:solidFill>
                <a:latin typeface="Georgia"/>
                <a:ea typeface="Georgia"/>
                <a:cs typeface="Georgia"/>
              </a:rPr>
              <a:t>Проверять путь,</a:t>
            </a:r>
          </a:p>
          <a:p xmlns:a="http://schemas.openxmlformats.org/drawingml/2006/main">
            <a:pPr algn="l">
              <a:defRPr sz="3150" b="0">
                <a:solidFill>
                  <a:srgbClr val="00E1C6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00E1C6"/>
                </a:solidFill>
                <a:latin typeface="Georgia"/>
                <a:ea typeface="Georgia"/>
                <a:cs typeface="Georgia"/>
              </a:rPr>
              <a:t>а не обещание.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FF456-10FF-40FD-87C9-2C4F2E4C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5272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EraSeMap превращает удаление из одной команды</a:t>
            </a:r>
          </a:p>
          <a:p xmlns:a="http://schemas.openxmlformats.org/drawingml/2006/main">
            <a:pPr algn="l">
              <a:defRPr sz="1275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в проверяемый, временно устойчивый verdict.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8F4BA-2751-49B3-ACAF-6048715B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37528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0E1C6">
              <a:alpha val="10000"/>
            </a:srgbClr>
          </a:solidFill>
          <a:ln xmlns:a="http://schemas.openxmlformats.org/drawingml/2006/main" w="9525">
            <a:solidFill>
              <a:srgbClr val="00E1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27F32-98FB-4FD3-8B96-B4168525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Следующий эксперимент: independent hidden challenge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FB4C3-C68F-4B6D-87B6-8BAFF6DA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85900"/>
            <a:ext cx="1447800" cy="1238250"/>
          </a:xfrm>
          <a:custGeom xmlns:a="http://schemas.openxmlformats.org/drawingml/2006/main">
            <a:pathLst>
              <a:path w="1447800" h="1238250">
                <a:moveTo>
                  <a:pt x="361950" y="0"/>
                </a:moveTo>
                <a:lnTo>
                  <a:pt x="1085850" y="0"/>
                </a:lnTo>
                <a:lnTo>
                  <a:pt x="1447800" y="619125"/>
                </a:lnTo>
                <a:lnTo>
                  <a:pt x="1085850" y="1238250"/>
                </a:lnTo>
                <a:lnTo>
                  <a:pt x="361950" y="1238250"/>
                </a:lnTo>
                <a:lnTo>
                  <a:pt x="0" y="619125"/>
                </a:lnTo>
                <a:close/>
              </a:path>
            </a:pathLst>
          </a:custGeom>
          <a:solidFill xmlns:a="http://schemas.openxmlformats.org/drawingml/2006/main">
            <a:srgbClr val="19BBD5">
              <a:alpha val="13000"/>
            </a:srgbClr>
          </a:solidFill>
          <a:ln xmlns:a="http://schemas.openxmlformats.org/drawingml/2006/main" w="19050">
            <a:solidFill>
              <a:srgbClr val="19BB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FEB1C-CB76-4E37-BA5D-EE569C69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24050"/>
            <a:ext cx="144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BBD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BBD5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1CBDE-412F-4EEC-9847-BF389903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1181100" cy="1009650"/>
          </a:xfrm>
          <a:custGeom xmlns:a="http://schemas.openxmlformats.org/drawingml/2006/main">
            <a:pathLst>
              <a:path w="1181100" h="1009650">
                <a:moveTo>
                  <a:pt x="295275" y="0"/>
                </a:moveTo>
                <a:lnTo>
                  <a:pt x="885825" y="0"/>
                </a:lnTo>
                <a:lnTo>
                  <a:pt x="1181100" y="504825"/>
                </a:lnTo>
                <a:lnTo>
                  <a:pt x="885825" y="1009650"/>
                </a:lnTo>
                <a:lnTo>
                  <a:pt x="295275" y="1009650"/>
                </a:lnTo>
                <a:lnTo>
                  <a:pt x="0" y="504825"/>
                </a:lnTo>
                <a:close/>
              </a:path>
            </a:pathLst>
          </a:custGeom>
          <a:solidFill xmlns:a="http://schemas.openxmlformats.org/drawingml/2006/main">
            <a:srgbClr val="FF8C66">
              <a:alpha val="12000"/>
            </a:srgbClr>
          </a:solidFill>
          <a:ln xmlns:a="http://schemas.openxmlformats.org/drawingml/2006/main" w="19050">
            <a:solidFill>
              <a:srgbClr val="FF8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4D854-B0A4-4400-A2AB-12770160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861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8C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8C66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4AEDD-B80E-4145-9C9C-83A8A3C3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81275"/>
            <a:ext cx="5429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4D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0E644E-E0DB-4C42-9035-46D6ED5D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C9D3"/>
                </a:solidFill>
                <a:latin typeface="Arial"/>
                <a:ea typeface="Arial"/>
                <a:cs typeface="Arial"/>
              </a:rPr>
              <a:t>evidence-led deletion verification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C9520-D88C-478B-A079-2E6AC3D9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9D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9D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532821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2026-08-28T16:25:00.1080000Z</dcterms:created>
  <dcterms:modified xsi:type="dcterms:W3CDTF">2026-08-28T16:25:00.1080000Z</dcterms:modified>
</coreProperties>
</file>