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bc9a83d9f44e5d" /><Relationship Type="http://schemas.openxmlformats.org/officeDocument/2006/relationships/extended-properties" Target="/docProps/app.xml" Id="Ra2cfaa6d0c774744" /><Relationship Type="http://schemas.openxmlformats.org/officeDocument/2006/relationships/officeDocument" Target="/ppt/presentation.xml" Id="R5364bfdcc899425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d98cea84434aeb"/>
  </p:sldMasterIdLst>
  <p:notesMasterIdLst>
    <p:notesMasterId xmlns:r="http://schemas.openxmlformats.org/officeDocument/2006/relationships" r:id="R3796e6ec929446ee"/>
  </p:notesMasterIdLst>
  <p:sldIdLst>
    <p:sldId xmlns:r="http://schemas.openxmlformats.org/officeDocument/2006/relationships" id="256" r:id="R3601467929c94d1e"/>
    <p:sldId xmlns:r="http://schemas.openxmlformats.org/officeDocument/2006/relationships" id="257" r:id="Rb36e626a29194ac4"/>
    <p:sldId xmlns:r="http://schemas.openxmlformats.org/officeDocument/2006/relationships" id="258" r:id="R05a1330f8e874a10"/>
    <p:sldId xmlns:r="http://schemas.openxmlformats.org/officeDocument/2006/relationships" id="259" r:id="R821ec87babfa4bf2"/>
    <p:sldId xmlns:r="http://schemas.openxmlformats.org/officeDocument/2006/relationships" id="260" r:id="R51ac048698224d13"/>
    <p:sldId xmlns:r="http://schemas.openxmlformats.org/officeDocument/2006/relationships" id="261" r:id="Ree3ae2ba0a154f00"/>
    <p:sldId xmlns:r="http://schemas.openxmlformats.org/officeDocument/2006/relationships" id="262" r:id="R3a352070ff224fc4"/>
    <p:sldId xmlns:r="http://schemas.openxmlformats.org/officeDocument/2006/relationships" id="263" r:id="R66f5c440caae4566"/>
    <p:sldId xmlns:r="http://schemas.openxmlformats.org/officeDocument/2006/relationships" id="264" r:id="R71543541ec974d21"/>
    <p:sldId xmlns:r="http://schemas.openxmlformats.org/officeDocument/2006/relationships" id="265" r:id="R65bb691f00814286"/>
    <p:sldId xmlns:r="http://schemas.openxmlformats.org/officeDocument/2006/relationships" id="266" r:id="R48e37c715ab9407d"/>
    <p:sldId xmlns:r="http://schemas.openxmlformats.org/officeDocument/2006/relationships" id="267" r:id="R79e87304aa29442a"/>
    <p:sldId xmlns:r="http://schemas.openxmlformats.org/officeDocument/2006/relationships" id="268" r:id="R2eaf8f6c022a4a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8960650f5245bd" /><Relationship Type="http://schemas.openxmlformats.org/officeDocument/2006/relationships/slideMaster" Target="/ppt/slideMasters/slideMaster1.xml" Id="Ra5d98cea84434aeb" /><Relationship Type="http://schemas.openxmlformats.org/officeDocument/2006/relationships/notesMaster" Target="/ppt/notesMasters/notesMaster1.xml" Id="R3796e6ec929446ee" /><Relationship Type="http://schemas.openxmlformats.org/officeDocument/2006/relationships/presProps" Target="/ppt/presProps.xml" Id="R8ec2f0ab875b4c27" /><Relationship Type="http://schemas.openxmlformats.org/officeDocument/2006/relationships/tableStyles" Target="/ppt/tableStyles.xml" Id="Rc7ae1a41248344a5" /><Relationship Type="http://schemas.openxmlformats.org/officeDocument/2006/relationships/slide" Target="/ppt/slides/slide1.xml" Id="R3601467929c94d1e" /><Relationship Type="http://schemas.openxmlformats.org/officeDocument/2006/relationships/slide" Target="/ppt/slides/slide2.xml" Id="Rb36e626a29194ac4" /><Relationship Type="http://schemas.openxmlformats.org/officeDocument/2006/relationships/slide" Target="/ppt/slides/slide3.xml" Id="R05a1330f8e874a10" /><Relationship Type="http://schemas.openxmlformats.org/officeDocument/2006/relationships/slide" Target="/ppt/slides/slide4.xml" Id="R821ec87babfa4bf2" /><Relationship Type="http://schemas.openxmlformats.org/officeDocument/2006/relationships/slide" Target="/ppt/slides/slide5.xml" Id="R51ac048698224d13" /><Relationship Type="http://schemas.openxmlformats.org/officeDocument/2006/relationships/slide" Target="/ppt/slides/slide6.xml" Id="Ree3ae2ba0a154f00" /><Relationship Type="http://schemas.openxmlformats.org/officeDocument/2006/relationships/slide" Target="/ppt/slides/slide7.xml" Id="R3a352070ff224fc4" /><Relationship Type="http://schemas.openxmlformats.org/officeDocument/2006/relationships/slide" Target="/ppt/slides/slide8.xml" Id="R66f5c440caae4566" /><Relationship Type="http://schemas.openxmlformats.org/officeDocument/2006/relationships/slide" Target="/ppt/slides/slide9.xml" Id="R71543541ec974d21" /><Relationship Type="http://schemas.openxmlformats.org/officeDocument/2006/relationships/slide" Target="/ppt/slides/slide10.xml" Id="R65bb691f00814286" /><Relationship Type="http://schemas.openxmlformats.org/officeDocument/2006/relationships/slide" Target="/ppt/slides/slide11.xml" Id="R48e37c715ab9407d" /><Relationship Type="http://schemas.openxmlformats.org/officeDocument/2006/relationships/slide" Target="/ppt/slides/slide12.xml" Id="R79e87304aa29442a" /><Relationship Type="http://schemas.openxmlformats.org/officeDocument/2006/relationships/slide" Target="/ppt/slides/slide13.xml" Id="R2eaf8f6c022a4a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9387e3092e48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b822be09a440ad" /><Relationship Type="http://schemas.openxmlformats.org/officeDocument/2006/relationships/notesMaster" Target="/ppt/notesMasters/notesMaster1.xml" Id="R2fa0b0ba03de48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97ea9c630a41b8" /><Relationship Type="http://schemas.openxmlformats.org/officeDocument/2006/relationships/notesMaster" Target="/ppt/notesMasters/notesMaster1.xml" Id="R9cfe87b155224f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63e8cb497a43d5" /><Relationship Type="http://schemas.openxmlformats.org/officeDocument/2006/relationships/notesMaster" Target="/ppt/notesMasters/notesMaster1.xml" Id="R2ed8dfeaddfc41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bf3ecdcf7d48e0" /><Relationship Type="http://schemas.openxmlformats.org/officeDocument/2006/relationships/notesMaster" Target="/ppt/notesMasters/notesMaster1.xml" Id="R0893b0b4001449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c6305a4ca4423b" /><Relationship Type="http://schemas.openxmlformats.org/officeDocument/2006/relationships/notesMaster" Target="/ppt/notesMasters/notesMaster1.xml" Id="R5dbcea66b61648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ffdd55a31484392" /><Relationship Type="http://schemas.openxmlformats.org/officeDocument/2006/relationships/notesMaster" Target="/ppt/notesMasters/notesMaster1.xml" Id="R32ed0a9d597a45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99b27cc2e94d1f" /><Relationship Type="http://schemas.openxmlformats.org/officeDocument/2006/relationships/notesMaster" Target="/ppt/notesMasters/notesMaster1.xml" Id="R59fa8637165947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40063c1e5d4eff" /><Relationship Type="http://schemas.openxmlformats.org/officeDocument/2006/relationships/notesMaster" Target="/ppt/notesMasters/notesMaster1.xml" Id="R31814f2f24914f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bd3028e1624d2c" /><Relationship Type="http://schemas.openxmlformats.org/officeDocument/2006/relationships/notesMaster" Target="/ppt/notesMasters/notesMaster1.xml" Id="Rd52e022a5f9f43d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c6ce379512446ac" /><Relationship Type="http://schemas.openxmlformats.org/officeDocument/2006/relationships/notesMaster" Target="/ppt/notesMasters/notesMaster1.xml" Id="R2f6ad0e89e5e418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e42bb3a5864e06" /><Relationship Type="http://schemas.openxmlformats.org/officeDocument/2006/relationships/notesMaster" Target="/ppt/notesMasters/notesMaster1.xml" Id="R7820830b57a8433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0c9bddc4a5e4e28" /><Relationship Type="http://schemas.openxmlformats.org/officeDocument/2006/relationships/notesMaster" Target="/ppt/notesMasters/notesMaster1.xml" Id="R33453d7ac76e475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cdd516b2a3e4798" /><Relationship Type="http://schemas.openxmlformats.org/officeDocument/2006/relationships/notesMaster" Target="/ppt/notesMasters/notesMaster1.xml" Id="R221e8ad8a2c547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Откройте с проблемы: запись может исчезнуть из основной базы, но человек всё ещё распознаётся по производным данным.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Спросите жюри: если source удалён, но template активен, завершён ли запрос? Ответ — нет.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Покажите, что отрицательный и неопределённый результаты являются валидными результатами, а не ошибками программы.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Сформулируйте вклад как композицию. Не заявляйте изобретение lineage, подписи, min-cut или machine unlearning по отдельности.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механизмный stress test. Подчеркните ограничение: на source-locked holdout сильный typed baseline связал PCUG.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Lean доказывает условное утверждение. Явно назовите assumptions — это повышает научную честность.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Реальны процессы PostgreSQL, Redis и Qdrant. Данные synthetic; это не production latency FaceID/eGov.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Покажите научную зрелость: первая быстрая candidate не прошла utility gate; safe policy выбрала exact retraining.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Сформулируйте вклад как композицию. Не заявляйте изобретение lineage, подписи, min-cut или machine unlearning по отдельности.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Frozen GhostGraph-T v1: 300/300 action-or-OOD, 50/50 family-held-out OOD, 0 false-confident, 1.28 mean probes versus 8.0 exhaustive. Global, one-step minimax и greedy tied; не заявлять превосходство между ними. Benchmark project-authored; external validation NOT_COLLECTED.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Если жюри спросит «где новизна», ответьте одной фразой из центральной колонки и сразу назовите prior 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ключевой слайд честности. Скажите: технически путь к 9.5 готов, но фактическая независимость остаётся 7.8.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Завершите: ценность EraSeMap не в обещании идеального удаления, а в отказе объявлять успех без проверяемого основания.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5a9a59a9bf4b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21f11bd7f2496a" /><Relationship Type="http://schemas.openxmlformats.org/officeDocument/2006/relationships/slideLayout" Target="/ppt/slideLayouts/slideLayout1.xml" Id="R8c6720164ff341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6720164ff341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4f976a7e0141e1" /><Relationship Type="http://schemas.openxmlformats.org/officeDocument/2006/relationships/notesSlide" Target="/ppt/notesSlides/notesSlide1.xml" Id="R330e8667f22649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53c9f0808a4116" /><Relationship Type="http://schemas.openxmlformats.org/officeDocument/2006/relationships/notesSlide" Target="/ppt/notesSlides/notesSlide2.xml" Id="R423051c317c44db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d0ad96deb45b8" /><Relationship Type="http://schemas.openxmlformats.org/officeDocument/2006/relationships/notesSlide" Target="/ppt/notesSlides/notesSlide3.xml" Id="Re14ace4d555f41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67ef0f95c54e9f" /><Relationship Type="http://schemas.openxmlformats.org/officeDocument/2006/relationships/notesSlide" Target="/ppt/notesSlides/notesSlide4.xml" Id="R27aed7d517484a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c13c5a937a461f" /><Relationship Type="http://schemas.openxmlformats.org/officeDocument/2006/relationships/chart" Target="/ppt/slides/charts/chart1.xml" Id="R834571a3e6ff46fa" /><Relationship Type="http://schemas.openxmlformats.org/officeDocument/2006/relationships/notesSlide" Target="/ppt/notesSlides/notesSlide5.xml" Id="R6b9b0cd42c0f4f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e8a02c5cf14d41" /><Relationship Type="http://schemas.openxmlformats.org/officeDocument/2006/relationships/notesSlide" Target="/ppt/notesSlides/notesSlide6.xml" Id="Rd69f27dee23842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56136bd2dc4ab6" /><Relationship Type="http://schemas.openxmlformats.org/officeDocument/2006/relationships/chart" Target="/ppt/slides/charts/chart2.xml" Id="Rf9e31c1edeaa4ee8" /><Relationship Type="http://schemas.openxmlformats.org/officeDocument/2006/relationships/notesSlide" Target="/ppt/notesSlides/notesSlide7.xml" Id="R94cae2f556f9401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c68c2543bc4f22" /><Relationship Type="http://schemas.openxmlformats.org/officeDocument/2006/relationships/image" Target="/ppt/media/image.png" Id="R9f615e93df004353" /><Relationship Type="http://schemas.openxmlformats.org/officeDocument/2006/relationships/notesSlide" Target="/ppt/notesSlides/notesSlide8.xml" Id="R8669b4520f97469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08e1fef9524bb6" /><Relationship Type="http://schemas.openxmlformats.org/officeDocument/2006/relationships/notesSlide" Target="/ppt/notesSlides/notesSlide9.xml" Id="R8430c13b284f4a3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69ff5e5b364e42" /><Relationship Type="http://schemas.openxmlformats.org/officeDocument/2006/relationships/chart" Target="/ppt/slides/charts/chart3.xml" Id="R867d4a418f084340" /><Relationship Type="http://schemas.openxmlformats.org/officeDocument/2006/relationships/notesSlide" Target="/ppt/notesSlides/notesSlide10.xml" Id="R5a266760c39d483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f62683d76d4651" /><Relationship Type="http://schemas.openxmlformats.org/officeDocument/2006/relationships/notesSlide" Target="/ppt/notesSlides/notesSlide11.xml" Id="R08d39f96e1604a0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cfd070c5dd4cc1" /><Relationship Type="http://schemas.openxmlformats.org/officeDocument/2006/relationships/notesSlide" Target="/ppt/notesSlides/notesSlide12.xml" Id="R40558336f7a4443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0096fd21bb4b7d" /><Relationship Type="http://schemas.openxmlformats.org/officeDocument/2006/relationships/notesSlide" Target="/ppt/notesSlides/notesSlide13.xml" Id="Rfad4a80b9b9d477e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False COMPLETE</c:v>
          </c:tx>
          <c:spPr>
            <a:solidFill xmlns:a="http://schemas.openxmlformats.org/drawingml/2006/main">
              <a:srgbClr val="FF6B35"/>
            </a:solidFill>
          </c:spPr>
          <c:cat>
            <c:strLit>
              <c:ptCount val="2"/>
              <c:pt idx="0">
                <c:v>EraSeMap</c:v>
              </c:pt>
              <c:pt idx="1">
                <c:v>Typed-node audit</c:v>
              </c:pt>
            </c:strLit>
          </c:cat>
          <c:val>
            <c:numLit>
              <c:formatCode>General</c:formatCode>
              <c:ptCount val="2"/>
              <c:pt idx="0">
                <c:v>0</c:v>
              </c:pt>
              <c:pt idx="1">
                <c:v>75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Relative bytes written</c:v>
          </c:tx>
          <c:spPr>
            <a:solidFill xmlns:a="http://schemas.openxmlformats.org/drawingml/2006/main">
              <a:srgbClr val="0B0D10"/>
            </a:solidFill>
          </c:spPr>
          <c:cat>
            <c:strLit>
              <c:ptCount val="2"/>
              <c:pt idx="0">
                <c:v>EraSeMap</c:v>
              </c:pt>
              <c:pt idx="1">
                <c:v>Rebuild-all</c:v>
              </c:pt>
            </c:strLit>
          </c:cat>
          <c:val>
            <c:numLit>
              <c:formatCode>General</c:formatCode>
              <c:ptCount val="2"/>
              <c:pt idx="0">
                <c:v>5.38</c:v>
              </c:pt>
              <c:pt idx="1">
                <c:v>100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Relative bytes written</c:v>
          </c:tx>
          <c:spPr>
            <a:solidFill xmlns:a="http://schemas.openxmlformats.org/drawingml/2006/main">
              <a:srgbClr val="0B0D10"/>
            </a:solidFill>
          </c:spPr>
          <c:cat>
            <c:strLit>
              <c:ptCount val="2"/>
              <c:pt idx="0">
                <c:v>Global action</c:v>
              </c:pt>
              <c:pt idx="1">
                <c:v>Exhaustive</c:v>
              </c:pt>
            </c:strLit>
          </c:cat>
          <c:val>
            <c:numLit>
              <c:formatCode>General</c:formatCode>
              <c:ptCount val="2"/>
              <c:pt idx="0">
                <c:v>1.28</c:v>
              </c:pt>
              <c:pt idx="1">
                <c:v>8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E85833A6-2F97-492D-AC53-7133BEBF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ERASEMAP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97DAE04-56F6-4386-AAFB-5153F82E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7905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0B0D10"/>
                </a:solidFill>
              </a:defRPr>
            </a:pPr>
            <a:r>
              <a:t>Удалить запись
недостаточно.</a:t>
            </a:r>
          </a:p>
        </p:txBody>
      </p:sp>
      <p:sp>
        <p:nvSpPr>
          <p:cNvPr id="3" name="cover-band">
            <a:extLst xmlns:a="http://schemas.openxmlformats.org/drawingml/2006/main">
              <a:ext uri="{FF2B5EF4-FFF2-40B4-BE49-F238E27FC236}">
                <a16:creationId xmlns:a16="http://schemas.microsoft.com/office/drawing/2014/main" id="{4585B752-A303-4EDC-8E86-30DE511A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57625"/>
            <a:ext cx="1219200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cover-method">
            <a:extLst xmlns:a="http://schemas.openxmlformats.org/drawingml/2006/main">
              <a:ext uri="{FF2B5EF4-FFF2-40B4-BE49-F238E27FC236}">
                <a16:creationId xmlns:a16="http://schemas.microsoft.com/office/drawing/2014/main" id="{07109068-6B38-4FCF-8FDB-6F5FD0E2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4953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Один алгоритм • пять этапов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D698CF6-FC4B-4785-9892-3FAFA2B5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10150"/>
            <a:ext cx="66675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55B63"/>
                </a:solidFill>
              </a:defRPr>
            </a:pPr>
            <a:r>
              <a:t>Карта → скрытые пути → минимальные действия → проверка во времени → сертификат.</a:t>
            </a:r>
          </a:p>
        </p:txBody>
      </p:sp>
      <p:sp>
        <p:nvSpPr>
          <p:cNvPr id="6" name="cover-mark-a">
            <a:extLst xmlns:a="http://schemas.openxmlformats.org/drawingml/2006/main">
              <a:ext uri="{FF2B5EF4-FFF2-40B4-BE49-F238E27FC236}">
                <a16:creationId xmlns:a16="http://schemas.microsoft.com/office/drawing/2014/main" id="{C32DCEF9-B6E0-4D49-9448-8000455C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3434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cover-mark-b">
            <a:extLst xmlns:a="http://schemas.openxmlformats.org/drawingml/2006/main">
              <a:ext uri="{FF2B5EF4-FFF2-40B4-BE49-F238E27FC236}">
                <a16:creationId xmlns:a16="http://schemas.microsoft.com/office/drawing/2014/main" id="{FBF1DC4E-83BD-4877-B016-154B0AC7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972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0"/>
          </a:solidFill>
        </p:spPr>
      </p:sp>
      <p:sp>
        <p:nvSpPr>
          <p:cNvPr id="8" name="cover-event">
            <a:extLst xmlns:a="http://schemas.openxmlformats.org/drawingml/2006/main">
              <a:ext uri="{FF2B5EF4-FFF2-40B4-BE49-F238E27FC236}">
                <a16:creationId xmlns:a16="http://schemas.microsoft.com/office/drawing/2014/main" id="{2D4C3C95-846A-49F1-8905-E4DEDCE5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362450"/>
            <a:ext cx="2095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0D10"/>
                </a:solidFill>
              </a:defRPr>
            </a:pPr>
            <a:r>
              <a:t>RKNP / ISEF</a:t>
            </a:r>
          </a:p>
        </p:txBody>
      </p:sp>
      <p:sp>
        <p:nvSpPr>
          <p:cNvPr id="9" name="cover-note">
            <a:extLst xmlns:a="http://schemas.openxmlformats.org/drawingml/2006/main">
              <a:ext uri="{FF2B5EF4-FFF2-40B4-BE49-F238E27FC236}">
                <a16:creationId xmlns:a16="http://schemas.microsoft.com/office/drawing/2014/main" id="{6CC82AB0-2C12-4611-A3B8-392AE1F2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91100"/>
            <a:ext cx="2286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3"/>
                </a:solidFill>
              </a:defRPr>
            </a:pPr>
            <a:r>
              <a:t>Evidence-led defense</a:t>
            </a:r>
          </a:p>
        </p:txBody>
      </p:sp>
      <p:sp>
        <p:nvSpPr>
          <p:cNvPr id="10" name="slide-number-1">
            <a:extLst xmlns:a="http://schemas.openxmlformats.org/drawingml/2006/main">
              <a:ext uri="{FF2B5EF4-FFF2-40B4-BE49-F238E27FC236}">
                <a16:creationId xmlns:a16="http://schemas.microsoft.com/office/drawing/2014/main" id="{1DFA7F91-C9AC-4F85-87C0-D4018744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182117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42-38">
            <a:extLst xmlns:a="http://schemas.openxmlformats.org/drawingml/2006/main">
              <a:ext uri="{FF2B5EF4-FFF2-40B4-BE49-F238E27FC236}">
                <a16:creationId xmlns:a16="http://schemas.microsoft.com/office/drawing/2014/main" id="{A83FB985-5B30-4365-9334-6C721B35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01  Проблема</a:t>
            </a:r>
          </a:p>
        </p:txBody>
      </p:sp>
      <p:sp>
        <p:nvSpPr>
          <p:cNvPr id="2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417EA95F-83B3-45AA-9DB5-A9CFFD69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9625"/>
            <a:ext cx="1000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B0D10"/>
                </a:solidFill>
              </a:defRPr>
            </a:pPr>
            <a:r>
              <a:t>Удалить запись ≠ удалить данные человека</a:t>
            </a:r>
          </a:p>
        </p:txBody>
      </p:sp>
      <p:sp>
        <p:nvSpPr>
          <p:cNvPr id="3" name="problem-source">
            <a:extLst xmlns:a="http://schemas.openxmlformats.org/drawingml/2006/main">
              <a:ext uri="{FF2B5EF4-FFF2-40B4-BE49-F238E27FC236}">
                <a16:creationId xmlns:a16="http://schemas.microsoft.com/office/drawing/2014/main" id="{A331BFE7-5201-496E-86DC-96FE89D4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152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problem-template">
            <a:extLst xmlns:a="http://schemas.openxmlformats.org/drawingml/2006/main">
              <a:ext uri="{FF2B5EF4-FFF2-40B4-BE49-F238E27FC236}">
                <a16:creationId xmlns:a16="http://schemas.microsoft.com/office/drawing/2014/main" id="{739540B1-01F9-4508-94CB-9E1D8BEF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0025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problem-cache">
            <a:extLst xmlns:a="http://schemas.openxmlformats.org/drawingml/2006/main">
              <a:ext uri="{FF2B5EF4-FFF2-40B4-BE49-F238E27FC236}">
                <a16:creationId xmlns:a16="http://schemas.microsoft.com/office/drawing/2014/main" id="{45BE3538-88EE-43DF-A5D0-07A15BBC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3850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problem-vector">
            <a:extLst xmlns:a="http://schemas.openxmlformats.org/drawingml/2006/main">
              <a:ext uri="{FF2B5EF4-FFF2-40B4-BE49-F238E27FC236}">
                <a16:creationId xmlns:a16="http://schemas.microsoft.com/office/drawing/2014/main" id="{4B2E66C3-0E6E-4EB2-9CA5-B8373BB7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00025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7" name="problem-backup">
            <a:extLst xmlns:a="http://schemas.openxmlformats.org/drawingml/2006/main">
              <a:ext uri="{FF2B5EF4-FFF2-40B4-BE49-F238E27FC236}">
                <a16:creationId xmlns:a16="http://schemas.microsoft.com/office/drawing/2014/main" id="{0DBE5C32-234B-4836-83D5-66B23BB5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23850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8" name="problem-model">
            <a:extLst xmlns:a="http://schemas.openxmlformats.org/drawingml/2006/main">
              <a:ext uri="{FF2B5EF4-FFF2-40B4-BE49-F238E27FC236}">
                <a16:creationId xmlns:a16="http://schemas.microsoft.com/office/drawing/2014/main" id="{08BC6BB9-9108-4161-84D3-A4397015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4795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9" name="edge-source-a">
            <a:extLst xmlns:a="http://schemas.openxmlformats.org/drawingml/2006/main">
              <a:ext uri="{FF2B5EF4-FFF2-40B4-BE49-F238E27FC236}">
                <a16:creationId xmlns:a16="http://schemas.microsoft.com/office/drawing/2014/main" id="{88CC756E-8B13-4186-9638-B8345EFA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000375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0" name="edge-a-b">
            <a:extLst xmlns:a="http://schemas.openxmlformats.org/drawingml/2006/main">
              <a:ext uri="{FF2B5EF4-FFF2-40B4-BE49-F238E27FC236}">
                <a16:creationId xmlns:a16="http://schemas.microsoft.com/office/drawing/2014/main" id="{DD901DF1-6DF9-4769-B905-44FB2136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1" name="edge-c-d">
            <a:extLst xmlns:a="http://schemas.openxmlformats.org/drawingml/2006/main">
              <a:ext uri="{FF2B5EF4-FFF2-40B4-BE49-F238E27FC236}">
                <a16:creationId xmlns:a16="http://schemas.microsoft.com/office/drawing/2014/main" id="{02E4D965-2C85-453B-A09B-1FE6CBE2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61950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2" name="edge-b-model">
            <a:extLst xmlns:a="http://schemas.openxmlformats.org/drawingml/2006/main">
              <a:ext uri="{FF2B5EF4-FFF2-40B4-BE49-F238E27FC236}">
                <a16:creationId xmlns:a16="http://schemas.microsoft.com/office/drawing/2014/main" id="{72535351-4455-498C-B687-5500B063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00375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3" name="text-96-305">
            <a:extLst xmlns:a="http://schemas.openxmlformats.org/drawingml/2006/main">
              <a:ext uri="{FF2B5EF4-FFF2-40B4-BE49-F238E27FC236}">
                <a16:creationId xmlns:a16="http://schemas.microsoft.com/office/drawing/2014/main" id="{934CB2F1-045A-48C1-B724-2418A13D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1906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0D10"/>
                </a:solidFill>
              </a:defRPr>
            </a:pPr>
            <a:r>
              <a:t>SOURCE</a:t>
            </a:r>
          </a:p>
        </p:txBody>
      </p:sp>
      <p:sp>
        <p:nvSpPr>
          <p:cNvPr id="14" name="text-336-229">
            <a:extLst xmlns:a="http://schemas.openxmlformats.org/drawingml/2006/main">
              <a:ext uri="{FF2B5EF4-FFF2-40B4-BE49-F238E27FC236}">
                <a16:creationId xmlns:a16="http://schemas.microsoft.com/office/drawing/2014/main" id="{0F1750BD-C747-440E-9656-3D37832A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81225"/>
            <a:ext cx="12192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FACE
TEMPLATE</a:t>
            </a:r>
          </a:p>
        </p:txBody>
      </p:sp>
      <p:sp>
        <p:nvSpPr>
          <p:cNvPr id="15" name="text-336-366">
            <a:extLst xmlns:a="http://schemas.openxmlformats.org/drawingml/2006/main">
              <a:ext uri="{FF2B5EF4-FFF2-40B4-BE49-F238E27FC236}">
                <a16:creationId xmlns:a16="http://schemas.microsoft.com/office/drawing/2014/main" id="{786C482F-4251-406A-B8ED-EF430500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86150"/>
            <a:ext cx="121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CACHE</a:t>
            </a:r>
          </a:p>
        </p:txBody>
      </p:sp>
      <p:sp>
        <p:nvSpPr>
          <p:cNvPr id="16" name="text-583-229">
            <a:extLst xmlns:a="http://schemas.openxmlformats.org/drawingml/2006/main">
              <a:ext uri="{FF2B5EF4-FFF2-40B4-BE49-F238E27FC236}">
                <a16:creationId xmlns:a16="http://schemas.microsoft.com/office/drawing/2014/main" id="{9A0631BE-BC79-4945-B1B3-7EA3568B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181225"/>
            <a:ext cx="12192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VECTOR
INDEX</a:t>
            </a:r>
          </a:p>
        </p:txBody>
      </p:sp>
      <p:sp>
        <p:nvSpPr>
          <p:cNvPr id="17" name="text-583-366">
            <a:extLst xmlns:a="http://schemas.openxmlformats.org/drawingml/2006/main">
              <a:ext uri="{FF2B5EF4-FFF2-40B4-BE49-F238E27FC236}">
                <a16:creationId xmlns:a16="http://schemas.microsoft.com/office/drawing/2014/main" id="{9EFA18F5-A689-45E3-8954-8F8F6428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486150"/>
            <a:ext cx="121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BACKUP</a:t>
            </a:r>
          </a:p>
        </p:txBody>
      </p:sp>
      <p:sp>
        <p:nvSpPr>
          <p:cNvPr id="18" name="text-830-297">
            <a:extLst xmlns:a="http://schemas.openxmlformats.org/drawingml/2006/main">
              <a:ext uri="{FF2B5EF4-FFF2-40B4-BE49-F238E27FC236}">
                <a16:creationId xmlns:a16="http://schemas.microsoft.com/office/drawing/2014/main" id="{5AC56762-68BC-4FCA-B1D5-16D02DDB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28925"/>
            <a:ext cx="12287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MODEL
INFLUENCE</a:t>
            </a:r>
          </a:p>
        </p:txBody>
      </p:sp>
      <p:sp>
        <p:nvSpPr>
          <p:cNvPr id="19" name="problem-rule">
            <a:extLst xmlns:a="http://schemas.openxmlformats.org/drawingml/2006/main">
              <a:ext uri="{FF2B5EF4-FFF2-40B4-BE49-F238E27FC236}">
                <a16:creationId xmlns:a16="http://schemas.microsoft.com/office/drawing/2014/main" id="{19E36B0E-383A-4687-97E9-98270F1B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962150"/>
            <a:ext cx="66675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0" name="text-1060-208">
            <a:extLst xmlns:a="http://schemas.openxmlformats.org/drawingml/2006/main">
              <a:ext uri="{FF2B5EF4-FFF2-40B4-BE49-F238E27FC236}">
                <a16:creationId xmlns:a16="http://schemas.microsoft.com/office/drawing/2014/main" id="{E1317374-0C82-4779-994E-17848A0D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9812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6B35"/>
                </a:solidFill>
              </a:defRPr>
            </a:pPr>
            <a:r>
              <a:t>Вопрос EraSeMap</a:t>
            </a:r>
          </a:p>
        </p:txBody>
      </p:sp>
      <p:sp>
        <p:nvSpPr>
          <p:cNvPr id="21" name="text-1060-264">
            <a:extLst xmlns:a="http://schemas.openxmlformats.org/drawingml/2006/main">
              <a:ext uri="{FF2B5EF4-FFF2-40B4-BE49-F238E27FC236}">
                <a16:creationId xmlns:a16="http://schemas.microsoft.com/office/drawing/2014/main" id="{EABBEEEB-A7AD-4F3A-8E3D-1E4E1398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514600"/>
            <a:ext cx="1714500" cy="1885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0D10"/>
                </a:solidFill>
              </a:defRPr>
            </a:pPr>
            <a:r>
              <a:t>Какая копия или производная всё ещё может использовать данные?</a:t>
            </a:r>
          </a:p>
        </p:txBody>
      </p:sp>
      <p:sp>
        <p:nvSpPr>
          <p:cNvPr id="22" name="text-42-628">
            <a:extLst xmlns:a="http://schemas.openxmlformats.org/drawingml/2006/main">
              <a:ext uri="{FF2B5EF4-FFF2-40B4-BE49-F238E27FC236}">
                <a16:creationId xmlns:a16="http://schemas.microsoft.com/office/drawing/2014/main" id="{76941E5F-F414-4B58-88A3-89644942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7620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Гарантия ограничена зарегистрированной инфраструктурой.</a:t>
            </a:r>
          </a:p>
        </p:txBody>
      </p:sp>
      <p:sp>
        <p:nvSpPr>
          <p:cNvPr id="23" name="slide-number-2">
            <a:extLst xmlns:a="http://schemas.openxmlformats.org/drawingml/2006/main">
              <a:ext uri="{FF2B5EF4-FFF2-40B4-BE49-F238E27FC236}">
                <a16:creationId xmlns:a16="http://schemas.microsoft.com/office/drawing/2014/main" id="{BECD2125-91BC-4374-AEBA-4EA45F01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898364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42-38">
            <a:extLst xmlns:a="http://schemas.openxmlformats.org/drawingml/2006/main">
              <a:ext uri="{FF2B5EF4-FFF2-40B4-BE49-F238E27FC236}">
                <a16:creationId xmlns:a16="http://schemas.microsoft.com/office/drawing/2014/main" id="{0D7DED18-0C2B-4649-B257-841F1D29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02  Живая проверка</a:t>
            </a:r>
          </a:p>
        </p:txBody>
      </p:sp>
      <p:sp>
        <p:nvSpPr>
          <p:cNvPr id="2" name="live-verdict">
            <a:extLst xmlns:a="http://schemas.openxmlformats.org/drawingml/2006/main">
              <a:ext uri="{FF2B5EF4-FFF2-40B4-BE49-F238E27FC236}">
                <a16:creationId xmlns:a16="http://schemas.microsoft.com/office/drawing/2014/main" id="{8E73165E-0748-47DE-A7DC-4E1D411B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66775"/>
            <a:ext cx="47625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6B35"/>
                </a:solidFill>
              </a:defRPr>
            </a:pPr>
            <a:r>
              <a:t>INCOMPLETE</a:t>
            </a:r>
          </a:p>
        </p:txBody>
      </p:sp>
      <p:sp>
        <p:nvSpPr>
          <p:cNvPr id="3" name="text-42-208">
            <a:extLst xmlns:a="http://schemas.openxmlformats.org/drawingml/2006/main">
              <a:ext uri="{FF2B5EF4-FFF2-40B4-BE49-F238E27FC236}">
                <a16:creationId xmlns:a16="http://schemas.microsoft.com/office/drawing/2014/main" id="{0F617AD4-C6CB-473D-BA90-0E7634C8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4572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B63"/>
                </a:solidFill>
              </a:defRPr>
            </a:pPr>
            <a:r>
              <a:t>Кратчайший остаточный путь</a:t>
            </a:r>
          </a:p>
        </p:txBody>
      </p:sp>
      <p:sp>
        <p:nvSpPr>
          <p:cNvPr id="4" name="live-path-band">
            <a:extLst xmlns:a="http://schemas.openxmlformats.org/drawingml/2006/main">
              <a:ext uri="{FF2B5EF4-FFF2-40B4-BE49-F238E27FC236}">
                <a16:creationId xmlns:a16="http://schemas.microsoft.com/office/drawing/2014/main" id="{E6839879-A82B-4E6B-9A15-5D8CF4A4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0"/>
            <a:ext cx="10668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5" name="text-85-332">
            <a:extLst xmlns:a="http://schemas.openxmlformats.org/drawingml/2006/main">
              <a:ext uri="{FF2B5EF4-FFF2-40B4-BE49-F238E27FC236}">
                <a16:creationId xmlns:a16="http://schemas.microsoft.com/office/drawing/2014/main" id="{27B6A5FF-1F5F-486C-8656-171824C1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62300"/>
            <a:ext cx="2000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0B0D10"/>
                </a:solidFill>
              </a:defRPr>
            </a:pPr>
            <a:r>
              <a:t>source</a:t>
            </a:r>
          </a:p>
        </p:txBody>
      </p:sp>
      <p:sp>
        <p:nvSpPr>
          <p:cNvPr id="6" name="text-330-324">
            <a:extLst xmlns:a="http://schemas.openxmlformats.org/drawingml/2006/main">
              <a:ext uri="{FF2B5EF4-FFF2-40B4-BE49-F238E27FC236}">
                <a16:creationId xmlns:a16="http://schemas.microsoft.com/office/drawing/2014/main" id="{1B5F0450-3771-474D-B6ED-59CEBA4F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86100"/>
            <a:ext cx="762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7" name="text-440-332">
            <a:extLst xmlns:a="http://schemas.openxmlformats.org/drawingml/2006/main">
              <a:ext uri="{FF2B5EF4-FFF2-40B4-BE49-F238E27FC236}">
                <a16:creationId xmlns:a16="http://schemas.microsoft.com/office/drawing/2014/main" id="{38E2B88E-79AE-4B0D-87E9-60FFA8FF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162300"/>
            <a:ext cx="238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0B0D10"/>
                </a:solidFill>
              </a:defRPr>
            </a:pPr>
            <a:r>
              <a:t>template</a:t>
            </a:r>
          </a:p>
        </p:txBody>
      </p:sp>
      <p:sp>
        <p:nvSpPr>
          <p:cNvPr id="8" name="text-85-470">
            <a:extLst xmlns:a="http://schemas.openxmlformats.org/drawingml/2006/main">
              <a:ext uri="{FF2B5EF4-FFF2-40B4-BE49-F238E27FC236}">
                <a16:creationId xmlns:a16="http://schemas.microsoft.com/office/drawing/2014/main" id="{4E41F52F-B04E-4BC6-ACDB-CEC2AC33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476750"/>
            <a:ext cx="2667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555B63"/>
                </a:solidFill>
              </a:defRPr>
            </a:pPr>
            <a:r>
              <a:t>Основная запись удалена</a:t>
            </a:r>
          </a:p>
        </p:txBody>
      </p:sp>
      <p:sp>
        <p:nvSpPr>
          <p:cNvPr id="9" name="text-430-470">
            <a:extLst xmlns:a="http://schemas.openxmlformats.org/drawingml/2006/main">
              <a:ext uri="{FF2B5EF4-FFF2-40B4-BE49-F238E27FC236}">
                <a16:creationId xmlns:a16="http://schemas.microsoft.com/office/drawing/2014/main" id="{E8AAC4AC-6722-4ADF-AF7E-D3825B7B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76750"/>
            <a:ext cx="2667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6B35"/>
                </a:solidFill>
              </a:defRPr>
            </a:pPr>
            <a:r>
              <a:t>Активный шаблон остаётся</a:t>
            </a:r>
          </a:p>
        </p:txBody>
      </p:sp>
      <p:sp>
        <p:nvSpPr>
          <p:cNvPr id="10" name="text-824-104">
            <a:extLst xmlns:a="http://schemas.openxmlformats.org/drawingml/2006/main">
              <a:ext uri="{FF2B5EF4-FFF2-40B4-BE49-F238E27FC236}">
                <a16:creationId xmlns:a16="http://schemas.microsoft.com/office/drawing/2014/main" id="{78A8FEF7-9D28-4011-9764-E32115F0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990600"/>
            <a:ext cx="3333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0D10"/>
                </a:solidFill>
              </a:defRPr>
            </a:pPr>
            <a:r>
              <a:t>Не скрывает неизвестное</a:t>
            </a:r>
          </a:p>
        </p:txBody>
      </p:sp>
      <p:sp>
        <p:nvSpPr>
          <p:cNvPr id="11" name="text-824-190">
            <a:extLst xmlns:a="http://schemas.openxmlformats.org/drawingml/2006/main">
              <a:ext uri="{FF2B5EF4-FFF2-40B4-BE49-F238E27FC236}">
                <a16:creationId xmlns:a16="http://schemas.microsoft.com/office/drawing/2014/main" id="{6C1F9233-6AC7-4344-9E98-954CCD6F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7F5B"/>
                </a:solidFill>
              </a:defRPr>
            </a:pPr>
            <a:r>
              <a:t>COMPLETE</a:t>
            </a:r>
          </a:p>
        </p:txBody>
      </p:sp>
      <p:sp>
        <p:nvSpPr>
          <p:cNvPr id="12" name="text-824-226">
            <a:extLst xmlns:a="http://schemas.openxmlformats.org/drawingml/2006/main">
              <a:ext uri="{FF2B5EF4-FFF2-40B4-BE49-F238E27FC236}">
                <a16:creationId xmlns:a16="http://schemas.microsoft.com/office/drawing/2014/main" id="{87A73241-6CF1-46A5-B184-D5355C48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526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все пути закрыты</a:t>
            </a:r>
          </a:p>
        </p:txBody>
      </p:sp>
      <p:sp>
        <p:nvSpPr>
          <p:cNvPr id="13" name="text-824-290">
            <a:extLst xmlns:a="http://schemas.openxmlformats.org/drawingml/2006/main">
              <a:ext uri="{FF2B5EF4-FFF2-40B4-BE49-F238E27FC236}">
                <a16:creationId xmlns:a16="http://schemas.microsoft.com/office/drawing/2014/main" id="{128090B1-CA7E-4F74-A99A-47218ED5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622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6B35"/>
                </a:solidFill>
              </a:defRPr>
            </a:pPr>
            <a:r>
              <a:t>INCOMPLETE</a:t>
            </a:r>
          </a:p>
        </p:txBody>
      </p:sp>
      <p:sp>
        <p:nvSpPr>
          <p:cNvPr id="14" name="text-824-326">
            <a:extLst xmlns:a="http://schemas.openxmlformats.org/drawingml/2006/main">
              <a:ext uri="{FF2B5EF4-FFF2-40B4-BE49-F238E27FC236}">
                <a16:creationId xmlns:a16="http://schemas.microsoft.com/office/drawing/2014/main" id="{DB057B2B-4DE8-4090-87DC-50900EA2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051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остаток найден</a:t>
            </a:r>
          </a:p>
        </p:txBody>
      </p:sp>
      <p:sp>
        <p:nvSpPr>
          <p:cNvPr id="15" name="text-824-390">
            <a:extLst xmlns:a="http://schemas.openxmlformats.org/drawingml/2006/main">
              <a:ext uri="{FF2B5EF4-FFF2-40B4-BE49-F238E27FC236}">
                <a16:creationId xmlns:a16="http://schemas.microsoft.com/office/drawing/2014/main" id="{9B422F86-928C-417E-A887-B4057D1C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0D10"/>
                </a:solidFill>
              </a:defRPr>
            </a:pPr>
            <a:r>
              <a:t>UNVERIFIED</a:t>
            </a:r>
          </a:p>
        </p:txBody>
      </p:sp>
      <p:sp>
        <p:nvSpPr>
          <p:cNvPr id="16" name="text-824-426">
            <a:extLst xmlns:a="http://schemas.openxmlformats.org/drawingml/2006/main">
              <a:ext uri="{FF2B5EF4-FFF2-40B4-BE49-F238E27FC236}">
                <a16:creationId xmlns:a16="http://schemas.microsoft.com/office/drawing/2014/main" id="{59174965-FB0E-418D-8C96-23E84613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57650"/>
            <a:ext cx="3238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доказательств недостаточно</a:t>
            </a:r>
          </a:p>
        </p:txBody>
      </p:sp>
      <p:sp>
        <p:nvSpPr>
          <p:cNvPr id="17" name="text-42-607">
            <a:extLst xmlns:a="http://schemas.openxmlformats.org/drawingml/2006/main">
              <a:ext uri="{FF2B5EF4-FFF2-40B4-BE49-F238E27FC236}">
                <a16:creationId xmlns:a16="http://schemas.microsoft.com/office/drawing/2014/main" id="{F59DA9AD-69C4-4872-9C6F-6DFF1C06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81675"/>
            <a:ext cx="7239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</a:defRPr>
            </a:pPr>
            <a:r>
              <a:t>Команда: erasemap showcase --repo-root .</a:t>
            </a:r>
          </a:p>
        </p:txBody>
      </p:sp>
      <p:sp>
        <p:nvSpPr>
          <p:cNvPr id="18" name="slide-number-3">
            <a:extLst xmlns:a="http://schemas.openxmlformats.org/drawingml/2006/main">
              <a:ext uri="{FF2B5EF4-FFF2-40B4-BE49-F238E27FC236}">
                <a16:creationId xmlns:a16="http://schemas.microsoft.com/office/drawing/2014/main" id="{4E7C9E0F-08B0-46EE-9704-480E7699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341883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2-38">
            <a:extLst xmlns:a="http://schemas.openxmlformats.org/drawingml/2006/main">
              <a:ext uri="{FF2B5EF4-FFF2-40B4-BE49-F238E27FC236}">
                <a16:creationId xmlns:a16="http://schemas.microsoft.com/office/drawing/2014/main" id="{2ADB0BFD-EE7A-443A-83CD-513916D7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03  Метод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2E76A229-3DE9-46C2-9053-9CE86CB4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8001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B0D10"/>
                </a:solidFill>
              </a:defRPr>
            </a:pPr>
            <a:r>
              <a:t>Один алгоритм EraSeMap</a:t>
            </a:r>
          </a:p>
        </p:txBody>
      </p:sp>
      <p:sp>
        <p:nvSpPr>
          <p:cNvPr id="3" name="method-graph">
            <a:extLst xmlns:a="http://schemas.openxmlformats.org/drawingml/2006/main">
              <a:ext uri="{FF2B5EF4-FFF2-40B4-BE49-F238E27FC236}">
                <a16:creationId xmlns:a16="http://schemas.microsoft.com/office/drawing/2014/main" id="{445AA98D-987E-4D2F-AC41-2E3600D0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method-proof">
            <a:extLst xmlns:a="http://schemas.openxmlformats.org/drawingml/2006/main">
              <a:ext uri="{FF2B5EF4-FFF2-40B4-BE49-F238E27FC236}">
                <a16:creationId xmlns:a16="http://schemas.microsoft.com/office/drawing/2014/main" id="{9C8CC1B5-F2AE-4AB0-A69F-0F64D239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method-cut">
            <a:extLst xmlns:a="http://schemas.openxmlformats.org/drawingml/2006/main">
              <a:ext uri="{FF2B5EF4-FFF2-40B4-BE49-F238E27FC236}">
                <a16:creationId xmlns:a16="http://schemas.microsoft.com/office/drawing/2014/main" id="{832FE88C-7A06-4689-B9FE-677AAF5B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38">
            <a:extLst xmlns:a="http://schemas.openxmlformats.org/drawingml/2006/main">
              <a:ext uri="{FF2B5EF4-FFF2-40B4-BE49-F238E27FC236}">
                <a16:creationId xmlns:a16="http://schemas.microsoft.com/office/drawing/2014/main" id="{5214B5B4-F594-4E41-BF81-0744C2AA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66950"/>
            <a:ext cx="857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1–2</a:t>
            </a:r>
          </a:p>
        </p:txBody>
      </p:sp>
      <p:sp>
        <p:nvSpPr>
          <p:cNvPr id="7" name="text-69-310">
            <a:extLst xmlns:a="http://schemas.openxmlformats.org/drawingml/2006/main">
              <a:ext uri="{FF2B5EF4-FFF2-40B4-BE49-F238E27FC236}">
                <a16:creationId xmlns:a16="http://schemas.microsoft.com/office/drawing/2014/main" id="{AB868F2D-6282-4435-9814-F1DDB812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Карта + обнаружение</a:t>
            </a:r>
          </a:p>
        </p:txBody>
      </p:sp>
      <p:sp>
        <p:nvSpPr>
          <p:cNvPr id="8" name="text-69-378">
            <a:extLst xmlns:a="http://schemas.openxmlformats.org/drawingml/2006/main">
              <a:ext uri="{FF2B5EF4-FFF2-40B4-BE49-F238E27FC236}">
                <a16:creationId xmlns:a16="http://schemas.microsoft.com/office/drawing/2014/main" id="{06B49869-1D9C-4833-A072-0748F898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Копии, производные, model influence и безопасные пробы скрытых recovery paths.</a:t>
            </a:r>
          </a:p>
        </p:txBody>
      </p:sp>
      <p:sp>
        <p:nvSpPr>
          <p:cNvPr id="9" name="text-489-238">
            <a:extLst xmlns:a="http://schemas.openxmlformats.org/drawingml/2006/main">
              <a:ext uri="{FF2B5EF4-FFF2-40B4-BE49-F238E27FC236}">
                <a16:creationId xmlns:a16="http://schemas.microsoft.com/office/drawing/2014/main" id="{7FDB58C3-FD43-465F-992C-7E9D0599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3</a:t>
            </a:r>
          </a:p>
        </p:txBody>
      </p:sp>
      <p:sp>
        <p:nvSpPr>
          <p:cNvPr id="10" name="text-489-310">
            <a:extLst xmlns:a="http://schemas.openxmlformats.org/drawingml/2006/main">
              <a:ext uri="{FF2B5EF4-FFF2-40B4-BE49-F238E27FC236}">
                <a16:creationId xmlns:a16="http://schemas.microsoft.com/office/drawing/2014/main" id="{854C5A1F-2426-49C8-8A9E-E7771FD6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Минимизация + replay</a:t>
            </a:r>
          </a:p>
        </p:txBody>
      </p:sp>
      <p:sp>
        <p:nvSpPr>
          <p:cNvPr id="11" name="text-489-378">
            <a:extLst xmlns:a="http://schemas.openxmlformats.org/drawingml/2006/main">
              <a:ext uri="{FF2B5EF4-FFF2-40B4-BE49-F238E27FC236}">
                <a16:creationId xmlns:a16="http://schemas.microsoft.com/office/drawing/2014/main" id="{307855CD-6F77-4C88-A190-DEE54564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Точный least-cost план закрывает представленные пути и повторно проверяется.</a:t>
            </a:r>
          </a:p>
        </p:txBody>
      </p:sp>
      <p:sp>
        <p:nvSpPr>
          <p:cNvPr id="12" name="text-909-238">
            <a:extLst xmlns:a="http://schemas.openxmlformats.org/drawingml/2006/main">
              <a:ext uri="{FF2B5EF4-FFF2-40B4-BE49-F238E27FC236}">
                <a16:creationId xmlns:a16="http://schemas.microsoft.com/office/drawing/2014/main" id="{BD7FBEF4-0818-4155-8DF9-9EE04181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66950"/>
            <a:ext cx="857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4–5</a:t>
            </a:r>
          </a:p>
        </p:txBody>
      </p:sp>
      <p:sp>
        <p:nvSpPr>
          <p:cNvPr id="13" name="text-909-310">
            <a:extLst xmlns:a="http://schemas.openxmlformats.org/drawingml/2006/main">
              <a:ext uri="{FF2B5EF4-FFF2-40B4-BE49-F238E27FC236}">
                <a16:creationId xmlns:a16="http://schemas.microsoft.com/office/drawing/2014/main" id="{06E704E8-3D11-409E-825F-EAD96B16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Проверка + сертификат</a:t>
            </a:r>
          </a:p>
        </p:txBody>
      </p:sp>
      <p:sp>
        <p:nvSpPr>
          <p:cNvPr id="14" name="text-909-378">
            <a:extLst xmlns:a="http://schemas.openxmlformats.org/drawingml/2006/main">
              <a:ext uri="{FF2B5EF4-FFF2-40B4-BE49-F238E27FC236}">
                <a16:creationId xmlns:a16="http://schemas.microsoft.com/office/drawing/2014/main" id="{2A23EF1D-1816-41A0-A1C7-EE7E7D88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Будущие сценарии не возвращают данные; иначе INCOMPLETE или UNVERIFIED.</a:t>
            </a:r>
          </a:p>
        </p:txBody>
      </p:sp>
      <p:sp>
        <p:nvSpPr>
          <p:cNvPr id="15" name="text-42-624">
            <a:extLst xmlns:a="http://schemas.openxmlformats.org/drawingml/2006/main">
              <a:ext uri="{FF2B5EF4-FFF2-40B4-BE49-F238E27FC236}">
                <a16:creationId xmlns:a16="http://schemas.microsoft.com/office/drawing/2014/main" id="{8FE06295-BB67-4999-B18D-927AED08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477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3"/>
                </a:solidFill>
              </a:defRPr>
            </a:pPr>
            <a:r>
              <a:t>Пять этапов • один вход • один fail-closed вердикт • внутренние названия только для науки.</a:t>
            </a:r>
          </a:p>
        </p:txBody>
      </p:sp>
      <p:sp>
        <p:nvSpPr>
          <p:cNvPr id="16" name="slide-number-4">
            <a:extLst xmlns:a="http://schemas.openxmlformats.org/drawingml/2006/main">
              <a:ext uri="{FF2B5EF4-FFF2-40B4-BE49-F238E27FC236}">
                <a16:creationId xmlns:a16="http://schemas.microsoft.com/office/drawing/2014/main" id="{F5CF1F1B-88CD-4B85-9F7F-372DF898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871078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2-38">
            <a:extLst xmlns:a="http://schemas.openxmlformats.org/drawingml/2006/main">
              <a:ext uri="{FF2B5EF4-FFF2-40B4-BE49-F238E27FC236}">
                <a16:creationId xmlns:a16="http://schemas.microsoft.com/office/drawing/2014/main" id="{EADD696A-192F-4799-80C7-1E81FED9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04  Сравнение безопасности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AD57C52E-A627-4C0E-A7DD-C35974C2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EraSeMap против обычного typed audit</a:t>
            </a:r>
          </a:p>
        </p:txBody>
      </p:sp>
      <p:sp>
        <p:nvSpPr>
          <p:cNvPr id="3" name="stress-chart-frame">
            <a:extLst xmlns:a="http://schemas.openxmlformats.org/drawingml/2006/main">
              <a:ext uri="{FF2B5EF4-FFF2-40B4-BE49-F238E27FC236}">
                <a16:creationId xmlns:a16="http://schemas.microsoft.com/office/drawing/2014/main" id="{F5404C2A-78A5-4B84-9D48-5F0B0F86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6762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824-224">
            <a:extLst xmlns:a="http://schemas.openxmlformats.org/drawingml/2006/main">
              <a:ext uri="{FF2B5EF4-FFF2-40B4-BE49-F238E27FC236}">
                <a16:creationId xmlns:a16="http://schemas.microsoft.com/office/drawing/2014/main" id="{858A50F0-65A9-406A-B1C3-295632E0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33600"/>
            <a:ext cx="3429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87F5B"/>
                </a:solidFill>
              </a:defRPr>
            </a:pPr>
            <a:r>
              <a:t>0 / 75</a:t>
            </a:r>
          </a:p>
        </p:txBody>
      </p:sp>
      <p:sp>
        <p:nvSpPr>
          <p:cNvPr id="5" name="text-824-316">
            <a:extLst xmlns:a="http://schemas.openxmlformats.org/drawingml/2006/main">
              <a:ext uri="{FF2B5EF4-FFF2-40B4-BE49-F238E27FC236}">
                <a16:creationId xmlns:a16="http://schemas.microsoft.com/office/drawing/2014/main" id="{45742C1C-A638-42D0-BD4A-643B6CF8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0990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0D10"/>
                </a:solidFill>
              </a:defRPr>
            </a:pPr>
            <a:r>
              <a:t>ложных COMPLETE у EraSeMap</a:t>
            </a:r>
          </a:p>
        </p:txBody>
      </p:sp>
      <p:sp>
        <p:nvSpPr>
          <p:cNvPr id="6" name="text-824-410">
            <a:extLst xmlns:a="http://schemas.openxmlformats.org/drawingml/2006/main">
              <a:ext uri="{FF2B5EF4-FFF2-40B4-BE49-F238E27FC236}">
                <a16:creationId xmlns:a16="http://schemas.microsoft.com/office/drawing/2014/main" id="{F6F78289-E1E1-4422-97C8-8379DED0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05250"/>
            <a:ext cx="3429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FF6B35"/>
                </a:solidFill>
              </a:defRPr>
            </a:pPr>
            <a:r>
              <a:t>75 / 75</a:t>
            </a:r>
          </a:p>
        </p:txBody>
      </p:sp>
      <p:sp>
        <p:nvSpPr>
          <p:cNvPr id="7" name="text-824-502">
            <a:extLst xmlns:a="http://schemas.openxmlformats.org/drawingml/2006/main">
              <a:ext uri="{FF2B5EF4-FFF2-40B4-BE49-F238E27FC236}">
                <a16:creationId xmlns:a16="http://schemas.microsoft.com/office/drawing/2014/main" id="{5340DAAA-E0C0-4AC4-8844-9488337E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78155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0D10"/>
                </a:solidFill>
              </a:defRPr>
            </a:pPr>
            <a:r>
              <a:t>у node-only typed audit</a:t>
            </a:r>
          </a:p>
        </p:txBody>
      </p:sp>
      <p:sp>
        <p:nvSpPr>
          <p:cNvPr id="8" name="text-824-588">
            <a:extLst xmlns:a="http://schemas.openxmlformats.org/drawingml/2006/main">
              <a:ext uri="{FF2B5EF4-FFF2-40B4-BE49-F238E27FC236}">
                <a16:creationId xmlns:a16="http://schemas.microsoft.com/office/drawing/2014/main" id="{DCBB79CC-5D42-4D56-917B-9378A402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600700"/>
            <a:ext cx="34290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B63"/>
                </a:solidFill>
              </a:defRPr>
            </a:pPr>
            <a:r>
              <a:t>Project-authored mechanism stress test — не внешний holdout.</a:t>
            </a:r>
          </a:p>
        </p:txBody>
      </p:sp>
      <p:sp>
        <p:nvSpPr>
          <p:cNvPr id="9" name="slide-number-5">
            <a:extLst xmlns:a="http://schemas.openxmlformats.org/drawingml/2006/main">
              <a:ext uri="{FF2B5EF4-FFF2-40B4-BE49-F238E27FC236}">
                <a16:creationId xmlns:a16="http://schemas.microsoft.com/office/drawing/2014/main" id="{E6BA1C7A-5CCC-43E0-8498-73C0EC11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05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809625" y="2238375"/>
          <a:ext xmlns:a="http://schemas.openxmlformats.org/drawingml/2006/main" cx="5905500" cy="3238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34571a3e6ff46fa"/>
          </a:graphicData>
        </a:graphic>
      </p:graphicFrame>
    </p:spTree>
    <p:extLst>
      <p:ext uri="{BB962C8B-B14F-4D97-AF65-F5344CB8AC3E}">
        <p14:creationId xmlns:p14="http://schemas.microsoft.com/office/powerpoint/2010/main" val="16073588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42-38">
            <a:extLst xmlns:a="http://schemas.openxmlformats.org/drawingml/2006/main">
              <a:ext uri="{FF2B5EF4-FFF2-40B4-BE49-F238E27FC236}">
                <a16:creationId xmlns:a16="http://schemas.microsoft.com/office/drawing/2014/main" id="{47F52038-FD36-43B8-AE96-32D11D2F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05  Формальная часть</a:t>
            </a:r>
          </a:p>
        </p:txBody>
      </p:sp>
      <p:sp>
        <p:nvSpPr>
          <p:cNvPr id="2" name="text-42-104">
            <a:extLst xmlns:a="http://schemas.openxmlformats.org/drawingml/2006/main">
              <a:ext uri="{FF2B5EF4-FFF2-40B4-BE49-F238E27FC236}">
                <a16:creationId xmlns:a16="http://schemas.microsoft.com/office/drawing/2014/main" id="{3FFC32B1-F7CF-4243-A4D3-BAF6BF9F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90600"/>
            <a:ext cx="65722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0B0D10"/>
                </a:solidFill>
              </a:defRPr>
            </a:pPr>
            <a:r>
              <a:t>3 072 / 3 072</a:t>
            </a:r>
          </a:p>
        </p:txBody>
      </p:sp>
      <p:sp>
        <p:nvSpPr>
          <p:cNvPr id="3" name="text-42-226">
            <a:extLst xmlns:a="http://schemas.openxmlformats.org/drawingml/2006/main">
              <a:ext uri="{FF2B5EF4-FFF2-40B4-BE49-F238E27FC236}">
                <a16:creationId xmlns:a16="http://schemas.microsoft.com/office/drawing/2014/main" id="{B6FFA2C5-6AB4-45B2-A300-A084BEAE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6858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55B63"/>
                </a:solidFill>
              </a:defRPr>
            </a:pPr>
            <a:r>
              <a:t>EraSeMap minimum-action stage = exhaustive oracle</a:t>
            </a:r>
          </a:p>
        </p:txBody>
      </p:sp>
      <p:sp>
        <p:nvSpPr>
          <p:cNvPr id="4" name="formal-soundness">
            <a:extLst xmlns:a="http://schemas.openxmlformats.org/drawingml/2006/main">
              <a:ext uri="{FF2B5EF4-FFF2-40B4-BE49-F238E27FC236}">
                <a16:creationId xmlns:a16="http://schemas.microsoft.com/office/drawing/2014/main" id="{5C74AB40-C941-4C76-AB47-5DACAA75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57550"/>
            <a:ext cx="3486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formal-optimality">
            <a:extLst xmlns:a="http://schemas.openxmlformats.org/drawingml/2006/main">
              <a:ext uri="{FF2B5EF4-FFF2-40B4-BE49-F238E27FC236}">
                <a16:creationId xmlns:a16="http://schemas.microsoft.com/office/drawing/2014/main" id="{C350FFB6-32F3-4520-BC2A-08C1859A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257550"/>
            <a:ext cx="3486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formal-boundary">
            <a:extLst xmlns:a="http://schemas.openxmlformats.org/drawingml/2006/main">
              <a:ext uri="{FF2B5EF4-FFF2-40B4-BE49-F238E27FC236}">
                <a16:creationId xmlns:a16="http://schemas.microsoft.com/office/drawing/2014/main" id="{54090CA8-4865-4FEA-8D1B-D56C0FA4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57550"/>
            <a:ext cx="3486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7" name="text-70-372">
            <a:extLst xmlns:a="http://schemas.openxmlformats.org/drawingml/2006/main">
              <a:ext uri="{FF2B5EF4-FFF2-40B4-BE49-F238E27FC236}">
                <a16:creationId xmlns:a16="http://schemas.microsoft.com/office/drawing/2014/main" id="{F2777B8A-BC9F-471E-9D79-E5C67A9E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2952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Soundness</a:t>
            </a:r>
          </a:p>
        </p:txBody>
      </p:sp>
      <p:sp>
        <p:nvSpPr>
          <p:cNvPr id="8" name="text-70-432">
            <a:extLst xmlns:a="http://schemas.openxmlformats.org/drawingml/2006/main">
              <a:ext uri="{FF2B5EF4-FFF2-40B4-BE49-F238E27FC236}">
                <a16:creationId xmlns:a16="http://schemas.microsoft.com/office/drawing/2014/main" id="{955EA2F1-4893-4FE7-9C30-FEFF15AA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290512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</a:defRPr>
            </a:pPr>
            <a:r>
              <a:t>Replayed COMPLETE закрывает представленные реальные residual paths и mandatory channels.</a:t>
            </a:r>
          </a:p>
        </p:txBody>
      </p:sp>
      <p:sp>
        <p:nvSpPr>
          <p:cNvPr id="9" name="text-485-372">
            <a:extLst xmlns:a="http://schemas.openxmlformats.org/drawingml/2006/main">
              <a:ext uri="{FF2B5EF4-FFF2-40B4-BE49-F238E27FC236}">
                <a16:creationId xmlns:a16="http://schemas.microsoft.com/office/drawing/2014/main" id="{6A5E3E7A-78A8-4EBD-9C68-FCAD9A7C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543300"/>
            <a:ext cx="2952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Optimality</a:t>
            </a:r>
          </a:p>
        </p:txBody>
      </p:sp>
      <p:sp>
        <p:nvSpPr>
          <p:cNvPr id="10" name="text-485-432">
            <a:extLst xmlns:a="http://schemas.openxmlformats.org/drawingml/2006/main">
              <a:ext uri="{FF2B5EF4-FFF2-40B4-BE49-F238E27FC236}">
                <a16:creationId xmlns:a16="http://schemas.microsoft.com/office/drawing/2014/main" id="{FFFEBFE3-28DD-419E-99B1-4C7807F0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14800"/>
            <a:ext cx="290512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</a:defRPr>
            </a:pPr>
            <a:r>
              <a:t>Finite exact selector возвращает feasible candidate с глобально минимальной стоимостью.</a:t>
            </a:r>
          </a:p>
        </p:txBody>
      </p:sp>
      <p:sp>
        <p:nvSpPr>
          <p:cNvPr id="11" name="text-900-372">
            <a:extLst xmlns:a="http://schemas.openxmlformats.org/drawingml/2006/main">
              <a:ext uri="{FF2B5EF4-FFF2-40B4-BE49-F238E27FC236}">
                <a16:creationId xmlns:a16="http://schemas.microsoft.com/office/drawing/2014/main" id="{3FD10252-1EF6-4400-BCE5-2F2F135B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43300"/>
            <a:ext cx="2952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6B35"/>
                </a:solidFill>
              </a:defRPr>
            </a:pPr>
            <a:r>
              <a:t>Boundary</a:t>
            </a:r>
          </a:p>
        </p:txBody>
      </p:sp>
      <p:sp>
        <p:nvSpPr>
          <p:cNvPr id="12" name="text-900-432">
            <a:extLst xmlns:a="http://schemas.openxmlformats.org/drawingml/2006/main">
              <a:ext uri="{FF2B5EF4-FFF2-40B4-BE49-F238E27FC236}">
                <a16:creationId xmlns:a16="http://schemas.microsoft.com/office/drawing/2014/main" id="{1D2398CD-75BF-433D-9437-40C2D38A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14800"/>
            <a:ext cx="290512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</a:defRPr>
            </a:pPr>
            <a:r>
              <a:t>Требуются complete registered topology и sound local verifiers.</a:t>
            </a:r>
          </a:p>
        </p:txBody>
      </p:sp>
      <p:sp>
        <p:nvSpPr>
          <p:cNvPr id="13" name="text-42-626">
            <a:extLst xmlns:a="http://schemas.openxmlformats.org/drawingml/2006/main">
              <a:ext uri="{FF2B5EF4-FFF2-40B4-BE49-F238E27FC236}">
                <a16:creationId xmlns:a16="http://schemas.microsoft.com/office/drawing/2014/main" id="{059A0A9C-21AF-4CFD-B3D6-8A255932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7620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B63"/>
                </a:solidFill>
              </a:defRPr>
            </a:pPr>
            <a:r>
              <a:t>Lean 4 · no sorry/admit · axiom allowlist audited</a:t>
            </a:r>
          </a:p>
        </p:txBody>
      </p:sp>
      <p:sp>
        <p:nvSpPr>
          <p:cNvPr id="14" name="slide-number-6">
            <a:extLst xmlns:a="http://schemas.openxmlformats.org/drawingml/2006/main">
              <a:ext uri="{FF2B5EF4-FFF2-40B4-BE49-F238E27FC236}">
                <a16:creationId xmlns:a16="http://schemas.microsoft.com/office/drawing/2014/main" id="{EE802AA7-CA8A-4282-AEF2-D778B370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36751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2-38">
            <a:extLst xmlns:a="http://schemas.openxmlformats.org/drawingml/2006/main">
              <a:ext uri="{FF2B5EF4-FFF2-40B4-BE49-F238E27FC236}">
                <a16:creationId xmlns:a16="http://schemas.microsoft.com/office/drawing/2014/main" id="{B22BBC53-C619-4A2B-839F-7CBED54D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06  Сравнение эффективности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D185CEB2-B25C-43E7-8597-24C78B8E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EraSeMap vs rebuild-all: тот же verified COMPLETE</a:t>
            </a:r>
          </a:p>
        </p:txBody>
      </p:sp>
      <p:sp>
        <p:nvSpPr>
          <p:cNvPr id="3" name="systems-chart-frame">
            <a:extLst xmlns:a="http://schemas.openxmlformats.org/drawingml/2006/main">
              <a:ext uri="{FF2B5EF4-FFF2-40B4-BE49-F238E27FC236}">
                <a16:creationId xmlns:a16="http://schemas.microsoft.com/office/drawing/2014/main" id="{7347690E-4A98-40BD-8A7C-733BB2E4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6191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760-205">
            <a:extLst xmlns:a="http://schemas.openxmlformats.org/drawingml/2006/main">
              <a:ext uri="{FF2B5EF4-FFF2-40B4-BE49-F238E27FC236}">
                <a16:creationId xmlns:a16="http://schemas.microsoft.com/office/drawing/2014/main" id="{22CA30AA-F2F1-4978-BE4A-0059756D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5262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F6B35"/>
                </a:solidFill>
              </a:defRPr>
            </a:pPr>
            <a:r>
              <a:t>17.64×</a:t>
            </a:r>
          </a:p>
        </p:txBody>
      </p:sp>
      <p:sp>
        <p:nvSpPr>
          <p:cNvPr id="5" name="text-760-292">
            <a:extLst xmlns:a="http://schemas.openxmlformats.org/drawingml/2006/main">
              <a:ext uri="{FF2B5EF4-FFF2-40B4-BE49-F238E27FC236}">
                <a16:creationId xmlns:a16="http://schemas.microsoft.com/office/drawing/2014/main" id="{63B30A08-B935-402E-B700-B27A3AB9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81300"/>
            <a:ext cx="4095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3"/>
                </a:solidFill>
              </a:defRPr>
            </a:pPr>
            <a:r>
              <a:t>speedup; 95% CI 16.39–18.98×</a:t>
            </a:r>
          </a:p>
        </p:txBody>
      </p:sp>
      <p:sp>
        <p:nvSpPr>
          <p:cNvPr id="6" name="text-760-375">
            <a:extLst xmlns:a="http://schemas.openxmlformats.org/drawingml/2006/main">
              <a:ext uri="{FF2B5EF4-FFF2-40B4-BE49-F238E27FC236}">
                <a16:creationId xmlns:a16="http://schemas.microsoft.com/office/drawing/2014/main" id="{879904AD-32AD-4B94-94A3-AADB2C92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7187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B0D10"/>
                </a:solidFill>
              </a:defRPr>
            </a:pPr>
            <a:r>
              <a:t>94.62%</a:t>
            </a:r>
          </a:p>
        </p:txBody>
      </p:sp>
      <p:sp>
        <p:nvSpPr>
          <p:cNvPr id="7" name="text-760-462">
            <a:extLst xmlns:a="http://schemas.openxmlformats.org/drawingml/2006/main">
              <a:ext uri="{FF2B5EF4-FFF2-40B4-BE49-F238E27FC236}">
                <a16:creationId xmlns:a16="http://schemas.microsoft.com/office/drawing/2014/main" id="{714F099B-C0BF-46E0-AFF8-2B616093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00550"/>
            <a:ext cx="40957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3"/>
                </a:solidFill>
              </a:defRPr>
            </a:pPr>
            <a:r>
              <a:t>меньше declared application/filesystem bytes</a:t>
            </a:r>
          </a:p>
        </p:txBody>
      </p:sp>
      <p:sp>
        <p:nvSpPr>
          <p:cNvPr id="8" name="text-760-566">
            <a:extLst xmlns:a="http://schemas.openxmlformats.org/drawingml/2006/main">
              <a:ext uri="{FF2B5EF4-FFF2-40B4-BE49-F238E27FC236}">
                <a16:creationId xmlns:a16="http://schemas.microsoft.com/office/drawing/2014/main" id="{3DB3D267-0E06-4790-869A-7153182F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91150"/>
            <a:ext cx="4191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10"/>
                </a:solidFill>
              </a:defRPr>
            </a:pPr>
            <a:r>
              <a:t>20 paired holdout seeds · 100% completion · 0 retained-data loss</a:t>
            </a:r>
          </a:p>
        </p:txBody>
      </p:sp>
      <p:sp>
        <p:nvSpPr>
          <p:cNvPr id="9" name="slide-number-7">
            <a:extLst xmlns:a="http://schemas.openxmlformats.org/drawingml/2006/main">
              <a:ext uri="{FF2B5EF4-FFF2-40B4-BE49-F238E27FC236}">
                <a16:creationId xmlns:a16="http://schemas.microsoft.com/office/drawing/2014/main" id="{E9775F06-AC9F-482B-A8E6-439FBF8E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07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781050" y="2324100"/>
          <a:ext xmlns:a="http://schemas.openxmlformats.org/drawingml/2006/main" cx="5334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e31c1edeaa4ee8"/>
          </a:graphicData>
        </a:graphic>
      </p:graphicFrame>
    </p:spTree>
    <p:extLst>
      <p:ext uri="{BB962C8B-B14F-4D97-AF65-F5344CB8AC3E}">
        <p14:creationId xmlns:p14="http://schemas.microsoft.com/office/powerpoint/2010/main" val="10777103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42-38">
            <a:extLst xmlns:a="http://schemas.openxmlformats.org/drawingml/2006/main">
              <a:ext uri="{FF2B5EF4-FFF2-40B4-BE49-F238E27FC236}">
                <a16:creationId xmlns:a16="http://schemas.microsoft.com/office/drawing/2014/main" id="{B03E683F-658A-4460-BBF5-B8ED30E7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07  Внутренний model-канал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6C975742-700B-44DB-9F8B-0733D49B1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9525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Model unlearning — только один канал EraSeMap</a:t>
            </a:r>
          </a:p>
        </p:txBody>
      </p:sp>
      <p:sp>
        <p:nvSpPr>
          <p:cNvPr id="3" name="ml-image-frame">
            <a:extLst xmlns:a="http://schemas.openxmlformats.org/drawingml/2006/main">
              <a:ext uri="{FF2B5EF4-FFF2-40B4-BE49-F238E27FC236}">
                <a16:creationId xmlns:a16="http://schemas.microsoft.com/office/drawing/2014/main" id="{2D60B0CB-6C09-4F57-815E-D41373A5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6762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800-205">
            <a:extLst xmlns:a="http://schemas.openxmlformats.org/drawingml/2006/main">
              <a:ext uri="{FF2B5EF4-FFF2-40B4-BE49-F238E27FC236}">
                <a16:creationId xmlns:a16="http://schemas.microsoft.com/office/drawing/2014/main" id="{764999E0-C742-4374-BC99-5C5239EC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52625"/>
            <a:ext cx="3619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Approximate candidate</a:t>
            </a:r>
          </a:p>
        </p:txBody>
      </p:sp>
      <p:sp>
        <p:nvSpPr>
          <p:cNvPr id="5" name="text-800-258">
            <a:extLst xmlns:a="http://schemas.openxmlformats.org/drawingml/2006/main">
              <a:ext uri="{FF2B5EF4-FFF2-40B4-BE49-F238E27FC236}">
                <a16:creationId xmlns:a16="http://schemas.microsoft.com/office/drawing/2014/main" id="{62DD916F-25C4-4B9E-9CDD-F436B853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2381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F6B35"/>
                </a:solidFill>
              </a:defRPr>
            </a:pPr>
            <a:r>
              <a:t>FAIL</a:t>
            </a:r>
          </a:p>
        </p:txBody>
      </p:sp>
      <p:sp>
        <p:nvSpPr>
          <p:cNvPr id="6" name="text-800-326">
            <a:extLst xmlns:a="http://schemas.openxmlformats.org/drawingml/2006/main">
              <a:ext uri="{FF2B5EF4-FFF2-40B4-BE49-F238E27FC236}">
                <a16:creationId xmlns:a16="http://schemas.microsoft.com/office/drawing/2014/main" id="{41D76DBC-0EC4-4498-A43A-3818374E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3"/>
                </a:solidFill>
              </a:defRPr>
            </a:pPr>
            <a:r>
              <a:t>retained utility gate</a:t>
            </a:r>
          </a:p>
        </p:txBody>
      </p:sp>
      <p:sp>
        <p:nvSpPr>
          <p:cNvPr id="7" name="text-800-406">
            <a:extLst xmlns:a="http://schemas.openxmlformats.org/drawingml/2006/main">
              <a:ext uri="{FF2B5EF4-FFF2-40B4-BE49-F238E27FC236}">
                <a16:creationId xmlns:a16="http://schemas.microsoft.com/office/drawing/2014/main" id="{444358FC-EB81-4FCA-B465-60BEF733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67150"/>
            <a:ext cx="3619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Sequential branch</a:t>
            </a:r>
          </a:p>
        </p:txBody>
      </p:sp>
      <p:sp>
        <p:nvSpPr>
          <p:cNvPr id="8" name="text-800-459">
            <a:extLst xmlns:a="http://schemas.openxmlformats.org/drawingml/2006/main">
              <a:ext uri="{FF2B5EF4-FFF2-40B4-BE49-F238E27FC236}">
                <a16:creationId xmlns:a16="http://schemas.microsoft.com/office/drawing/2014/main" id="{2272A3D5-ACE3-4036-BAFB-97BFD3D1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71975"/>
            <a:ext cx="342900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87F5B"/>
                </a:solidFill>
              </a:defRPr>
            </a:pPr>
            <a:r>
              <a:t>PASS · 25/25</a:t>
            </a:r>
          </a:p>
        </p:txBody>
      </p:sp>
      <p:sp>
        <p:nvSpPr>
          <p:cNvPr id="9" name="text-800-540">
            <a:extLst xmlns:a="http://schemas.openxmlformats.org/drawingml/2006/main">
              <a:ext uri="{FF2B5EF4-FFF2-40B4-BE49-F238E27FC236}">
                <a16:creationId xmlns:a16="http://schemas.microsoft.com/office/drawing/2014/main" id="{2EB57D6D-D9FC-4780-8B5F-7B438193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143500"/>
            <a:ext cx="37147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privacy upper CI 0.00624 · first-run, project-authored.</a:t>
            </a:r>
          </a:p>
        </p:txBody>
      </p:sp>
      <p:sp>
        <p:nvSpPr>
          <p:cNvPr id="10" name="slide-number-8">
            <a:extLst xmlns:a="http://schemas.openxmlformats.org/drawingml/2006/main">
              <a:ext uri="{FF2B5EF4-FFF2-40B4-BE49-F238E27FC236}">
                <a16:creationId xmlns:a16="http://schemas.microsoft.com/office/drawing/2014/main" id="{2684AD69-9CC6-440F-90C9-FE32F95F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08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615e93df004353"/>
          <a:stretch xmlns:a="http://schemas.openxmlformats.org/drawingml/2006/main"/>
        </p:blipFill>
        <p:spPr>
          <a:xfrm xmlns:a="http://schemas.openxmlformats.org/drawingml/2006/main">
            <a:off x="628650" y="2376805"/>
            <a:ext cx="6305550" cy="294259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3938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2-38">
            <a:extLst xmlns:a="http://schemas.openxmlformats.org/drawingml/2006/main">
              <a:ext uri="{FF2B5EF4-FFF2-40B4-BE49-F238E27FC236}">
                <a16:creationId xmlns:a16="http://schemas.microsoft.com/office/drawing/2014/main" id="{2ADB0BFD-EE7A-443A-83CD-513916D7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08  Этап 2: обнаружение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2E76A229-3DE9-46C2-9053-9CE86CB4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8001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B0D10"/>
                </a:solidFill>
              </a:defRPr>
            </a:pPr>
            <a:r>
              <a:t>Активно ищем скрытый путь — не верим карте</a:t>
            </a:r>
          </a:p>
        </p:txBody>
      </p:sp>
      <p:sp>
        <p:nvSpPr>
          <p:cNvPr id="3" name="method-graph">
            <a:extLst xmlns:a="http://schemas.openxmlformats.org/drawingml/2006/main">
              <a:ext uri="{FF2B5EF4-FFF2-40B4-BE49-F238E27FC236}">
                <a16:creationId xmlns:a16="http://schemas.microsoft.com/office/drawing/2014/main" id="{445AA98D-987E-4D2F-AC41-2E3600D0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method-proof">
            <a:extLst xmlns:a="http://schemas.openxmlformats.org/drawingml/2006/main">
              <a:ext uri="{FF2B5EF4-FFF2-40B4-BE49-F238E27FC236}">
                <a16:creationId xmlns:a16="http://schemas.microsoft.com/office/drawing/2014/main" id="{9C8CC1B5-F2AE-4AB0-A69F-0F64D239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method-cut">
            <a:extLst xmlns:a="http://schemas.openxmlformats.org/drawingml/2006/main">
              <a:ext uri="{FF2B5EF4-FFF2-40B4-BE49-F238E27FC236}">
                <a16:creationId xmlns:a16="http://schemas.microsoft.com/office/drawing/2014/main" id="{832FE88C-7A06-4689-B9FE-677AAF5B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38">
            <a:extLst xmlns:a="http://schemas.openxmlformats.org/drawingml/2006/main">
              <a:ext uri="{FF2B5EF4-FFF2-40B4-BE49-F238E27FC236}">
                <a16:creationId xmlns:a16="http://schemas.microsoft.com/office/drawing/2014/main" id="{5214B5B4-F594-4E41-BF81-0744C2AA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1</a:t>
            </a:r>
          </a:p>
        </p:txBody>
      </p:sp>
      <p:sp>
        <p:nvSpPr>
          <p:cNvPr id="7" name="text-69-310">
            <a:extLst xmlns:a="http://schemas.openxmlformats.org/drawingml/2006/main">
              <a:ext uri="{FF2B5EF4-FFF2-40B4-BE49-F238E27FC236}">
                <a16:creationId xmlns:a16="http://schemas.microsoft.com/office/drawing/2014/main" id="{AB868F2D-6282-4435-9814-F1DDB812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Гипотезы</a:t>
            </a:r>
          </a:p>
        </p:txBody>
      </p:sp>
      <p:sp>
        <p:nvSpPr>
          <p:cNvPr id="8" name="text-69-378">
            <a:extLst xmlns:a="http://schemas.openxmlformats.org/drawingml/2006/main">
              <a:ext uri="{FF2B5EF4-FFF2-40B4-BE49-F238E27FC236}">
                <a16:creationId xmlns:a16="http://schemas.microsoft.com/office/drawing/2014/main" id="{06B49869-1D9C-4833-A072-0748F898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Зафиксированный каталог возможных recovery paths и полный evidence contract.</a:t>
            </a:r>
          </a:p>
        </p:txBody>
      </p:sp>
      <p:sp>
        <p:nvSpPr>
          <p:cNvPr id="9" name="text-489-238">
            <a:extLst xmlns:a="http://schemas.openxmlformats.org/drawingml/2006/main">
              <a:ext uri="{FF2B5EF4-FFF2-40B4-BE49-F238E27FC236}">
                <a16:creationId xmlns:a16="http://schemas.microsoft.com/office/drawing/2014/main" id="{7FDB58C3-FD43-465F-992C-7E9D0599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2</a:t>
            </a:r>
          </a:p>
        </p:txBody>
      </p:sp>
      <p:sp>
        <p:nvSpPr>
          <p:cNvPr id="10" name="text-489-310">
            <a:extLst xmlns:a="http://schemas.openxmlformats.org/drawingml/2006/main">
              <a:ext uri="{FF2B5EF4-FFF2-40B4-BE49-F238E27FC236}">
                <a16:creationId xmlns:a16="http://schemas.microsoft.com/office/drawing/2014/main" id="{854C5A1F-2426-49C8-8A9E-E7771FD6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Безопасная проба</a:t>
            </a:r>
          </a:p>
        </p:txBody>
      </p:sp>
      <p:sp>
        <p:nvSpPr>
          <p:cNvPr id="11" name="text-489-378">
            <a:extLst xmlns:a="http://schemas.openxmlformats.org/drawingml/2006/main">
              <a:ext uri="{FF2B5EF4-FFF2-40B4-BE49-F238E27FC236}">
                <a16:creationId xmlns:a16="http://schemas.microsoft.com/office/drawing/2014/main" id="{307855CD-6F77-4C88-A190-DEE54564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Minimax выбирает синтетическую проверку, сильнее всего сужающую гипотезы.</a:t>
            </a:r>
          </a:p>
        </p:txBody>
      </p:sp>
      <p:sp>
        <p:nvSpPr>
          <p:cNvPr id="12" name="text-909-238">
            <a:extLst xmlns:a="http://schemas.openxmlformats.org/drawingml/2006/main">
              <a:ext uri="{FF2B5EF4-FFF2-40B4-BE49-F238E27FC236}">
                <a16:creationId xmlns:a16="http://schemas.microsoft.com/office/drawing/2014/main" id="{BD7FBEF4-0818-4155-8DF9-9EE04181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3</a:t>
            </a:r>
          </a:p>
        </p:txBody>
      </p:sp>
      <p:sp>
        <p:nvSpPr>
          <p:cNvPr id="13" name="text-909-310">
            <a:extLst xmlns:a="http://schemas.openxmlformats.org/drawingml/2006/main">
              <a:ext uri="{FF2B5EF4-FFF2-40B4-BE49-F238E27FC236}">
                <a16:creationId xmlns:a16="http://schemas.microsoft.com/office/drawing/2014/main" id="{06E704E8-3D11-409E-825F-EAD96B16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Fail-closed решение</a:t>
            </a:r>
          </a:p>
        </p:txBody>
      </p:sp>
      <p:sp>
        <p:nvSpPr>
          <p:cNvPr id="14" name="text-909-378">
            <a:extLst xmlns:a="http://schemas.openxmlformats.org/drawingml/2006/main">
              <a:ext uri="{FF2B5EF4-FFF2-40B4-BE49-F238E27FC236}">
                <a16:creationId xmlns:a16="http://schemas.microsoft.com/office/drawing/2014/main" id="{2A23EF1D-1816-41A0-A1C7-EE7E7D88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Путь или класс действий; иначе OUT / UNVERIFIED. Затем control и replay.</a:t>
            </a:r>
          </a:p>
        </p:txBody>
      </p:sp>
      <p:sp>
        <p:nvSpPr>
          <p:cNvPr id="15" name="text-42-624">
            <a:extLst xmlns:a="http://schemas.openxmlformats.org/drawingml/2006/main">
              <a:ext uri="{FF2B5EF4-FFF2-40B4-BE49-F238E27FC236}">
                <a16:creationId xmlns:a16="http://schemas.microsoft.com/office/drawing/2014/main" id="{8FE06295-BB67-4999-B18D-927AED08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477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3"/>
                </a:solidFill>
              </a:defRPr>
            </a:pPr>
            <a:r>
              <a:t>Ограниченный каталог · synthetic subjects · не arbitrary hidden infrastructure.</a:t>
            </a:r>
          </a:p>
        </p:txBody>
      </p:sp>
      <p:sp>
        <p:nvSpPr>
          <p:cNvPr id="16" name="slide-number-4">
            <a:extLst xmlns:a="http://schemas.openxmlformats.org/drawingml/2006/main">
              <a:ext uri="{FF2B5EF4-FFF2-40B4-BE49-F238E27FC236}">
                <a16:creationId xmlns:a16="http://schemas.microsoft.com/office/drawing/2014/main" id="{F5CF1F1B-88CD-4B85-9F7F-372DF898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871078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2-38">
            <a:extLst xmlns:a="http://schemas.openxmlformats.org/drawingml/2006/main">
              <a:ext uri="{FF2B5EF4-FFF2-40B4-BE49-F238E27FC236}">
                <a16:creationId xmlns:a16="http://schemas.microsoft.com/office/drawing/2014/main" id="{B22BBC53-C619-4A2B-839F-7CBED54D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09  Этап 2: результат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D185CEB2-B25C-43E7-8597-24C78B8E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EraSeMap находит действие без знания точного графа</a:t>
            </a:r>
          </a:p>
        </p:txBody>
      </p:sp>
      <p:sp>
        <p:nvSpPr>
          <p:cNvPr id="3" name="systems-chart-frame">
            <a:extLst xmlns:a="http://schemas.openxmlformats.org/drawingml/2006/main">
              <a:ext uri="{FF2B5EF4-FFF2-40B4-BE49-F238E27FC236}">
                <a16:creationId xmlns:a16="http://schemas.microsoft.com/office/drawing/2014/main" id="{7347690E-4A98-40BD-8A7C-733BB2E4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6191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760-205">
            <a:extLst xmlns:a="http://schemas.openxmlformats.org/drawingml/2006/main">
              <a:ext uri="{FF2B5EF4-FFF2-40B4-BE49-F238E27FC236}">
                <a16:creationId xmlns:a16="http://schemas.microsoft.com/office/drawing/2014/main" id="{22CA30AA-F2F1-4978-BE4A-0059756D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5262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F6B35"/>
                </a:solidFill>
              </a:defRPr>
            </a:pPr>
            <a:r>
              <a:t>300 / 300</a:t>
            </a:r>
          </a:p>
        </p:txBody>
      </p:sp>
      <p:sp>
        <p:nvSpPr>
          <p:cNvPr id="5" name="text-760-292">
            <a:extLst xmlns:a="http://schemas.openxmlformats.org/drawingml/2006/main">
              <a:ext uri="{FF2B5EF4-FFF2-40B4-BE49-F238E27FC236}">
                <a16:creationId xmlns:a16="http://schemas.microsoft.com/office/drawing/2014/main" id="{63B30A08-B935-402E-B700-B27A3AB9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81300"/>
            <a:ext cx="4095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3"/>
                </a:solidFill>
              </a:defRPr>
            </a:pPr>
            <a:r>
              <a:t>correct action или OOD · 0 false confident</a:t>
            </a:r>
          </a:p>
        </p:txBody>
      </p:sp>
      <p:sp>
        <p:nvSpPr>
          <p:cNvPr id="6" name="text-760-375">
            <a:extLst xmlns:a="http://schemas.openxmlformats.org/drawingml/2006/main">
              <a:ext uri="{FF2B5EF4-FFF2-40B4-BE49-F238E27FC236}">
                <a16:creationId xmlns:a16="http://schemas.microsoft.com/office/drawing/2014/main" id="{879904AD-32AD-4B94-94A3-AADB2C92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7187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B0D10"/>
                </a:solidFill>
              </a:defRPr>
            </a:pPr>
            <a:r>
              <a:t>50 / 50</a:t>
            </a:r>
          </a:p>
        </p:txBody>
      </p:sp>
      <p:sp>
        <p:nvSpPr>
          <p:cNvPr id="7" name="text-760-462">
            <a:extLst xmlns:a="http://schemas.openxmlformats.org/drawingml/2006/main">
              <a:ext uri="{FF2B5EF4-FFF2-40B4-BE49-F238E27FC236}">
                <a16:creationId xmlns:a16="http://schemas.microsoft.com/office/drawing/2014/main" id="{714F099B-C0BF-46E0-AFF8-2B616093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00550"/>
            <a:ext cx="40957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3"/>
                </a:solidFill>
              </a:defRPr>
            </a:pPr>
            <a:r>
              <a:t>family-held-out retry-replay распознан как OOD</a:t>
            </a:r>
          </a:p>
        </p:txBody>
      </p:sp>
      <p:sp>
        <p:nvSpPr>
          <p:cNvPr id="8" name="text-760-566">
            <a:extLst xmlns:a="http://schemas.openxmlformats.org/drawingml/2006/main">
              <a:ext uri="{FF2B5EF4-FFF2-40B4-BE49-F238E27FC236}">
                <a16:creationId xmlns:a16="http://schemas.microsoft.com/office/drawing/2014/main" id="{3DB3D267-0E06-4790-869A-7153182F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91150"/>
            <a:ext cx="4191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10"/>
                </a:solidFill>
              </a:defRPr>
            </a:pPr>
            <a:r>
              <a:t>EraSeMap: 1.28 probes vs 8.0 exhaustive · adaptive tie · external: NOT_COLLECTED</a:t>
            </a:r>
          </a:p>
        </p:txBody>
      </p:sp>
      <p:sp>
        <p:nvSpPr>
          <p:cNvPr id="9" name="slide-number-7">
            <a:extLst xmlns:a="http://schemas.openxmlformats.org/drawingml/2006/main">
              <a:ext uri="{FF2B5EF4-FFF2-40B4-BE49-F238E27FC236}">
                <a16:creationId xmlns:a16="http://schemas.microsoft.com/office/drawing/2014/main" id="{E9775F06-AC9F-482B-A8E6-439FBF8E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10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781050" y="2324100"/>
          <a:ext xmlns:a="http://schemas.openxmlformats.org/drawingml/2006/main" cx="5334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67d4a418f084340"/>
          </a:graphicData>
        </a:graphic>
      </p:graphicFrame>
    </p:spTree>
    <p:extLst>
      <p:ext uri="{BB962C8B-B14F-4D97-AF65-F5344CB8AC3E}">
        <p14:creationId xmlns:p14="http://schemas.microsoft.com/office/powerpoint/2010/main" val="10777103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42-38">
            <a:extLst xmlns:a="http://schemas.openxmlformats.org/drawingml/2006/main">
              <a:ext uri="{FF2B5EF4-FFF2-40B4-BE49-F238E27FC236}">
                <a16:creationId xmlns:a16="http://schemas.microsoft.com/office/drawing/2014/main" id="{88149F28-389D-4D06-9718-A82BEBB3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57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10  Новизна одного алгоритма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BE6D6434-59FB-440F-980D-9D9148C7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Новый вклад — полный fail-closed путь от discovery до сертификата</a:t>
            </a:r>
          </a:p>
        </p:txBody>
      </p:sp>
      <p:sp>
        <p:nvSpPr>
          <p:cNvPr id="3" name="novel-known">
            <a:extLst xmlns:a="http://schemas.openxmlformats.org/drawingml/2006/main">
              <a:ext uri="{FF2B5EF4-FFF2-40B4-BE49-F238E27FC236}">
                <a16:creationId xmlns:a16="http://schemas.microsoft.com/office/drawing/2014/main" id="{6CB3F883-8645-4CCF-8509-0192D3BD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novel-contribution">
            <a:extLst xmlns:a="http://schemas.openxmlformats.org/drawingml/2006/main">
              <a:ext uri="{FF2B5EF4-FFF2-40B4-BE49-F238E27FC236}">
                <a16:creationId xmlns:a16="http://schemas.microsoft.com/office/drawing/2014/main" id="{0F183184-76A7-4A8B-82E1-ADD6C448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240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8E3"/>
          </a:solidFill>
        </p:spPr>
      </p:sp>
      <p:sp>
        <p:nvSpPr>
          <p:cNvPr id="5" name="novel-no-claim">
            <a:extLst xmlns:a="http://schemas.openxmlformats.org/drawingml/2006/main">
              <a:ext uri="{FF2B5EF4-FFF2-40B4-BE49-F238E27FC236}">
                <a16:creationId xmlns:a16="http://schemas.microsoft.com/office/drawing/2014/main" id="{421AC173-16AB-4CD8-8662-E7865CC9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240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34">
            <a:extLst xmlns:a="http://schemas.openxmlformats.org/drawingml/2006/main">
              <a:ext uri="{FF2B5EF4-FFF2-40B4-BE49-F238E27FC236}">
                <a16:creationId xmlns:a16="http://schemas.microsoft.com/office/drawing/2014/main" id="{53B2EB09-807B-4592-850A-C8BD7C87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28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Уже существовало</a:t>
            </a:r>
          </a:p>
        </p:txBody>
      </p:sp>
      <p:sp>
        <p:nvSpPr>
          <p:cNvPr id="7" name="text-69-306">
            <a:extLst xmlns:a="http://schemas.openxmlformats.org/drawingml/2006/main">
              <a:ext uri="{FF2B5EF4-FFF2-40B4-BE49-F238E27FC236}">
                <a16:creationId xmlns:a16="http://schemas.microsoft.com/office/drawing/2014/main" id="{7E3BDE59-9D49-4288-AE30-F43FCFFA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14650"/>
            <a:ext cx="2714625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B0D10"/>
                </a:solidFill>
              </a:defRPr>
            </a:pPr>
            <a:r>
              <a:t>Network tomography
Active diagnosis
Data lineage
Group testing
Temporal erasure</a:t>
            </a:r>
          </a:p>
        </p:txBody>
      </p:sp>
      <p:sp>
        <p:nvSpPr>
          <p:cNvPr id="8" name="text-489-234">
            <a:extLst xmlns:a="http://schemas.openxmlformats.org/drawingml/2006/main">
              <a:ext uri="{FF2B5EF4-FFF2-40B4-BE49-F238E27FC236}">
                <a16:creationId xmlns:a16="http://schemas.microsoft.com/office/drawing/2014/main" id="{CF9CC74A-DC0A-4E7D-9EA5-5B88C37A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28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6B35"/>
                </a:solidFill>
              </a:defRPr>
            </a:pPr>
            <a:r>
              <a:t>Вклад EraSeMap</a:t>
            </a:r>
          </a:p>
        </p:txBody>
      </p:sp>
      <p:sp>
        <p:nvSpPr>
          <p:cNvPr id="9" name="text-489-306">
            <a:extLst xmlns:a="http://schemas.openxmlformats.org/drawingml/2006/main">
              <a:ext uri="{FF2B5EF4-FFF2-40B4-BE49-F238E27FC236}">
                <a16:creationId xmlns:a16="http://schemas.microsoft.com/office/drawing/2014/main" id="{60FE33EA-F371-4DE4-963E-62261E17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14650"/>
            <a:ext cx="2714625" cy="2305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0D10"/>
                </a:solidFill>
              </a:defRPr>
            </a:pPr>
            <a:r>
              <a:t>Карта → безопасные subject-пробы → минимальный план → temporal replay → сертификат или честный отказ.</a:t>
            </a:r>
          </a:p>
        </p:txBody>
      </p:sp>
      <p:sp>
        <p:nvSpPr>
          <p:cNvPr id="10" name="text-909-234">
            <a:extLst xmlns:a="http://schemas.openxmlformats.org/drawingml/2006/main">
              <a:ext uri="{FF2B5EF4-FFF2-40B4-BE49-F238E27FC236}">
                <a16:creationId xmlns:a16="http://schemas.microsoft.com/office/drawing/2014/main" id="{6A719E17-299D-4604-A94A-7D1B99FC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28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Не заявляется</a:t>
            </a:r>
          </a:p>
        </p:txBody>
      </p:sp>
      <p:sp>
        <p:nvSpPr>
          <p:cNvPr id="11" name="text-909-306">
            <a:extLst xmlns:a="http://schemas.openxmlformats.org/drawingml/2006/main">
              <a:ext uri="{FF2B5EF4-FFF2-40B4-BE49-F238E27FC236}">
                <a16:creationId xmlns:a16="http://schemas.microsoft.com/office/drawing/2014/main" id="{2B397DEB-3D92-40C6-BD80-7A6966FF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914650"/>
            <a:ext cx="2714625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B0D10"/>
                </a:solidFill>
              </a:defRPr>
            </a:pPr>
            <a:r>
              <a:t>«Первый в мире»
Arbitrary topology discovery
Global optimal decision tree
FaceID/eGov production</a:t>
            </a:r>
          </a:p>
        </p:txBody>
      </p:sp>
      <p:sp>
        <p:nvSpPr>
          <p:cNvPr id="12" name="text-42-626">
            <a:extLst xmlns:a="http://schemas.openxmlformats.org/drawingml/2006/main">
              <a:ext uri="{FF2B5EF4-FFF2-40B4-BE49-F238E27FC236}">
                <a16:creationId xmlns:a16="http://schemas.microsoft.com/office/drawing/2014/main" id="{08CD57D6-2C17-458D-B599-633D0A28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858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Сильный adaptive baseline разделил первое место: новизна в проверяемой композиции, не в универсальной query optimality.</a:t>
            </a:r>
          </a:p>
        </p:txBody>
      </p:sp>
      <p:sp>
        <p:nvSpPr>
          <p:cNvPr id="13" name="slide-number-9">
            <a:extLst xmlns:a="http://schemas.openxmlformats.org/drawingml/2006/main">
              <a:ext uri="{FF2B5EF4-FFF2-40B4-BE49-F238E27FC236}">
                <a16:creationId xmlns:a16="http://schemas.microsoft.com/office/drawing/2014/main" id="{B8861551-D27A-4601-8815-837B0ABF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377059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2-38">
            <a:extLst xmlns:a="http://schemas.openxmlformats.org/drawingml/2006/main">
              <a:ext uri="{FF2B5EF4-FFF2-40B4-BE49-F238E27FC236}">
                <a16:creationId xmlns:a16="http://schemas.microsoft.com/office/drawing/2014/main" id="{096D2445-227C-4447-8399-FA96923F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90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11  Доказательная лестница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19E14A2B-DF73-4819-96D1-9B256F982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287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Readiness нельзя выдавать за independence</a:t>
            </a:r>
          </a:p>
        </p:txBody>
      </p:sp>
      <p:sp>
        <p:nvSpPr>
          <p:cNvPr id="3" name="evidence-current">
            <a:extLst xmlns:a="http://schemas.openxmlformats.org/drawingml/2006/main">
              <a:ext uri="{FF2B5EF4-FFF2-40B4-BE49-F238E27FC236}">
                <a16:creationId xmlns:a16="http://schemas.microsoft.com/office/drawing/2014/main" id="{4522758C-10EC-47AA-9A7F-E7FA8660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38137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evidence-next">
            <a:extLst xmlns:a="http://schemas.openxmlformats.org/drawingml/2006/main">
              <a:ext uri="{FF2B5EF4-FFF2-40B4-BE49-F238E27FC236}">
                <a16:creationId xmlns:a16="http://schemas.microsoft.com/office/drawing/2014/main" id="{1A91BD7B-A987-424E-8056-4C3A1BC0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573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8E3"/>
          </a:solidFill>
        </p:spPr>
      </p:sp>
      <p:sp>
        <p:nvSpPr>
          <p:cNvPr id="5" name="evidence-org">
            <a:extLst xmlns:a="http://schemas.openxmlformats.org/drawingml/2006/main">
              <a:ext uri="{FF2B5EF4-FFF2-40B4-BE49-F238E27FC236}">
                <a16:creationId xmlns:a16="http://schemas.microsoft.com/office/drawing/2014/main" id="{03EF12D5-9E7E-43A9-8496-B2924530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200150"/>
            <a:ext cx="33813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54">
            <a:extLst xmlns:a="http://schemas.openxmlformats.org/drawingml/2006/main">
              <a:ext uri="{FF2B5EF4-FFF2-40B4-BE49-F238E27FC236}">
                <a16:creationId xmlns:a16="http://schemas.microsoft.com/office/drawing/2014/main" id="{FEBA4D97-4910-4EC8-9008-1CC8E344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419350"/>
            <a:ext cx="2762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B0D10"/>
                </a:solidFill>
              </a:defRPr>
            </a:pPr>
            <a:r>
              <a:t>7.8</a:t>
            </a:r>
          </a:p>
        </p:txBody>
      </p:sp>
      <p:sp>
        <p:nvSpPr>
          <p:cNvPr id="7" name="text-69-354">
            <a:extLst xmlns:a="http://schemas.openxmlformats.org/drawingml/2006/main">
              <a:ext uri="{FF2B5EF4-FFF2-40B4-BE49-F238E27FC236}">
                <a16:creationId xmlns:a16="http://schemas.microsoft.com/office/drawing/2014/main" id="{B2C5A188-5587-4A4A-927A-A54D89FD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371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Сейчас</a:t>
            </a:r>
          </a:p>
        </p:txBody>
      </p:sp>
      <p:sp>
        <p:nvSpPr>
          <p:cNvPr id="8" name="text-69-418">
            <a:extLst xmlns:a="http://schemas.openxmlformats.org/drawingml/2006/main">
              <a:ext uri="{FF2B5EF4-FFF2-40B4-BE49-F238E27FC236}">
                <a16:creationId xmlns:a16="http://schemas.microsoft.com/office/drawing/2014/main" id="{EAA35A75-54EE-4FE0-93D1-1DB9FDE2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981450"/>
            <a:ext cx="2714625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Frozen v2 + live four-service PASS. External submission: NOT_COLLECTED.</a:t>
            </a:r>
          </a:p>
        </p:txBody>
      </p:sp>
      <p:sp>
        <p:nvSpPr>
          <p:cNvPr id="9" name="text-489-206">
            <a:extLst xmlns:a="http://schemas.openxmlformats.org/drawingml/2006/main">
              <a:ext uri="{FF2B5EF4-FFF2-40B4-BE49-F238E27FC236}">
                <a16:creationId xmlns:a16="http://schemas.microsoft.com/office/drawing/2014/main" id="{B5431607-40D5-4ADF-8839-50FDE7F6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62150"/>
            <a:ext cx="2762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FF6B35"/>
                </a:solidFill>
              </a:defRPr>
            </a:pPr>
            <a:r>
              <a:t>9.5</a:t>
            </a:r>
          </a:p>
        </p:txBody>
      </p:sp>
      <p:sp>
        <p:nvSpPr>
          <p:cNvPr id="10" name="text-489-306">
            <a:extLst xmlns:a="http://schemas.openxmlformats.org/drawingml/2006/main">
              <a:ext uri="{FF2B5EF4-FFF2-40B4-BE49-F238E27FC236}">
                <a16:creationId xmlns:a16="http://schemas.microsoft.com/office/drawing/2014/main" id="{0AAA1054-1482-4898-9013-7CEC14E2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146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External blind v2 PASS</a:t>
            </a:r>
          </a:p>
        </p:txBody>
      </p:sp>
      <p:sp>
        <p:nvSpPr>
          <p:cNvPr id="11" name="text-489-370">
            <a:extLst xmlns:a="http://schemas.openxmlformats.org/drawingml/2006/main">
              <a:ext uri="{FF2B5EF4-FFF2-40B4-BE49-F238E27FC236}">
                <a16:creationId xmlns:a16="http://schemas.microsoft.com/office/drawing/2014/main" id="{6612D925-5A26-4E5F-AD81-B7923706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524250"/>
            <a:ext cx="2714625" cy="137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Outside author: hidden graphs, clean commit, source hashes, one-shot reveal, Ed25519 signature.</a:t>
            </a:r>
          </a:p>
        </p:txBody>
      </p:sp>
      <p:sp>
        <p:nvSpPr>
          <p:cNvPr id="12" name="text-909-158">
            <a:extLst xmlns:a="http://schemas.openxmlformats.org/drawingml/2006/main">
              <a:ext uri="{FF2B5EF4-FFF2-40B4-BE49-F238E27FC236}">
                <a16:creationId xmlns:a16="http://schemas.microsoft.com/office/drawing/2014/main" id="{E6887C07-1C69-4285-8D09-01C9C9ED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504950"/>
            <a:ext cx="2762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B0D10"/>
                </a:solidFill>
              </a:defRPr>
            </a:pPr>
            <a:r>
              <a:t>9.8</a:t>
            </a:r>
          </a:p>
        </p:txBody>
      </p:sp>
      <p:sp>
        <p:nvSpPr>
          <p:cNvPr id="13" name="text-909-258">
            <a:extLst xmlns:a="http://schemas.openxmlformats.org/drawingml/2006/main">
              <a:ext uri="{FF2B5EF4-FFF2-40B4-BE49-F238E27FC236}">
                <a16:creationId xmlns:a16="http://schemas.microsoft.com/office/drawing/2014/main" id="{CC51D3AE-A8A3-47B0-93A7-F47E75AA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4574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Репликация</a:t>
            </a:r>
          </a:p>
        </p:txBody>
      </p:sp>
      <p:sp>
        <p:nvSpPr>
          <p:cNvPr id="14" name="text-909-322">
            <a:extLst xmlns:a="http://schemas.openxmlformats.org/drawingml/2006/main">
              <a:ext uri="{FF2B5EF4-FFF2-40B4-BE49-F238E27FC236}">
                <a16:creationId xmlns:a16="http://schemas.microsoft.com/office/drawing/2014/main" id="{BD2231AD-8BC9-45FD-9C19-8F3F5902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067050"/>
            <a:ext cx="2714625" cy="137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Два независимых evaluator или одна authorized organization на materially different systems.</a:t>
            </a:r>
          </a:p>
        </p:txBody>
      </p:sp>
      <p:sp>
        <p:nvSpPr>
          <p:cNvPr id="15" name="text-42-625">
            <a:extLst xmlns:a="http://schemas.openxmlformats.org/drawingml/2006/main">
              <a:ext uri="{FF2B5EF4-FFF2-40B4-BE49-F238E27FC236}">
                <a16:creationId xmlns:a16="http://schemas.microsoft.com/office/drawing/2014/main" id="{9E1F4E86-6ACB-42E1-A881-42F5336F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857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B35"/>
                </a:solidFill>
              </a:defRPr>
            </a:pPr>
            <a:r>
              <a:t>Только external authorship двигает independence; local work повышает readiness.</a:t>
            </a:r>
          </a:p>
        </p:txBody>
      </p:sp>
      <p:sp>
        <p:nvSpPr>
          <p:cNvPr id="16" name="slide-number-10">
            <a:extLst xmlns:a="http://schemas.openxmlformats.org/drawingml/2006/main">
              <a:ext uri="{FF2B5EF4-FFF2-40B4-BE49-F238E27FC236}">
                <a16:creationId xmlns:a16="http://schemas.microsoft.com/office/drawing/2014/main" id="{1330B4F0-6E7D-4086-B860-39A5CC3E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2920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42-38">
            <a:extLst xmlns:a="http://schemas.openxmlformats.org/drawingml/2006/main">
              <a:ext uri="{FF2B5EF4-FFF2-40B4-BE49-F238E27FC236}">
                <a16:creationId xmlns:a16="http://schemas.microsoft.com/office/drawing/2014/main" id="{41BD4B4C-46C1-4BDC-AFF3-8DEEE76E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ERASEMAP</a:t>
            </a:r>
          </a:p>
        </p:txBody>
      </p:sp>
      <p:sp>
        <p:nvSpPr>
          <p:cNvPr id="2" name="text-42-108">
            <a:extLst xmlns:a="http://schemas.openxmlformats.org/drawingml/2006/main">
              <a:ext uri="{FF2B5EF4-FFF2-40B4-BE49-F238E27FC236}">
                <a16:creationId xmlns:a16="http://schemas.microsoft.com/office/drawing/2014/main" id="{B1D005B7-0087-421B-8F8D-3A18FC64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10001250" cy="1714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0B0D10"/>
                </a:solidFill>
              </a:defRPr>
            </a:pPr>
            <a:r>
              <a:t>Не верить слову «удалено».
Проверять путь.</a:t>
            </a:r>
          </a:p>
        </p:txBody>
      </p:sp>
      <p:sp>
        <p:nvSpPr>
          <p:cNvPr id="3" name="closing-band">
            <a:extLst xmlns:a="http://schemas.openxmlformats.org/drawingml/2006/main">
              <a:ext uri="{FF2B5EF4-FFF2-40B4-BE49-F238E27FC236}">
                <a16:creationId xmlns:a16="http://schemas.microsoft.com/office/drawing/2014/main" id="{59CB3E5E-BF79-4238-8FFD-701D47B7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33800"/>
            <a:ext cx="1219200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closing-a">
            <a:extLst xmlns:a="http://schemas.openxmlformats.org/drawingml/2006/main">
              <a:ext uri="{FF2B5EF4-FFF2-40B4-BE49-F238E27FC236}">
                <a16:creationId xmlns:a16="http://schemas.microsoft.com/office/drawing/2014/main" id="{06BD7832-8D47-4326-94B6-2F83CC4A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862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0"/>
          </a:solidFill>
        </p:spPr>
      </p:sp>
      <p:sp>
        <p:nvSpPr>
          <p:cNvPr id="5" name="closing-b">
            <a:extLst xmlns:a="http://schemas.openxmlformats.org/drawingml/2006/main">
              <a:ext uri="{FF2B5EF4-FFF2-40B4-BE49-F238E27FC236}">
                <a16:creationId xmlns:a16="http://schemas.microsoft.com/office/drawing/2014/main" id="{DD2342EE-35D1-40FF-9536-104AF479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2862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0"/>
          </a:solidFill>
        </p:spPr>
      </p:sp>
      <p:sp>
        <p:nvSpPr>
          <p:cNvPr id="6" name="closing-c">
            <a:extLst xmlns:a="http://schemas.openxmlformats.org/drawingml/2006/main">
              <a:ext uri="{FF2B5EF4-FFF2-40B4-BE49-F238E27FC236}">
                <a16:creationId xmlns:a16="http://schemas.microsoft.com/office/drawing/2014/main" id="{70F276BE-00EA-400E-A96D-17174566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862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-42-510">
            <a:extLst xmlns:a="http://schemas.openxmlformats.org/drawingml/2006/main">
              <a:ext uri="{FF2B5EF4-FFF2-40B4-BE49-F238E27FC236}">
                <a16:creationId xmlns:a16="http://schemas.microsoft.com/office/drawing/2014/main" id="{C92543EA-8D79-467D-9BA3-9039A2C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10"/>
                </a:solidFill>
              </a:defRPr>
            </a:pPr>
            <a:r>
              <a:t>Сейчас</a:t>
            </a:r>
          </a:p>
        </p:txBody>
      </p:sp>
      <p:sp>
        <p:nvSpPr>
          <p:cNvPr id="8" name="text-42-560">
            <a:extLst xmlns:a="http://schemas.openxmlformats.org/drawingml/2006/main">
              <a:ext uri="{FF2B5EF4-FFF2-40B4-BE49-F238E27FC236}">
                <a16:creationId xmlns:a16="http://schemas.microsoft.com/office/drawing/2014/main" id="{AB50936D-BACD-42E2-8E01-8F167A17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31432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Formal + measured systems + active discovery + jury demo</a:t>
            </a:r>
          </a:p>
        </p:txBody>
      </p:sp>
      <p:sp>
        <p:nvSpPr>
          <p:cNvPr id="9" name="text-452-510">
            <a:extLst xmlns:a="http://schemas.openxmlformats.org/drawingml/2006/main">
              <a:ext uri="{FF2B5EF4-FFF2-40B4-BE49-F238E27FC236}">
                <a16:creationId xmlns:a16="http://schemas.microsoft.com/office/drawing/2014/main" id="{A0361ED0-BAA0-4B0C-854E-CDC2812A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57750"/>
            <a:ext cx="3333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10"/>
                </a:solidFill>
              </a:defRPr>
            </a:pPr>
            <a:r>
              <a:t>Следующий результат</a:t>
            </a:r>
          </a:p>
        </p:txBody>
      </p:sp>
      <p:sp>
        <p:nvSpPr>
          <p:cNvPr id="10" name="text-452-560">
            <a:extLst xmlns:a="http://schemas.openxmlformats.org/drawingml/2006/main">
              <a:ext uri="{FF2B5EF4-FFF2-40B4-BE49-F238E27FC236}">
                <a16:creationId xmlns:a16="http://schemas.microsoft.com/office/drawing/2014/main" id="{EB730CB5-C3C2-4A55-AEBB-CAE95B43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334000"/>
            <a:ext cx="33337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Независимый hidden challenge; EraSeMap frozen</a:t>
            </a:r>
          </a:p>
        </p:txBody>
      </p:sp>
      <p:sp>
        <p:nvSpPr>
          <p:cNvPr id="11" name="text-862-510">
            <a:extLst xmlns:a="http://schemas.openxmlformats.org/drawingml/2006/main">
              <a:ext uri="{FF2B5EF4-FFF2-40B4-BE49-F238E27FC236}">
                <a16:creationId xmlns:a16="http://schemas.microsoft.com/office/drawing/2014/main" id="{5F39B2F2-2D03-4BAC-8B93-76340269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85775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6B35"/>
                </a:solidFill>
              </a:defRPr>
            </a:pPr>
            <a:r>
              <a:t>Цель</a:t>
            </a:r>
          </a:p>
        </p:txBody>
      </p:sp>
      <p:sp>
        <p:nvSpPr>
          <p:cNvPr id="12" name="text-862-560">
            <a:extLst xmlns:a="http://schemas.openxmlformats.org/drawingml/2006/main">
              <a:ext uri="{FF2B5EF4-FFF2-40B4-BE49-F238E27FC236}">
                <a16:creationId xmlns:a16="http://schemas.microsoft.com/office/drawing/2014/main" id="{2204460B-51AE-49A8-9C0C-F9AAE8CE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34000"/>
            <a:ext cx="33337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</a:defRPr>
            </a:pPr>
            <a:r>
              <a:t>Доказать COMPLETE на чужих системах — или честно показать failure.</a:t>
            </a:r>
          </a:p>
        </p:txBody>
      </p:sp>
      <p:sp>
        <p:nvSpPr>
          <p:cNvPr id="13" name="slide-number-11">
            <a:extLst xmlns:a="http://schemas.openxmlformats.org/drawingml/2006/main">
              <a:ext uri="{FF2B5EF4-FFF2-40B4-BE49-F238E27FC236}">
                <a16:creationId xmlns:a16="http://schemas.microsoft.com/office/drawing/2014/main" id="{2BF76438-7308-4827-A3A9-47044D19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451162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2026-08-28T15:26:24.5780000Z</dcterms:created>
  <dcterms:modified xsi:type="dcterms:W3CDTF">2026-08-28T15:26:24.5780000Z</dcterms:modified>
</coreProperties>
</file>