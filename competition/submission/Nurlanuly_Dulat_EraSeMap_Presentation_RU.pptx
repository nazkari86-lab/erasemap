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Начните с простой мысли: ответ DELETE 200 OK подтверждает только команду, но не исчезновение копий и производных. EraSeMap превращает обещание удаления в проверяемый путь.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Покажите, что один пользователь представлен не одной строкой: есть шаблон, кэш, backup и влияние на модель. Любая из ветвей может стать путём восстановления.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Проговорите пять вопросов вместо названий внутренних модулей. Так алгоритм понятен комиссии: карта, поиск пути, минимальный план, временная проверка и сертификат.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Ключевая сила — безопасный отказ. COMPLETE выдаётся только при одновременном физическом, производном и временном закрытии.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Расскажите это как одну историю: запрос идёт от карты данных к закрытию копий, затем к активной проверке и только после этого к вердикту. Если найден риск или путь не подтверждён, EraSeMap не говорит COMPLETE.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Чётко назовите метрику: false COMPLETE, а не общая точность. Ноль — безопасный результат на ограниченном протоколе, не обещание промышленного внедрения.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Сравнение показывает эффективность после прохождения safety gates. Это нормализованная bounded задача, поэтому не переносите цифры автоматически на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Активная проба выбирает следующий тест так, чтобы разделить оставшиеся гипотезы. Результат family-held-out показывает переносимость на новые семейства топологий, но не production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 скрывайте отрицательный model-unlearning результат. Сильная область проекта — evidence-led storage deletion; модельный канал доказывается отдельно. Подчеркните, что четыре строки не складываются в один рейтинг.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Формула — удобная рамка для комиссии. Важно уточнить: formal checks подтверждают conformance протокола и composition property, но не заменяют внешний production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Поясните термины: retained utility — полезность для оставшихся пользователей; exact fallback — безопасное переобучение. Отрицательный результат здесь усиливает научную честность.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Новизна формулируется как композиция: recovery-path discovery, temporal closure и сертификат с границей неизвестности. Отдельно покажите, какие доказательства уже есть, а какие ещё нужны.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Закройте одной фразой: EraSeMap проверяет путь, а не обещание. Если спросят о следующем шаге, называйте independent hidden challenge и production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9912096" y="0"/>
            <a:ext cx="2194560" cy="1234440"/>
          </a:xfrm>
          <a:prstGeom prst="ellipse">
            <a:avLst/>
          </a:prstGeom>
          <a:solidFill>
            <a:srgbClr val="CBE4D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1080000">
            <a:off x="10744200" y="164592"/>
            <a:ext cx="1188720" cy="804672"/>
          </a:xfrm>
          <a:prstGeom prst="ellipse">
            <a:avLst/>
          </a:prstGeom>
          <a:solidFill>
            <a:srgbClr val="F5D2C8">
              <a:alpha val="6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-540000">
            <a:off x="0" y="6236208"/>
            <a:ext cx="1920240" cy="530352"/>
          </a:xfrm>
          <a:prstGeom prst="ellipse">
            <a:avLst/>
          </a:prstGeom>
          <a:solidFill>
            <a:srgbClr val="CBE4D6">
              <a:alpha val="3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8" name="Shape 6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40233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5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НҰРЛАНҰЛЫ ДУЛАТ  ·  9 «Б»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1417320"/>
            <a:ext cx="5577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Удаление —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не кнопка.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2889504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проверяемый путь.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86384" y="3438144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проверяет, исчезли ли данные из копий, производных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будущих каналов восстановления.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86384" y="4590288"/>
            <a:ext cx="4526280" cy="475488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50976" y="4727448"/>
            <a:ext cx="41879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DELETE 200 OK  →  карта  →  проверка  →  сертификат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15200" y="1828800"/>
            <a:ext cx="1097280" cy="640080"/>
          </a:xfrm>
          <a:prstGeom prst="line">
            <a:avLst/>
          </a:prstGeom>
          <a:noFill/>
          <a:ln w="27940">
            <a:solidFill>
              <a:srgbClr val="C8D6CE">
                <a:alpha val="8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468880"/>
            <a:ext cx="1078992" cy="-137160"/>
          </a:xfrm>
          <a:prstGeom prst="line">
            <a:avLst/>
          </a:prstGeom>
          <a:noFill/>
          <a:ln w="27940">
            <a:solidFill>
              <a:srgbClr val="C8D6CE">
                <a:alpha val="8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0" y="1828800"/>
            <a:ext cx="713232" cy="1572768"/>
          </a:xfrm>
          <a:prstGeom prst="line">
            <a:avLst/>
          </a:prstGeom>
          <a:noFill/>
          <a:ln w="27940">
            <a:solidFill>
              <a:srgbClr val="C8D6CE">
                <a:alpha val="8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28432" y="3401568"/>
            <a:ext cx="1353312" cy="-932688"/>
          </a:xfrm>
          <a:prstGeom prst="line">
            <a:avLst/>
          </a:prstGeom>
          <a:noFill/>
          <a:ln w="27940">
            <a:solidFill>
              <a:srgbClr val="C8D6CE">
                <a:alpha val="8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29400" y="1417320"/>
            <a:ext cx="1536192" cy="658368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2E9BD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75704" y="1563624"/>
            <a:ext cx="146304" cy="146304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013448" y="1508760"/>
            <a:ext cx="1033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13448" y="1755648"/>
            <a:ext cx="10332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исходная запись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394192" y="2139696"/>
            <a:ext cx="1600200" cy="658368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540496" y="22860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778240" y="2231136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производная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778240" y="2478024"/>
            <a:ext cx="1097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 / индекс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973568" y="3346704"/>
            <a:ext cx="1572768" cy="658368"/>
          </a:xfrm>
          <a:prstGeom prst="roundRect">
            <a:avLst/>
          </a:prstGeom>
          <a:solidFill>
            <a:srgbClr val="F5D2C8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19872" y="3493008"/>
            <a:ext cx="146304" cy="146304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57616" y="3438144"/>
            <a:ext cx="1069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возврат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357616" y="3685032"/>
            <a:ext cx="10698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/ восстановление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309360" y="3438144"/>
            <a:ext cx="1463040" cy="658368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7077D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55664" y="3584448"/>
            <a:ext cx="146304" cy="146304"/>
          </a:xfrm>
          <a:prstGeom prst="ellipse">
            <a:avLst/>
          </a:prstGeom>
          <a:solidFill>
            <a:srgbClr val="7077D7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693408" y="3529584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693408" y="3776472"/>
            <a:ext cx="9601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квитанция + повтор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915400" y="4434840"/>
            <a:ext cx="1993392" cy="694944"/>
          </a:xfrm>
          <a:prstGeom prst="roundRect">
            <a:avLst/>
          </a:prstGeom>
          <a:solidFill>
            <a:srgbClr val="173F38"/>
          </a:solidFill>
          <a:ln w="12700">
            <a:solidFill>
              <a:srgbClr val="173F3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915400" y="4645152"/>
            <a:ext cx="19933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786384" y="601675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3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 путь, а не обещание «удалено».</a:t>
            </a:r>
            <a:endParaRPr lang="en-US" sz="1230" dirty="0"/>
          </a:p>
        </p:txBody>
      </p:sp>
      <p:sp>
        <p:nvSpPr>
          <p:cNvPr id="38" name="Text 36"/>
          <p:cNvSpPr txBox="1"/>
          <p:nvPr/>
        </p:nvSpPr>
        <p:spPr>
          <a:xfrm>
            <a:off x="749808" y="6601968"/>
            <a:ext cx="5212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Білім-инновация  ·  руководитель Смағұл Ерзат Айдынұлы</a:t>
            </a:r>
            <a:endParaRPr lang="en-US" sz="720" dirty="0"/>
          </a:p>
        </p:txBody>
      </p:sp>
      <p:sp>
        <p:nvSpPr>
          <p:cNvPr id="39" name="Text 37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F5D2C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ПРОБЛЕМА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Проблема: запись не живёт в одном месте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Копии, производные и отложенные задачи создают скрытый путь назад.</a:t>
            </a:r>
            <a:endParaRPr lang="en-US" sz="1330" dirty="0"/>
          </a:p>
        </p:txBody>
      </p:sp>
      <p:sp>
        <p:nvSpPr>
          <p:cNvPr id="12" name="Shape 10"/>
          <p:cNvSpPr/>
          <p:nvPr/>
        </p:nvSpPr>
        <p:spPr>
          <a:xfrm>
            <a:off x="768096" y="2029968"/>
            <a:ext cx="1371600" cy="228600"/>
          </a:xfrm>
          <a:prstGeom prst="roundRect">
            <a:avLst/>
          </a:prstGeom>
          <a:solidFill>
            <a:srgbClr val="E2F0E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59536" y="2057400"/>
            <a:ext cx="11887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5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ПЕРСОНА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859536" y="2542032"/>
            <a:ext cx="246888" cy="246888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261872" y="2450592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Исходная запись</a:t>
            </a:r>
            <a:endParaRPr lang="en-US" sz="132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26974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/ аккаунт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978408" y="2798064"/>
            <a:ext cx="0" cy="438912"/>
          </a:xfrm>
          <a:prstGeom prst="line">
            <a:avLst/>
          </a:prstGeom>
          <a:noFill/>
          <a:ln w="19050">
            <a:solidFill>
              <a:srgbClr val="C8D6CE">
                <a:alpha val="96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59536" y="3054096"/>
            <a:ext cx="246888" cy="246888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261872" y="2962656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Биометрический шаблон</a:t>
            </a:r>
            <a:endParaRPr lang="en-US" sz="1320" dirty="0"/>
          </a:p>
        </p:txBody>
      </p:sp>
      <p:sp>
        <p:nvSpPr>
          <p:cNvPr id="20" name="Text 18"/>
          <p:cNvSpPr txBox="1"/>
          <p:nvPr/>
        </p:nvSpPr>
        <p:spPr>
          <a:xfrm>
            <a:off x="1261872" y="3209544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биометрический вектор</a:t>
            </a:r>
            <a:endParaRPr lang="en-US" sz="930" dirty="0"/>
          </a:p>
        </p:txBody>
      </p:sp>
      <p:sp>
        <p:nvSpPr>
          <p:cNvPr id="21" name="Shape 19"/>
          <p:cNvSpPr/>
          <p:nvPr/>
        </p:nvSpPr>
        <p:spPr>
          <a:xfrm>
            <a:off x="978408" y="3310128"/>
            <a:ext cx="0" cy="438912"/>
          </a:xfrm>
          <a:prstGeom prst="line">
            <a:avLst/>
          </a:prstGeom>
          <a:noFill/>
          <a:ln w="19050">
            <a:solidFill>
              <a:srgbClr val="C8D6CE">
                <a:alpha val="96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9536" y="3566160"/>
            <a:ext cx="246888" cy="246888"/>
          </a:xfrm>
          <a:prstGeom prst="ellipse">
            <a:avLst/>
          </a:prstGeom>
          <a:solidFill>
            <a:srgbClr val="D49B4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261872" y="3474720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Кэш и реплика</a:t>
            </a:r>
            <a:endParaRPr lang="en-US" sz="1320" dirty="0"/>
          </a:p>
        </p:txBody>
      </p:sp>
      <p:sp>
        <p:nvSpPr>
          <p:cNvPr id="24" name="Text 22"/>
          <p:cNvSpPr txBox="1"/>
          <p:nvPr/>
        </p:nvSpPr>
        <p:spPr>
          <a:xfrm>
            <a:off x="1261872" y="3721608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быстрый путь чтения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978408" y="3822192"/>
            <a:ext cx="0" cy="438912"/>
          </a:xfrm>
          <a:prstGeom prst="line">
            <a:avLst/>
          </a:prstGeom>
          <a:noFill/>
          <a:ln w="19050">
            <a:solidFill>
              <a:srgbClr val="C8D6CE">
                <a:alpha val="9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9536" y="4078224"/>
            <a:ext cx="246888" cy="246888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261872" y="3986784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 / восстановление</a:t>
            </a:r>
            <a:endParaRPr lang="en-US" sz="1320" dirty="0"/>
          </a:p>
        </p:txBody>
      </p:sp>
      <p:sp>
        <p:nvSpPr>
          <p:cNvPr id="28" name="Text 26"/>
          <p:cNvSpPr txBox="1"/>
          <p:nvPr/>
        </p:nvSpPr>
        <p:spPr>
          <a:xfrm>
            <a:off x="1261872" y="423367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отложенная копия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978408" y="4334256"/>
            <a:ext cx="0" cy="438912"/>
          </a:xfrm>
          <a:prstGeom prst="line">
            <a:avLst/>
          </a:prstGeom>
          <a:noFill/>
          <a:ln w="19050">
            <a:solidFill>
              <a:srgbClr val="C8D6CE">
                <a:alpha val="9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" y="4590288"/>
            <a:ext cx="246888" cy="246888"/>
          </a:xfrm>
          <a:prstGeom prst="ellipse">
            <a:avLst/>
          </a:prstGeom>
          <a:solidFill>
            <a:srgbClr val="7077D7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1261872" y="4498848"/>
            <a:ext cx="2423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Влияние на модель</a:t>
            </a:r>
            <a:endParaRPr lang="en-US" sz="1320" dirty="0"/>
          </a:p>
        </p:txBody>
      </p:sp>
      <p:sp>
        <p:nvSpPr>
          <p:cNvPr id="32" name="Text 30"/>
          <p:cNvSpPr txBox="1"/>
          <p:nvPr/>
        </p:nvSpPr>
        <p:spPr>
          <a:xfrm>
            <a:off x="1261872" y="4745736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сигнал в модели</a:t>
            </a:r>
            <a:endParaRPr lang="en-US" sz="93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5340096"/>
            <a:ext cx="3063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D5B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человек → несколько представлений данных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68096" y="575157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Удаление одной строки не закрывает весь граф.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389120" y="2029968"/>
            <a:ext cx="6995160" cy="379476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754880" y="2313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Скрытый путь назад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4754880" y="2670048"/>
            <a:ext cx="5212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производное осталось, запись можно восстановить снова.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5669280" y="3858768"/>
            <a:ext cx="1536192" cy="-640080"/>
          </a:xfrm>
          <a:prstGeom prst="line">
            <a:avLst/>
          </a:prstGeom>
          <a:noFill/>
          <a:ln w="27940">
            <a:solidFill>
              <a:srgbClr val="C8D6CE">
                <a:alpha val="9500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05472" y="3218688"/>
            <a:ext cx="1481328" cy="658368"/>
          </a:xfrm>
          <a:prstGeom prst="line">
            <a:avLst/>
          </a:prstGeom>
          <a:noFill/>
          <a:ln w="27940">
            <a:solidFill>
              <a:srgbClr val="C8D6CE">
                <a:alpha val="9500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0" y="3858768"/>
            <a:ext cx="1261872" cy="932688"/>
          </a:xfrm>
          <a:prstGeom prst="line">
            <a:avLst/>
          </a:prstGeom>
          <a:noFill/>
          <a:ln w="27940">
            <a:solidFill>
              <a:srgbClr val="C8D6CE">
                <a:alpha val="9500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931152" y="4718304"/>
            <a:ext cx="1755648" cy="-877824"/>
          </a:xfrm>
          <a:prstGeom prst="line">
            <a:avLst/>
          </a:prstGeom>
          <a:noFill/>
          <a:ln w="27940">
            <a:solidFill>
              <a:srgbClr val="C8D6CE">
                <a:alpha val="9500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166360" y="3529584"/>
            <a:ext cx="1554480" cy="658368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2E9BD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12664" y="3675888"/>
            <a:ext cx="146304" cy="146304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550408" y="3621024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5550408" y="3867912"/>
            <a:ext cx="1051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аккаунта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6876288" y="2926080"/>
            <a:ext cx="1737360" cy="658368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022592" y="3072384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7260336" y="3017520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7260336" y="3264408"/>
            <a:ext cx="12344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лицо / признаки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641080" y="3529584"/>
            <a:ext cx="1508760" cy="658368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D49B4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787384" y="3675888"/>
            <a:ext cx="146304" cy="146304"/>
          </a:xfrm>
          <a:prstGeom prst="ellipse">
            <a:avLst/>
          </a:prstGeom>
          <a:solidFill>
            <a:srgbClr val="D49B43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9025128" y="3621024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кэш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9025128" y="3867912"/>
            <a:ext cx="10058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реплика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6629400" y="4498848"/>
            <a:ext cx="1755648" cy="658368"/>
          </a:xfrm>
          <a:prstGeom prst="roundRect">
            <a:avLst/>
          </a:prstGeom>
          <a:solidFill>
            <a:srgbClr val="F5D2C8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775704" y="4645152"/>
            <a:ext cx="146304" cy="146304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013448" y="4590288"/>
            <a:ext cx="1252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7013448" y="4837176"/>
            <a:ext cx="125272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восстановление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4828032" y="5248656"/>
            <a:ext cx="6099048" cy="347472"/>
          </a:xfrm>
          <a:prstGeom prst="roundRect">
            <a:avLst/>
          </a:prstGeom>
          <a:solidFill>
            <a:srgbClr val="F5D2C8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5029200" y="5340096"/>
            <a:ext cx="5715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«DELETE 200 OK»  ≠  данные исчезли</a:t>
            </a:r>
            <a:endParaRPr lang="en-US" sz="11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CBE4D6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МЕТОД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алгоритм. Пять вопросов.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Модули помогают аудиту, но публичный объект — один понятный вердикт EraSeMap.</a:t>
            </a:r>
            <a:endParaRPr lang="en-US" sz="1330" dirty="0"/>
          </a:p>
        </p:txBody>
      </p:sp>
      <p:sp>
        <p:nvSpPr>
          <p:cNvPr id="12" name="Shape 10"/>
          <p:cNvSpPr/>
          <p:nvPr/>
        </p:nvSpPr>
        <p:spPr>
          <a:xfrm>
            <a:off x="2295144" y="3703320"/>
            <a:ext cx="694944" cy="0"/>
          </a:xfrm>
          <a:prstGeom prst="line">
            <a:avLst/>
          </a:prstGeom>
          <a:noFill/>
          <a:ln w="3048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" y="2907792"/>
            <a:ext cx="1572768" cy="9326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2E9BD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41832" y="3090672"/>
            <a:ext cx="256032" cy="256032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3127248"/>
            <a:ext cx="228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30" dirty="0"/>
          </a:p>
        </p:txBody>
      </p:sp>
      <p:sp>
        <p:nvSpPr>
          <p:cNvPr id="16" name="Text 14"/>
          <p:cNvSpPr txBox="1"/>
          <p:nvPr/>
        </p:nvSpPr>
        <p:spPr>
          <a:xfrm>
            <a:off x="1271016" y="3072384"/>
            <a:ext cx="93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1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существует?</a:t>
            </a:r>
            <a:endParaRPr lang="en-US" sz="1210" dirty="0"/>
          </a:p>
        </p:txBody>
      </p:sp>
      <p:sp>
        <p:nvSpPr>
          <p:cNvPr id="17" name="Text 15"/>
          <p:cNvSpPr txBox="1"/>
          <p:nvPr/>
        </p:nvSpPr>
        <p:spPr>
          <a:xfrm>
            <a:off x="941832" y="404164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копий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4517136" y="3703320"/>
            <a:ext cx="694944" cy="0"/>
          </a:xfrm>
          <a:prstGeom prst="line">
            <a:avLst/>
          </a:prstGeom>
          <a:noFill/>
          <a:ln w="3048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08376" y="2907792"/>
            <a:ext cx="1572768" cy="9326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3824" y="3090672"/>
            <a:ext cx="256032" cy="256032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182112" y="3127248"/>
            <a:ext cx="228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30" dirty="0"/>
          </a:p>
        </p:txBody>
      </p:sp>
      <p:sp>
        <p:nvSpPr>
          <p:cNvPr id="22" name="Text 20"/>
          <p:cNvSpPr txBox="1"/>
          <p:nvPr/>
        </p:nvSpPr>
        <p:spPr>
          <a:xfrm>
            <a:off x="3493008" y="3072384"/>
            <a:ext cx="93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1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путь назад?</a:t>
            </a:r>
            <a:endParaRPr lang="en-US" sz="1210" dirty="0"/>
          </a:p>
        </p:txBody>
      </p:sp>
      <p:sp>
        <p:nvSpPr>
          <p:cNvPr id="23" name="Text 21"/>
          <p:cNvSpPr txBox="1"/>
          <p:nvPr/>
        </p:nvSpPr>
        <p:spPr>
          <a:xfrm>
            <a:off x="3163824" y="404164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активные пробы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6739128" y="3703320"/>
            <a:ext cx="694944" cy="0"/>
          </a:xfrm>
          <a:prstGeom prst="line">
            <a:avLst/>
          </a:prstGeom>
          <a:noFill/>
          <a:ln w="3048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230368" y="2907792"/>
            <a:ext cx="1572768" cy="9326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D49B4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385816" y="3090672"/>
            <a:ext cx="256032" cy="256032"/>
          </a:xfrm>
          <a:prstGeom prst="ellipse">
            <a:avLst/>
          </a:prstGeom>
          <a:solidFill>
            <a:srgbClr val="D49B4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04104" y="3127248"/>
            <a:ext cx="228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30" dirty="0"/>
          </a:p>
        </p:txBody>
      </p:sp>
      <p:sp>
        <p:nvSpPr>
          <p:cNvPr id="28" name="Text 26"/>
          <p:cNvSpPr txBox="1"/>
          <p:nvPr/>
        </p:nvSpPr>
        <p:spPr>
          <a:xfrm>
            <a:off x="5715000" y="3072384"/>
            <a:ext cx="93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1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удалить?</a:t>
            </a:r>
            <a:endParaRPr lang="en-US" sz="1210" dirty="0"/>
          </a:p>
        </p:txBody>
      </p:sp>
      <p:sp>
        <p:nvSpPr>
          <p:cNvPr id="29" name="Text 27"/>
          <p:cNvSpPr txBox="1"/>
          <p:nvPr/>
        </p:nvSpPr>
        <p:spPr>
          <a:xfrm>
            <a:off x="5385816" y="404164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минимальный план</a:t>
            </a:r>
            <a:endParaRPr lang="en-US" sz="960" dirty="0"/>
          </a:p>
        </p:txBody>
      </p:sp>
      <p:sp>
        <p:nvSpPr>
          <p:cNvPr id="30" name="Shape 28"/>
          <p:cNvSpPr/>
          <p:nvPr/>
        </p:nvSpPr>
        <p:spPr>
          <a:xfrm>
            <a:off x="8961120" y="3703320"/>
            <a:ext cx="694944" cy="0"/>
          </a:xfrm>
          <a:prstGeom prst="line">
            <a:avLst/>
          </a:prstGeom>
          <a:noFill/>
          <a:ln w="3048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52360" y="2907792"/>
            <a:ext cx="1572768" cy="9326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07808" y="3090672"/>
            <a:ext cx="256032" cy="256032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626096" y="3127248"/>
            <a:ext cx="228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30" dirty="0"/>
          </a:p>
        </p:txBody>
      </p:sp>
      <p:sp>
        <p:nvSpPr>
          <p:cNvPr id="34" name="Text 32"/>
          <p:cNvSpPr txBox="1"/>
          <p:nvPr/>
        </p:nvSpPr>
        <p:spPr>
          <a:xfrm>
            <a:off x="7936992" y="3072384"/>
            <a:ext cx="93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1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будет завтра?</a:t>
            </a:r>
            <a:endParaRPr lang="en-US" sz="1210" dirty="0"/>
          </a:p>
        </p:txBody>
      </p:sp>
      <p:sp>
        <p:nvSpPr>
          <p:cNvPr id="35" name="Text 33"/>
          <p:cNvSpPr txBox="1"/>
          <p:nvPr/>
        </p:nvSpPr>
        <p:spPr>
          <a:xfrm>
            <a:off x="7607808" y="404164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во времени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9674352" y="2907792"/>
            <a:ext cx="1572768" cy="9326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7077D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829800" y="3090672"/>
            <a:ext cx="256032" cy="256032"/>
          </a:xfrm>
          <a:prstGeom prst="ellipse">
            <a:avLst/>
          </a:prstGeom>
          <a:solidFill>
            <a:srgbClr val="7077D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848088" y="3127248"/>
            <a:ext cx="2286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30" dirty="0"/>
          </a:p>
        </p:txBody>
      </p:sp>
      <p:sp>
        <p:nvSpPr>
          <p:cNvPr id="39" name="Text 37"/>
          <p:cNvSpPr txBox="1"/>
          <p:nvPr/>
        </p:nvSpPr>
        <p:spPr>
          <a:xfrm>
            <a:off x="10158984" y="3072384"/>
            <a:ext cx="932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1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доказано?</a:t>
            </a:r>
            <a:endParaRPr lang="en-US" sz="1210" dirty="0"/>
          </a:p>
        </p:txBody>
      </p:sp>
      <p:sp>
        <p:nvSpPr>
          <p:cNvPr id="40" name="Text 38"/>
          <p:cNvSpPr txBox="1"/>
          <p:nvPr/>
        </p:nvSpPr>
        <p:spPr>
          <a:xfrm>
            <a:off x="9829800" y="404164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сертификат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1243584" y="4892040"/>
            <a:ext cx="9710928" cy="530352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481328" y="5056632"/>
            <a:ext cx="9235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  →  поиск  →  минимум действий  →  проверка во времени  →  сертификат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1097280" y="5779008"/>
            <a:ext cx="10012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одна процедура с пятью проверяемыми выходами — не набор несвязанных алгоритмов.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F5D2C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ВЕРДИКТ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Сильная система умеет сказать: INCOMPLETE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путь ещё активен, EraSeMap не выдаёт ложную уверенность.</a:t>
            </a:r>
            <a:endParaRPr lang="en-US" sz="1330" dirty="0"/>
          </a:p>
        </p:txBody>
      </p:sp>
      <p:sp>
        <p:nvSpPr>
          <p:cNvPr id="12" name="Shape 10"/>
          <p:cNvSpPr/>
          <p:nvPr/>
        </p:nvSpPr>
        <p:spPr>
          <a:xfrm>
            <a:off x="786384" y="2057400"/>
            <a:ext cx="3794760" cy="3474720"/>
          </a:xfrm>
          <a:prstGeom prst="roundRect">
            <a:avLst/>
          </a:prstGeom>
          <a:solidFill>
            <a:srgbClr val="F5D2C8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60704" y="2468880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</a:t>
            </a:r>
            <a:endParaRPr lang="en-US" sz="31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127248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Найден путь восстановления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1554480" y="4041648"/>
            <a:ext cx="914400" cy="0"/>
          </a:xfrm>
          <a:prstGeom prst="line">
            <a:avLst/>
          </a:prstGeom>
          <a:noFill/>
          <a:ln w="38100">
            <a:solidFill>
              <a:srgbClr val="E8795E">
                <a:alpha val="97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68880" y="4041648"/>
            <a:ext cx="804672" cy="0"/>
          </a:xfrm>
          <a:prstGeom prst="line">
            <a:avLst/>
          </a:prstGeom>
          <a:noFill/>
          <a:ln w="38100">
            <a:solidFill>
              <a:srgbClr val="E8795E">
                <a:alpha val="97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98448" y="3913632"/>
            <a:ext cx="256032" cy="256032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18" name="Shape 16"/>
          <p:cNvSpPr/>
          <p:nvPr/>
        </p:nvSpPr>
        <p:spPr>
          <a:xfrm>
            <a:off x="3273552" y="3913632"/>
            <a:ext cx="256032" cy="256032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60704" y="434340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072384" y="434340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" y="484632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20" b="1" dirty="0">
                <a:solidFill>
                  <a:srgbClr val="2D5B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План удаления ещё не закрыл</a:t>
            </a:r>
            <a:endParaRPr lang="en-US" sz="1320" dirty="0"/>
          </a:p>
          <a:p>
            <a:pPr algn="ctr" indent="0" marL="0">
              <a:buNone/>
            </a:pPr>
            <a:r>
              <a:rPr lang="en-US" sz="1320" b="1" dirty="0">
                <a:solidFill>
                  <a:srgbClr val="2D5B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производный шаблон.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5074920" y="2057400"/>
            <a:ext cx="6327648" cy="347472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40680" y="246888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только если</a:t>
            </a:r>
            <a:endParaRPr lang="en-US" sz="2100" dirty="0"/>
          </a:p>
        </p:txBody>
      </p:sp>
      <p:sp>
        <p:nvSpPr>
          <p:cNvPr id="24" name="Text 22"/>
          <p:cNvSpPr txBox="1"/>
          <p:nvPr/>
        </p:nvSpPr>
        <p:spPr>
          <a:xfrm>
            <a:off x="5559552" y="3054096"/>
            <a:ext cx="53492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7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  ∧  D  ∧  T</a:t>
            </a:r>
            <a:endParaRPr lang="en-US" sz="3700" dirty="0"/>
          </a:p>
        </p:txBody>
      </p:sp>
      <p:sp>
        <p:nvSpPr>
          <p:cNvPr id="25" name="Shape 23"/>
          <p:cNvSpPr/>
          <p:nvPr/>
        </p:nvSpPr>
        <p:spPr>
          <a:xfrm>
            <a:off x="5961888" y="3977640"/>
            <a:ext cx="310896" cy="310896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61888" y="40690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468112" y="44074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физическое</a:t>
            </a:r>
            <a:endParaRPr lang="en-US" sz="1030" dirty="0"/>
          </a:p>
        </p:txBody>
      </p:sp>
      <p:sp>
        <p:nvSpPr>
          <p:cNvPr id="28" name="Text 26"/>
          <p:cNvSpPr txBox="1"/>
          <p:nvPr/>
        </p:nvSpPr>
        <p:spPr>
          <a:xfrm>
            <a:off x="5468112" y="469087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пути закрыты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7900416" y="3977640"/>
            <a:ext cx="310896" cy="310896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900416" y="40690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406640" y="44074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производное</a:t>
            </a:r>
            <a:endParaRPr lang="en-US" sz="1030" dirty="0"/>
          </a:p>
        </p:txBody>
      </p:sp>
      <p:sp>
        <p:nvSpPr>
          <p:cNvPr id="32" name="Text 30"/>
          <p:cNvSpPr txBox="1"/>
          <p:nvPr/>
        </p:nvSpPr>
        <p:spPr>
          <a:xfrm>
            <a:off x="7406640" y="469087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шаблоны + индексы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9838944" y="3977640"/>
            <a:ext cx="310896" cy="3108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838944" y="40690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9345168" y="440740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временное</a:t>
            </a:r>
            <a:endParaRPr lang="en-US" sz="1030" dirty="0"/>
          </a:p>
        </p:txBody>
      </p:sp>
      <p:sp>
        <p:nvSpPr>
          <p:cNvPr id="36" name="Text 34"/>
          <p:cNvSpPr txBox="1"/>
          <p:nvPr/>
        </p:nvSpPr>
        <p:spPr>
          <a:xfrm>
            <a:off x="9345168" y="469087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 не вернёт данные</a:t>
            </a:r>
            <a:endParaRPr lang="en-US" sz="8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CBE4D6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ПРИМЕР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запрос: как EraSeMap проверяет удаление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просит удалить биометрический шаблон. Система проходит пять шагов, прежде чем сказать «готово».</a:t>
            </a:r>
            <a:endParaRPr lang="en-US" sz="1330" dirty="0"/>
          </a:p>
        </p:txBody>
      </p:sp>
      <p:sp>
        <p:nvSpPr>
          <p:cNvPr id="12" name="Shape 10"/>
          <p:cNvSpPr/>
          <p:nvPr/>
        </p:nvSpPr>
        <p:spPr>
          <a:xfrm>
            <a:off x="2249424" y="3447288"/>
            <a:ext cx="804672" cy="0"/>
          </a:xfrm>
          <a:prstGeom prst="line">
            <a:avLst/>
          </a:prstGeom>
          <a:noFill/>
          <a:ln w="29210">
            <a:solidFill>
              <a:srgbClr val="C8D6CE">
                <a:alpha val="91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43584" y="2834640"/>
            <a:ext cx="749808" cy="749808"/>
          </a:xfrm>
          <a:prstGeom prst="ellipse">
            <a:avLst/>
          </a:prstGeom>
          <a:solidFill>
            <a:srgbClr val="2E9BD5"/>
          </a:solidFill>
          <a:ln w="12700">
            <a:solidFill>
              <a:srgbClr val="2E9BD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41248" y="3721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Запрос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40416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просит удалить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71416" y="3447288"/>
            <a:ext cx="804672" cy="0"/>
          </a:xfrm>
          <a:prstGeom prst="line">
            <a:avLst/>
          </a:prstGeom>
          <a:noFill/>
          <a:ln w="29210">
            <a:solidFill>
              <a:srgbClr val="C8D6CE">
                <a:alpha val="91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65576" y="2834640"/>
            <a:ext cx="749808" cy="749808"/>
          </a:xfrm>
          <a:prstGeom prst="ellipse">
            <a:avLst/>
          </a:prstGeom>
          <a:solidFill>
            <a:srgbClr val="079E94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63240" y="3721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Карта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063240" y="40416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лежат копии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693408" y="3447288"/>
            <a:ext cx="804672" cy="0"/>
          </a:xfrm>
          <a:prstGeom prst="line">
            <a:avLst/>
          </a:prstGeom>
          <a:noFill/>
          <a:ln w="29210">
            <a:solidFill>
              <a:srgbClr val="C8D6CE">
                <a:alpha val="91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687568" y="2834640"/>
            <a:ext cx="749808" cy="749808"/>
          </a:xfrm>
          <a:prstGeom prst="ellipse">
            <a:avLst/>
          </a:prstGeom>
          <a:solidFill>
            <a:srgbClr val="D49B43"/>
          </a:solidFill>
          <a:ln w="12700">
            <a:solidFill>
              <a:srgbClr val="D49B4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85232" y="3721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Закрытие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285232" y="40416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закрываем нужные артефакты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915400" y="3447288"/>
            <a:ext cx="804672" cy="0"/>
          </a:xfrm>
          <a:prstGeom prst="line">
            <a:avLst/>
          </a:prstGeom>
          <a:noFill/>
          <a:ln w="29210">
            <a:solidFill>
              <a:srgbClr val="C8D6CE">
                <a:alpha val="91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09560" y="2834640"/>
            <a:ext cx="749808" cy="749808"/>
          </a:xfrm>
          <a:prstGeom prst="ellipse">
            <a:avLst/>
          </a:prstGeom>
          <a:solidFill>
            <a:srgbClr val="E8795E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507224" y="3721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507224" y="40416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проба + время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0131552" y="2834640"/>
            <a:ext cx="749808" cy="749808"/>
          </a:xfrm>
          <a:prstGeom prst="ellipse">
            <a:avLst/>
          </a:prstGeom>
          <a:solidFill>
            <a:srgbClr val="7077D7"/>
          </a:solidFill>
          <a:ln w="12700">
            <a:solidFill>
              <a:srgbClr val="7077D7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729216" y="372160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Вердикт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9729216" y="404164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/ INCOMPLETE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188720" y="4882896"/>
            <a:ext cx="4370832" cy="59436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1417320" y="5074920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⇔ все известные пути закрыты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062472" y="4882896"/>
            <a:ext cx="4892040" cy="594360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09360" y="5074920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7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= риск найден</a:t>
            </a:r>
            <a:endParaRPr lang="en-US" sz="1270" dirty="0"/>
          </a:p>
        </p:txBody>
      </p:sp>
      <p:sp>
        <p:nvSpPr>
          <p:cNvPr id="35" name="Text 33"/>
          <p:cNvSpPr txBox="1"/>
          <p:nvPr/>
        </p:nvSpPr>
        <p:spPr>
          <a:xfrm>
            <a:off x="1005840" y="5888736"/>
            <a:ext cx="10241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Если путь неизвестен или риск найден — EraSeMap не говорит «готово».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F5D2C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540000">
            <a:off x="0" y="6236208"/>
            <a:ext cx="1920240" cy="530352"/>
          </a:xfrm>
          <a:prstGeom prst="ellipse">
            <a:avLst/>
          </a:prstGeom>
          <a:solidFill>
            <a:srgbClr val="CBE4D6">
              <a:alpha val="3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ДОКАЗАТЕЛЬСТВА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1 / ложное «ГОТОВО»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Безопасность: false-COMPLETE — система сказала «готово», хотя данные ещё можно восстановить. Ниже — лучше.</a:t>
            </a:r>
            <a:endParaRPr lang="en-US" sz="1330" dirty="0"/>
          </a:p>
        </p:txBody>
      </p:sp>
      <p:sp>
        <p:nvSpPr>
          <p:cNvPr id="13" name="Shape 11"/>
          <p:cNvSpPr/>
          <p:nvPr/>
        </p:nvSpPr>
        <p:spPr>
          <a:xfrm>
            <a:off x="768096" y="1993392"/>
            <a:ext cx="8394192" cy="36758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121408"/>
            <a:ext cx="2423160" cy="246888"/>
          </a:xfrm>
          <a:prstGeom prst="roundRect">
            <a:avLst/>
          </a:prstGeom>
          <a:solidFill>
            <a:srgbClr val="173F3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2157984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БЕЗОПАСНОСТЬ  ·  НИЖЕ ЛУЧШЕ</a:t>
            </a:r>
            <a:endParaRPr lang="en-US" sz="820" dirty="0"/>
          </a:p>
        </p:txBody>
      </p:sp>
      <p:pic>
        <p:nvPicPr>
          <p:cNvPr id="16" name="Image 0" descr="Крупное сравнение false COMPLE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488468"/>
            <a:ext cx="8065008" cy="28960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491472" y="22128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60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9491472" y="256032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открытый перенос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9491472" y="3246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75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9491472" y="359359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исходный протокол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9491472" y="42793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9B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20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9491472" y="46268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повторная проверка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491472" y="5166360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Ограниченный протокол;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заявление о внедрении.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CBE4D6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ДОКАЗАТЕЛЬСТВА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2 / эффективность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задача удаления: стоимость действий, время, байты и успешное завершение. Ниже — лучше.</a:t>
            </a:r>
            <a:endParaRPr lang="en-US" sz="1330" dirty="0"/>
          </a:p>
        </p:txBody>
      </p:sp>
      <p:sp>
        <p:nvSpPr>
          <p:cNvPr id="12" name="Shape 10"/>
          <p:cNvSpPr/>
          <p:nvPr/>
        </p:nvSpPr>
        <p:spPr>
          <a:xfrm>
            <a:off x="768096" y="1993392"/>
            <a:ext cx="8650224" cy="365760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121408"/>
            <a:ext cx="2423160" cy="246888"/>
          </a:xfrm>
          <a:prstGeom prst="roundRect">
            <a:avLst/>
          </a:prstGeom>
          <a:solidFill>
            <a:srgbClr val="173F3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2157984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 ·  ВРЕМЯ  ·  БАЙТЫ  ·  НИЖЕ ЛУЧШЕ</a:t>
            </a:r>
            <a:endParaRPr lang="en-US" sz="820" dirty="0"/>
          </a:p>
        </p:txBody>
      </p:sp>
      <p:pic>
        <p:nvPicPr>
          <p:cNvPr id="15" name="Image 0" descr="Крупное сравнение стоимости, времени и байто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2618463"/>
            <a:ext cx="8321040" cy="2471467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9674352" y="221284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17.64×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9674352" y="256032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быстрее полной пересборки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9674352" y="3246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−94.62%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9674352" y="3593592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перезаписанные байты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674352" y="42793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E9BD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9674352" y="462686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средняя стоимость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9592056" y="5175504"/>
            <a:ext cx="2057400" cy="457200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710928" y="528523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Сначала safety,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потом оптимизация.</a:t>
            </a:r>
            <a:endParaRPr lang="en-US" sz="10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F5D2C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ДОКАЗАТЕЛЬСТВА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3 / поиск скрытого пути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Активная проба сокращает пространство гипотез после каждого ответа системы восстановления.</a:t>
            </a:r>
            <a:endParaRPr lang="en-US" sz="1330" dirty="0"/>
          </a:p>
        </p:txBody>
      </p:sp>
      <p:sp>
        <p:nvSpPr>
          <p:cNvPr id="12" name="Shape 10"/>
          <p:cNvSpPr/>
          <p:nvPr/>
        </p:nvSpPr>
        <p:spPr>
          <a:xfrm>
            <a:off x="768096" y="1993392"/>
            <a:ext cx="7571232" cy="36758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121408"/>
            <a:ext cx="2423160" cy="246888"/>
          </a:xfrm>
          <a:prstGeom prst="roundRect">
            <a:avLst/>
          </a:prstGeom>
          <a:solidFill>
            <a:srgbClr val="173F3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2157984"/>
            <a:ext cx="2240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spc="2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ПОИСК ПУТИ  ·  НИЖЕ ЛУЧШЕ</a:t>
            </a:r>
            <a:endParaRPr lang="en-US" sz="820" dirty="0"/>
          </a:p>
        </p:txBody>
      </p:sp>
      <p:pic>
        <p:nvPicPr>
          <p:cNvPr id="15" name="Image 0" descr="Крупное сравнение активных про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680657"/>
            <a:ext cx="7223760" cy="2593966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8577072" y="1993392"/>
            <a:ext cx="2834640" cy="36758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851392" y="23317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это важно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887968" y="296265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19" name="Text 16"/>
          <p:cNvSpPr txBox="1"/>
          <p:nvPr/>
        </p:nvSpPr>
        <p:spPr>
          <a:xfrm>
            <a:off x="9555480" y="3035808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887968" y="3529584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9555480" y="36027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случайный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8887968" y="4096512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9555480" y="4169664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перебор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851392" y="5266944"/>
            <a:ext cx="2286000" cy="365760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961120" y="5358384"/>
            <a:ext cx="2066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/ 50 новых семейств вне разработки</a:t>
            </a:r>
            <a:endParaRPr lang="en-US" sz="8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CBE4D6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ДОКАЗАТЕЛЬСТВА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4 / итог по критериям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независимых критерия — не единый сводный балл.</a:t>
            </a:r>
            <a:endParaRPr lang="en-US" sz="1330" dirty="0"/>
          </a:p>
        </p:txBody>
      </p:sp>
      <p:sp>
        <p:nvSpPr>
          <p:cNvPr id="12" name="Shape 10"/>
          <p:cNvSpPr/>
          <p:nvPr/>
        </p:nvSpPr>
        <p:spPr>
          <a:xfrm>
            <a:off x="768096" y="1993392"/>
            <a:ext cx="7735824" cy="36758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22860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EraSeMap лучше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097280" y="2670048"/>
            <a:ext cx="7086600" cy="65836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61872" y="2852928"/>
            <a:ext cx="256032" cy="256032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664208" y="277977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Безопасность</a:t>
            </a:r>
            <a:endParaRPr lang="en-US" sz="1120" dirty="0"/>
          </a:p>
        </p:txBody>
      </p:sp>
      <p:sp>
        <p:nvSpPr>
          <p:cNvPr id="17" name="Text 15"/>
          <p:cNvSpPr txBox="1"/>
          <p:nvPr/>
        </p:nvSpPr>
        <p:spPr>
          <a:xfrm>
            <a:off x="1664208" y="3017520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ложное «ГОТОВО» ↓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794760" y="2779776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</a:t>
            </a:r>
            <a:endParaRPr lang="en-US" sz="870" dirty="0"/>
          </a:p>
        </p:txBody>
      </p:sp>
      <p:sp>
        <p:nvSpPr>
          <p:cNvPr id="19" name="Text 17"/>
          <p:cNvSpPr txBox="1"/>
          <p:nvPr/>
        </p:nvSpPr>
        <p:spPr>
          <a:xfrm>
            <a:off x="4901184" y="2743200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100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897880" y="2999232"/>
            <a:ext cx="320040" cy="0"/>
          </a:xfrm>
          <a:prstGeom prst="line">
            <a:avLst/>
          </a:prstGeom>
          <a:noFill/>
          <a:ln w="17780">
            <a:solidFill>
              <a:srgbClr val="C8D6C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36208" y="2779776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чек-лист</a:t>
            </a:r>
            <a:endParaRPr lang="en-US" sz="870" dirty="0"/>
          </a:p>
        </p:txBody>
      </p:sp>
      <p:sp>
        <p:nvSpPr>
          <p:cNvPr id="22" name="Text 20"/>
          <p:cNvSpPr txBox="1"/>
          <p:nvPr/>
        </p:nvSpPr>
        <p:spPr>
          <a:xfrm>
            <a:off x="7205472" y="2743200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D5B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/ 100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097280" y="3383280"/>
            <a:ext cx="7086600" cy="65836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61872" y="3566160"/>
            <a:ext cx="256032" cy="256032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664208" y="3493008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Будущая регенерация</a:t>
            </a:r>
            <a:endParaRPr lang="en-US" sz="1120" dirty="0"/>
          </a:p>
        </p:txBody>
      </p:sp>
      <p:sp>
        <p:nvSpPr>
          <p:cNvPr id="26" name="Text 24"/>
          <p:cNvSpPr txBox="1"/>
          <p:nvPr/>
        </p:nvSpPr>
        <p:spPr>
          <a:xfrm>
            <a:off x="1664208" y="3730752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найденные риски ↑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794760" y="3493008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</a:t>
            </a:r>
            <a:endParaRPr lang="en-US" sz="870" dirty="0"/>
          </a:p>
        </p:txBody>
      </p:sp>
      <p:sp>
        <p:nvSpPr>
          <p:cNvPr id="28" name="Text 26"/>
          <p:cNvSpPr txBox="1"/>
          <p:nvPr/>
        </p:nvSpPr>
        <p:spPr>
          <a:xfrm>
            <a:off x="4901184" y="3456432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30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897880" y="3712464"/>
            <a:ext cx="320040" cy="0"/>
          </a:xfrm>
          <a:prstGeom prst="line">
            <a:avLst/>
          </a:prstGeom>
          <a:noFill/>
          <a:ln w="17780">
            <a:solidFill>
              <a:srgbClr val="C8D6C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236208" y="3493008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снимок</a:t>
            </a:r>
            <a:endParaRPr lang="en-US" sz="870" dirty="0"/>
          </a:p>
        </p:txBody>
      </p:sp>
      <p:sp>
        <p:nvSpPr>
          <p:cNvPr id="31" name="Text 29"/>
          <p:cNvSpPr txBox="1"/>
          <p:nvPr/>
        </p:nvSpPr>
        <p:spPr>
          <a:xfrm>
            <a:off x="7205472" y="3456432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D5B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/ 30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1097280" y="4096512"/>
            <a:ext cx="7086600" cy="65836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261872" y="4279392"/>
            <a:ext cx="256032" cy="256032"/>
          </a:xfrm>
          <a:prstGeom prst="ellipse">
            <a:avLst/>
          </a:prstGeom>
          <a:solidFill>
            <a:srgbClr val="D49B4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664208" y="4206240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Стоимость действий</a:t>
            </a:r>
            <a:endParaRPr lang="en-US" sz="1120" dirty="0"/>
          </a:p>
        </p:txBody>
      </p:sp>
      <p:sp>
        <p:nvSpPr>
          <p:cNvPr id="35" name="Text 33"/>
          <p:cNvSpPr txBox="1"/>
          <p:nvPr/>
        </p:nvSpPr>
        <p:spPr>
          <a:xfrm>
            <a:off x="1664208" y="4443984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средняя стоимость ↓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3794760" y="4206240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</a:t>
            </a:r>
            <a:endParaRPr lang="en-US" sz="870" dirty="0"/>
          </a:p>
        </p:txBody>
      </p:sp>
      <p:sp>
        <p:nvSpPr>
          <p:cNvPr id="37" name="Text 35"/>
          <p:cNvSpPr txBox="1"/>
          <p:nvPr/>
        </p:nvSpPr>
        <p:spPr>
          <a:xfrm>
            <a:off x="4901184" y="4169664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5897880" y="4425696"/>
            <a:ext cx="320040" cy="0"/>
          </a:xfrm>
          <a:prstGeom prst="line">
            <a:avLst/>
          </a:prstGeom>
          <a:noFill/>
          <a:ln w="17780">
            <a:solidFill>
              <a:srgbClr val="C8D6CE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36208" y="4206240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удалить всё</a:t>
            </a:r>
            <a:endParaRPr lang="en-US" sz="870" dirty="0"/>
          </a:p>
        </p:txBody>
      </p:sp>
      <p:sp>
        <p:nvSpPr>
          <p:cNvPr id="40" name="Text 38"/>
          <p:cNvSpPr txBox="1"/>
          <p:nvPr/>
        </p:nvSpPr>
        <p:spPr>
          <a:xfrm>
            <a:off x="7205472" y="4169664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D5B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48.67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1097280" y="4809744"/>
            <a:ext cx="7086600" cy="65836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261872" y="4992624"/>
            <a:ext cx="256032" cy="256032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1664208" y="4919472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Время задачи</a:t>
            </a:r>
            <a:endParaRPr lang="en-US" sz="1120" dirty="0"/>
          </a:p>
        </p:txBody>
      </p:sp>
      <p:sp>
        <p:nvSpPr>
          <p:cNvPr id="44" name="Text 42"/>
          <p:cNvSpPr txBox="1"/>
          <p:nvPr/>
        </p:nvSpPr>
        <p:spPr>
          <a:xfrm>
            <a:off x="1664208" y="5157216"/>
            <a:ext cx="1417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норм. время ↓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3794760" y="4919472"/>
            <a:ext cx="1051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</a:t>
            </a:r>
            <a:endParaRPr lang="en-US" sz="870" dirty="0"/>
          </a:p>
        </p:txBody>
      </p:sp>
      <p:sp>
        <p:nvSpPr>
          <p:cNvPr id="46" name="Text 44"/>
          <p:cNvSpPr txBox="1"/>
          <p:nvPr/>
        </p:nvSpPr>
        <p:spPr>
          <a:xfrm>
            <a:off x="4901184" y="4882896"/>
            <a:ext cx="868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5.67%</a:t>
            </a:r>
            <a:endParaRPr lang="en-US" sz="1500" dirty="0"/>
          </a:p>
        </p:txBody>
      </p:sp>
      <p:sp>
        <p:nvSpPr>
          <p:cNvPr id="47" name="Shape 45"/>
          <p:cNvSpPr/>
          <p:nvPr/>
        </p:nvSpPr>
        <p:spPr>
          <a:xfrm>
            <a:off x="5897880" y="5138928"/>
            <a:ext cx="320040" cy="0"/>
          </a:xfrm>
          <a:prstGeom prst="line">
            <a:avLst/>
          </a:prstGeom>
          <a:noFill/>
          <a:ln w="17780">
            <a:solidFill>
              <a:srgbClr val="C8D6CE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36208" y="4919472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7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пересобрать всё</a:t>
            </a:r>
            <a:endParaRPr lang="en-US" sz="870" dirty="0"/>
          </a:p>
        </p:txBody>
      </p:sp>
      <p:sp>
        <p:nvSpPr>
          <p:cNvPr id="49" name="Text 47"/>
          <p:cNvSpPr txBox="1"/>
          <p:nvPr/>
        </p:nvSpPr>
        <p:spPr>
          <a:xfrm>
            <a:off x="7205472" y="4882896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2D5B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500" dirty="0"/>
          </a:p>
        </p:txBody>
      </p:sp>
      <p:sp>
        <p:nvSpPr>
          <p:cNvPr id="50" name="Shape 48"/>
          <p:cNvSpPr/>
          <p:nvPr/>
        </p:nvSpPr>
        <p:spPr>
          <a:xfrm>
            <a:off x="8741664" y="1993392"/>
            <a:ext cx="2670048" cy="367588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961120" y="233172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Где не заявляем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979408" y="2999232"/>
            <a:ext cx="21762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3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MUFAC не прошёл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порог полезности для</a:t>
            </a:r>
            <a:endParaRPr lang="en-US" sz="1030" dirty="0"/>
          </a:p>
          <a:p>
            <a:pPr algn="ctr" indent="0" marL="0">
              <a:buNone/>
            </a:pPr>
            <a:r>
              <a:rPr lang="en-US" sz="103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оставшихся пользователей.</a:t>
            </a:r>
            <a:endParaRPr lang="en-US" sz="1030" dirty="0"/>
          </a:p>
        </p:txBody>
      </p:sp>
      <p:sp>
        <p:nvSpPr>
          <p:cNvPr id="53" name="Shape 51"/>
          <p:cNvSpPr/>
          <p:nvPr/>
        </p:nvSpPr>
        <p:spPr>
          <a:xfrm>
            <a:off x="8979408" y="3703320"/>
            <a:ext cx="2176272" cy="384048"/>
          </a:xfrm>
          <a:prstGeom prst="roundRect">
            <a:avLst/>
          </a:prstGeom>
          <a:solidFill>
            <a:srgbClr val="F5D2C8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125712" y="3822192"/>
            <a:ext cx="18836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· полезность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8869680" y="4389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Точная пересборка сохраняет</a:t>
            </a:r>
            <a:endParaRPr lang="en-US" sz="1020" dirty="0"/>
          </a:p>
          <a:p>
            <a:pPr algn="ctr" indent="0" marL="0">
              <a:buNone/>
            </a:pPr>
            <a:r>
              <a:rPr lang="en-US" sz="102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безопасность, но не ускоряет работу.</a:t>
            </a:r>
            <a:endParaRPr lang="en-US" sz="1020" dirty="0"/>
          </a:p>
        </p:txBody>
      </p:sp>
      <p:sp>
        <p:nvSpPr>
          <p:cNvPr id="56" name="Text 54"/>
          <p:cNvSpPr txBox="1"/>
          <p:nvPr/>
        </p:nvSpPr>
        <p:spPr>
          <a:xfrm>
            <a:off x="8942832" y="5157216"/>
            <a:ext cx="22494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Метрики взяты из отдельных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экспериментов с одним протоколом.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F5D2C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540000">
            <a:off x="0" y="6236208"/>
            <a:ext cx="1920240" cy="530352"/>
          </a:xfrm>
          <a:prstGeom prst="ellipse">
            <a:avLst/>
          </a:prstGeom>
          <a:solidFill>
            <a:srgbClr val="CBE4D6">
              <a:alpha val="3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ТЕОРИЯ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1" name="Text 9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Формула вердикта и три проверяемых условия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Короткая запись облегчает объяснение; мы проверяем совместную корректность условий.</a:t>
            </a:r>
            <a:endParaRPr lang="en-US" sz="1330" dirty="0"/>
          </a:p>
        </p:txBody>
      </p:sp>
      <p:sp>
        <p:nvSpPr>
          <p:cNvPr id="13" name="Shape 11"/>
          <p:cNvSpPr/>
          <p:nvPr/>
        </p:nvSpPr>
        <p:spPr>
          <a:xfrm>
            <a:off x="1005840" y="1984248"/>
            <a:ext cx="10195560" cy="96012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34440" y="2267712"/>
            <a:ext cx="9738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 ⇔  P  ∧  D  ∧  T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1005840" y="3429000"/>
            <a:ext cx="3054096" cy="123444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2E9BD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25296" y="3749040"/>
            <a:ext cx="402336" cy="402336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25296" y="3858768"/>
            <a:ext cx="4023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755648" y="36576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физическое</a:t>
            </a:r>
            <a:endParaRPr lang="en-US" sz="1220" dirty="0"/>
          </a:p>
        </p:txBody>
      </p:sp>
      <p:sp>
        <p:nvSpPr>
          <p:cNvPr id="19" name="Text 17"/>
          <p:cNvSpPr txBox="1"/>
          <p:nvPr/>
        </p:nvSpPr>
        <p:spPr>
          <a:xfrm>
            <a:off x="1755648" y="3959352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все пути закрыты</a:t>
            </a:r>
            <a:endParaRPr lang="en-US" sz="940" dirty="0"/>
          </a:p>
        </p:txBody>
      </p:sp>
      <p:sp>
        <p:nvSpPr>
          <p:cNvPr id="20" name="Shape 18"/>
          <p:cNvSpPr/>
          <p:nvPr/>
        </p:nvSpPr>
        <p:spPr>
          <a:xfrm>
            <a:off x="4462272" y="3429000"/>
            <a:ext cx="3054096" cy="123444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681728" y="3749040"/>
            <a:ext cx="402336" cy="402336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81728" y="3858768"/>
            <a:ext cx="4023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36576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производное</a:t>
            </a:r>
            <a:endParaRPr lang="en-US" sz="122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3959352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шаблоны + индексы</a:t>
            </a:r>
            <a:endParaRPr lang="en-US" sz="940" dirty="0"/>
          </a:p>
        </p:txBody>
      </p:sp>
      <p:sp>
        <p:nvSpPr>
          <p:cNvPr id="25" name="Shape 23"/>
          <p:cNvSpPr/>
          <p:nvPr/>
        </p:nvSpPr>
        <p:spPr>
          <a:xfrm>
            <a:off x="7918704" y="3429000"/>
            <a:ext cx="3054096" cy="123444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38160" y="3749040"/>
            <a:ext cx="402336" cy="40233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138160" y="3858768"/>
            <a:ext cx="402336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668512" y="36576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временное</a:t>
            </a:r>
            <a:endParaRPr lang="en-US" sz="1220" dirty="0"/>
          </a:p>
        </p:txBody>
      </p:sp>
      <p:sp>
        <p:nvSpPr>
          <p:cNvPr id="29" name="Text 27"/>
          <p:cNvSpPr txBox="1"/>
          <p:nvPr/>
        </p:nvSpPr>
        <p:spPr>
          <a:xfrm>
            <a:off x="8668512" y="3959352"/>
            <a:ext cx="2029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4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повтор не вернёт данные</a:t>
            </a:r>
            <a:endParaRPr lang="en-US" sz="94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5184648"/>
            <a:ext cx="10149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D5B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3 072 / 3 072 формальных проверок прошли в proof harness проекта.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1097280" y="5650992"/>
            <a:ext cx="10012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Это проверка соответствия протоколу, а не доказательство внедрения в production.</a:t>
            </a:r>
            <a:endParaRPr lang="en-US" sz="11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CBE4D6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ОГРАНИЧЕНИЕ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Влияние на модель — отдельный канал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unlearning проверяется отдельно и не заменяет физическое удаление.</a:t>
            </a:r>
            <a:endParaRPr lang="en-US" sz="1330" dirty="0"/>
          </a:p>
        </p:txBody>
      </p:sp>
      <p:sp>
        <p:nvSpPr>
          <p:cNvPr id="12" name="Shape 10"/>
          <p:cNvSpPr/>
          <p:nvPr/>
        </p:nvSpPr>
        <p:spPr>
          <a:xfrm>
            <a:off x="768096" y="1993392"/>
            <a:ext cx="5074920" cy="3520440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15568" y="2331720"/>
            <a:ext cx="4343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проверяем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1143000" y="2999232"/>
            <a:ext cx="274320" cy="274320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143000" y="3081528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1627632" y="301752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влияние / полезность для оставшихся</a:t>
            </a:r>
            <a:endParaRPr lang="en-US" sz="1220" dirty="0"/>
          </a:p>
        </p:txBody>
      </p:sp>
      <p:sp>
        <p:nvSpPr>
          <p:cNvPr id="17" name="Shape 15"/>
          <p:cNvSpPr/>
          <p:nvPr/>
        </p:nvSpPr>
        <p:spPr>
          <a:xfrm>
            <a:off x="1143000" y="3657600"/>
            <a:ext cx="274320" cy="274320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143000" y="3739896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1627632" y="3675888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 с точным переобучением</a:t>
            </a:r>
            <a:endParaRPr lang="en-US" sz="1220" dirty="0"/>
          </a:p>
        </p:txBody>
      </p:sp>
      <p:sp>
        <p:nvSpPr>
          <p:cNvPr id="20" name="Shape 18"/>
          <p:cNvSpPr/>
          <p:nvPr/>
        </p:nvSpPr>
        <p:spPr>
          <a:xfrm>
            <a:off x="1143000" y="4315968"/>
            <a:ext cx="274320" cy="274320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43000" y="4398264"/>
            <a:ext cx="2743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1627632" y="4334256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2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атака на приватность + порог качества</a:t>
            </a:r>
            <a:endParaRPr lang="en-US" sz="1220" dirty="0"/>
          </a:p>
        </p:txBody>
      </p:sp>
      <p:sp>
        <p:nvSpPr>
          <p:cNvPr id="23" name="Shape 21"/>
          <p:cNvSpPr/>
          <p:nvPr/>
        </p:nvSpPr>
        <p:spPr>
          <a:xfrm>
            <a:off x="6272784" y="1993392"/>
            <a:ext cx="5138928" cy="3520440"/>
          </a:xfrm>
          <a:prstGeom prst="roundRect">
            <a:avLst/>
          </a:prstGeom>
          <a:solidFill>
            <a:srgbClr val="F5D2C8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29400" y="2331720"/>
            <a:ext cx="44256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Реальный результат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662940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Кандидат MUFAC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629400" y="3364992"/>
            <a:ext cx="2395728" cy="283464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48272" y="3447288"/>
            <a:ext cx="21579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· порог полезности</a:t>
            </a:r>
            <a:endParaRPr lang="en-US" sz="810" dirty="0"/>
          </a:p>
        </p:txBody>
      </p:sp>
      <p:sp>
        <p:nvSpPr>
          <p:cNvPr id="28" name="Text 26"/>
          <p:cNvSpPr txBox="1"/>
          <p:nvPr/>
        </p:nvSpPr>
        <p:spPr>
          <a:xfrm>
            <a:off x="6629400" y="4142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Точное переобучение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629400" y="4507992"/>
            <a:ext cx="2304288" cy="283464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48272" y="4590288"/>
            <a:ext cx="20665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1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 · безопасно / без ускорения</a:t>
            </a:r>
            <a:endParaRPr lang="en-US" sz="81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5897880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6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Честная граница: приближённое переобучение не считается успешным без проверки полезности.</a:t>
            </a:r>
            <a:endParaRPr lang="en-US" sz="11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10195560" y="36576"/>
            <a:ext cx="1755648" cy="877824"/>
          </a:xfrm>
          <a:prstGeom prst="ellipse">
            <a:avLst/>
          </a:prstGeom>
          <a:solidFill>
            <a:srgbClr val="F5D2C8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6" name="Shape 4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49808" y="228600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spc="4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ПОЗИЦИОНИРОВАНИЕ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spc="10" kern="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841248"/>
            <a:ext cx="10607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Новизна — в составе доказательств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1408176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3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 четыре разрозненных алгоритма, а одна процедура, закрывающая три риска.</a:t>
            </a:r>
            <a:endParaRPr lang="en-US" sz="1330" dirty="0"/>
          </a:p>
        </p:txBody>
      </p:sp>
      <p:sp>
        <p:nvSpPr>
          <p:cNvPr id="12" name="Text 10"/>
          <p:cNvSpPr txBox="1"/>
          <p:nvPr/>
        </p:nvSpPr>
        <p:spPr>
          <a:xfrm>
            <a:off x="768096" y="20116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Три отличительных объекта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96112" y="2679192"/>
            <a:ext cx="347472" cy="347472"/>
          </a:xfrm>
          <a:prstGeom prst="ellipse">
            <a:avLst/>
          </a:prstGeom>
          <a:solidFill>
            <a:srgbClr val="2E9BD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444752" y="269748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путь восстановления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444752" y="2971800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ищем, где запись может появиться снова</a:t>
            </a:r>
            <a:endParaRPr lang="en-US" sz="970" dirty="0"/>
          </a:p>
        </p:txBody>
      </p:sp>
      <p:sp>
        <p:nvSpPr>
          <p:cNvPr id="16" name="Shape 14"/>
          <p:cNvSpPr/>
          <p:nvPr/>
        </p:nvSpPr>
        <p:spPr>
          <a:xfrm>
            <a:off x="896112" y="3438144"/>
            <a:ext cx="347472" cy="347472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444752" y="3456432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временное закрытие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444752" y="3730752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 будущую регенерацию</a:t>
            </a:r>
            <a:endParaRPr lang="en-US" sz="970" dirty="0"/>
          </a:p>
        </p:txBody>
      </p:sp>
      <p:sp>
        <p:nvSpPr>
          <p:cNvPr id="19" name="Shape 17"/>
          <p:cNvSpPr/>
          <p:nvPr/>
        </p:nvSpPr>
        <p:spPr>
          <a:xfrm>
            <a:off x="896112" y="4197096"/>
            <a:ext cx="347472" cy="347472"/>
          </a:xfrm>
          <a:prstGeom prst="ellipse">
            <a:avLst/>
          </a:prstGeom>
          <a:solidFill>
            <a:srgbClr val="7077D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444752" y="4215384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сертификат удаления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444752" y="4489704"/>
            <a:ext cx="31546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показываем границу неизвестности</a:t>
            </a:r>
            <a:endParaRPr lang="en-US" sz="970" dirty="0"/>
          </a:p>
        </p:txBody>
      </p:sp>
      <p:sp>
        <p:nvSpPr>
          <p:cNvPr id="22" name="Shape 20"/>
          <p:cNvSpPr/>
          <p:nvPr/>
        </p:nvSpPr>
        <p:spPr>
          <a:xfrm>
            <a:off x="5559552" y="2011680"/>
            <a:ext cx="5843016" cy="3584448"/>
          </a:xfrm>
          <a:prstGeom prst="roundRect">
            <a:avLst/>
          </a:prstGeom>
          <a:solidFill>
            <a:srgbClr val="FBFAF6"/>
          </a:solidFill>
          <a:ln w="12700">
            <a:solidFill>
              <a:srgbClr val="C8D6C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2340864"/>
            <a:ext cx="4956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Лестница доказательств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016752" y="2962656"/>
            <a:ext cx="2011680" cy="237744"/>
          </a:xfrm>
          <a:prstGeom prst="roundRect">
            <a:avLst/>
          </a:prstGeom>
          <a:solidFill>
            <a:srgbClr val="F5D2C8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3012948"/>
            <a:ext cx="33832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0" y="3012948"/>
            <a:ext cx="3017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пилот внедрения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6016752" y="3374136"/>
            <a:ext cx="2011680" cy="237744"/>
          </a:xfrm>
          <a:prstGeom prst="roundRect">
            <a:avLst/>
          </a:prstGeom>
          <a:solidFill>
            <a:srgbClr val="F5D2C8"/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72200" y="3424428"/>
            <a:ext cx="33832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0" y="3424428"/>
            <a:ext cx="3017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скрытая проверка</a:t>
            </a:r>
            <a:endParaRPr lang="en-US" sz="880" dirty="0"/>
          </a:p>
        </p:txBody>
      </p:sp>
      <p:sp>
        <p:nvSpPr>
          <p:cNvPr id="30" name="Shape 28"/>
          <p:cNvSpPr/>
          <p:nvPr/>
        </p:nvSpPr>
        <p:spPr>
          <a:xfrm>
            <a:off x="6016752" y="3785616"/>
            <a:ext cx="3639312" cy="237744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172200" y="3835908"/>
            <a:ext cx="33832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0" y="3835908"/>
            <a:ext cx="3017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семейства вне разработки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6016752" y="4197096"/>
            <a:ext cx="3493008" cy="237744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172200" y="4247388"/>
            <a:ext cx="33832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0" y="4247388"/>
            <a:ext cx="3017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скрытая выборка</a:t>
            </a:r>
            <a:endParaRPr lang="en-US" sz="880" dirty="0"/>
          </a:p>
        </p:txBody>
      </p:sp>
      <p:sp>
        <p:nvSpPr>
          <p:cNvPr id="36" name="Shape 34"/>
          <p:cNvSpPr/>
          <p:nvPr/>
        </p:nvSpPr>
        <p:spPr>
          <a:xfrm>
            <a:off x="6016752" y="4608576"/>
            <a:ext cx="3346704" cy="237744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172200" y="4658868"/>
            <a:ext cx="33832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0" y="4658868"/>
            <a:ext cx="3017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8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воспроизводимая лаборатория</a:t>
            </a:r>
            <a:endParaRPr lang="en-US" sz="880" dirty="0"/>
          </a:p>
        </p:txBody>
      </p:sp>
      <p:sp>
        <p:nvSpPr>
          <p:cNvPr id="39" name="Text 37"/>
          <p:cNvSpPr txBox="1"/>
          <p:nvPr/>
        </p:nvSpPr>
        <p:spPr>
          <a:xfrm>
            <a:off x="5961888" y="5138928"/>
            <a:ext cx="50474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7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Сейчас: сильная воспроизводимость и ограниченные внешние данные.</a:t>
            </a:r>
            <a:endParaRPr lang="en-US" sz="1070" dirty="0"/>
          </a:p>
          <a:p>
            <a:pPr algn="ctr" indent="0" marL="0">
              <a:buNone/>
            </a:pPr>
            <a:r>
              <a:rPr lang="en-US" sz="107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честный шаг — независимая скрытая проверка.</a:t>
            </a:r>
            <a:endParaRPr lang="en-US" sz="107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840000">
            <a:off x="9912096" y="0"/>
            <a:ext cx="2194560" cy="1234440"/>
          </a:xfrm>
          <a:prstGeom prst="ellipse">
            <a:avLst/>
          </a:prstGeom>
          <a:solidFill>
            <a:srgbClr val="CBE4D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 rot="-1080000">
            <a:off x="10744200" y="164592"/>
            <a:ext cx="1188720" cy="804672"/>
          </a:xfrm>
          <a:prstGeom prst="ellipse">
            <a:avLst/>
          </a:prstGeom>
          <a:solidFill>
            <a:srgbClr val="F5D2C8">
              <a:alpha val="6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-540000">
            <a:off x="0" y="6236208"/>
            <a:ext cx="1920240" cy="530352"/>
          </a:xfrm>
          <a:prstGeom prst="ellipse">
            <a:avLst/>
          </a:prstGeom>
          <a:solidFill>
            <a:srgbClr val="CBE4D6">
              <a:alpha val="38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0195560" y="960120"/>
            <a:ext cx="1325880" cy="347472"/>
          </a:xfrm>
          <a:prstGeom prst="line">
            <a:avLst/>
          </a:prstGeom>
          <a:noFill/>
          <a:ln w="12700">
            <a:solidFill>
              <a:srgbClr val="C8D6CE">
                <a:alpha val="7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804672"/>
            <a:ext cx="694944" cy="-384048"/>
          </a:xfrm>
          <a:prstGeom prst="line">
            <a:avLst/>
          </a:prstGeom>
          <a:noFill/>
          <a:ln w="12700">
            <a:solidFill>
              <a:srgbClr val="C8D6CE">
                <a:alpha val="8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85216" y="228600"/>
            <a:ext cx="146304" cy="146304"/>
          </a:xfrm>
          <a:prstGeom prst="ellipse">
            <a:avLst/>
          </a:prstGeom>
          <a:solidFill>
            <a:srgbClr val="079E94"/>
          </a:solidFill>
          <a:ln/>
        </p:spPr>
      </p:sp>
      <p:sp>
        <p:nvSpPr>
          <p:cNvPr id="8" name="Shape 6"/>
          <p:cNvSpPr/>
          <p:nvPr/>
        </p:nvSpPr>
        <p:spPr>
          <a:xfrm>
            <a:off x="786384" y="393192"/>
            <a:ext cx="82296" cy="82296"/>
          </a:xfrm>
          <a:prstGeom prst="ellipse">
            <a:avLst/>
          </a:prstGeom>
          <a:solidFill>
            <a:srgbClr val="E8795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40233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 /  CONCLUSION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1417320"/>
            <a:ext cx="534924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Проверять путь,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 не обещание.</a:t>
            </a:r>
            <a:endParaRPr lang="en-US" sz="4200" dirty="0"/>
          </a:p>
        </p:txBody>
      </p:sp>
      <p:sp>
        <p:nvSpPr>
          <p:cNvPr id="11" name="Text 9"/>
          <p:cNvSpPr txBox="1"/>
          <p:nvPr/>
        </p:nvSpPr>
        <p:spPr>
          <a:xfrm>
            <a:off x="786384" y="3246120"/>
            <a:ext cx="5166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EraSeMap превращает удаление из одной команды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проверяемый, устойчивый во времени вердикт.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86384" y="4443984"/>
            <a:ext cx="4526280" cy="530352"/>
          </a:xfrm>
          <a:prstGeom prst="roundRect">
            <a:avLst/>
          </a:prstGeom>
          <a:solidFill>
            <a:srgbClr val="E2F0E8"/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0976" y="4617720"/>
            <a:ext cx="41879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73F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Следующий эксперимент: независимая скрытая проверка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680960" y="2011680"/>
            <a:ext cx="1207008" cy="804672"/>
          </a:xfrm>
          <a:prstGeom prst="line">
            <a:avLst/>
          </a:prstGeom>
          <a:noFill/>
          <a:ln w="2921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887968" y="2816352"/>
            <a:ext cx="-566928" cy="1078992"/>
          </a:xfrm>
          <a:prstGeom prst="line">
            <a:avLst/>
          </a:prstGeom>
          <a:noFill/>
          <a:ln w="2921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21040" y="3895344"/>
            <a:ext cx="1234440" cy="-640080"/>
          </a:xfrm>
          <a:prstGeom prst="line">
            <a:avLst/>
          </a:prstGeom>
          <a:noFill/>
          <a:ln w="29210">
            <a:solidFill>
              <a:srgbClr val="C8D6CE">
                <a:alpha val="92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67728" y="1737360"/>
            <a:ext cx="1481328" cy="1481328"/>
          </a:xfrm>
          <a:prstGeom prst="ellipse">
            <a:avLst/>
          </a:prstGeom>
          <a:solidFill>
            <a:srgbClr val="CBE4D6">
              <a:alpha val="85000"/>
            </a:srgbClr>
          </a:solidFill>
          <a:ln w="12700">
            <a:solidFill>
              <a:srgbClr val="079E9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967728" y="2331720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79E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705088" y="2743200"/>
            <a:ext cx="1170432" cy="1170432"/>
          </a:xfrm>
          <a:prstGeom prst="ellipse">
            <a:avLst/>
          </a:prstGeom>
          <a:solidFill>
            <a:srgbClr val="F5D2C8">
              <a:alpha val="88000"/>
            </a:srgbClr>
          </a:solidFill>
          <a:ln w="12700">
            <a:solidFill>
              <a:srgbClr val="E8795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705088" y="3236976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79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629400" y="4389120"/>
            <a:ext cx="960120" cy="960120"/>
          </a:xfrm>
          <a:prstGeom prst="ellipse">
            <a:avLst/>
          </a:prstGeom>
          <a:solidFill>
            <a:srgbClr val="E2F0E8">
              <a:alpha val="90000"/>
            </a:srgbClr>
          </a:solidFill>
          <a:ln w="12700">
            <a:solidFill>
              <a:srgbClr val="7077D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629400" y="478231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077D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6601968"/>
            <a:ext cx="2743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проверка удаления по доказательствам</a:t>
            </a:r>
            <a:endParaRPr lang="en-US" sz="720" dirty="0"/>
          </a:p>
        </p:txBody>
      </p:sp>
      <p:sp>
        <p:nvSpPr>
          <p:cNvPr id="24" name="Text 22"/>
          <p:cNvSpPr txBox="1"/>
          <p:nvPr/>
        </p:nvSpPr>
        <p:spPr>
          <a:xfrm>
            <a:off x="11155680" y="228600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4F69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КГУ «Специализированный лицей-интернат „Білім-инновация“» Управления образования города Алматы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EraSeMap — проверяемый путь удаления данных</dc:title>
  <dc:subject>Evidence-led deletion verification</dc:subject>
  <dc:creator>Нұрланұлы Дулат</dc:creator>
  <cp:lastModifiedBy>Нұрланұлы Дулат</cp:lastModifiedBy>
  <cp:revision>1</cp:revision>
  <dcterms:created xsi:type="dcterms:W3CDTF">2026-08-30T12:14:24Z</dcterms:created>
  <dcterms:modified xsi:type="dcterms:W3CDTF">2026-08-30T12:14:24Z</dcterms:modified>
</cp:coreProperties>
</file>