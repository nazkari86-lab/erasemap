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1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2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11042e1a0a945cf" /><Relationship Type="http://schemas.openxmlformats.org/officeDocument/2006/relationships/extended-properties" Target="/docProps/app.xml" Id="Ree9ab9ac20ec4063" /><Relationship Type="http://schemas.openxmlformats.org/officeDocument/2006/relationships/officeDocument" Target="/ppt/presentation.xml" Id="R04e013df3bca432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dd3c923f25948da"/>
  </p:sldMasterIdLst>
  <p:notesMasterIdLst>
    <p:notesMasterId xmlns:r="http://schemas.openxmlformats.org/officeDocument/2006/relationships" r:id="R541015338a994eaa"/>
  </p:notesMasterIdLst>
  <p:sldIdLst>
    <p:sldId xmlns:r="http://schemas.openxmlformats.org/officeDocument/2006/relationships" id="256" r:id="Rc8a63c9932494367"/>
    <p:sldId xmlns:r="http://schemas.openxmlformats.org/officeDocument/2006/relationships" id="257" r:id="R3cdae93c92a54bcc"/>
    <p:sldId xmlns:r="http://schemas.openxmlformats.org/officeDocument/2006/relationships" id="258" r:id="R7d77851f41554637"/>
    <p:sldId xmlns:r="http://schemas.openxmlformats.org/officeDocument/2006/relationships" id="259" r:id="R3985fba6de6544c9"/>
    <p:sldId xmlns:r="http://schemas.openxmlformats.org/officeDocument/2006/relationships" id="260" r:id="R12ed691edcd24152"/>
    <p:sldId xmlns:r="http://schemas.openxmlformats.org/officeDocument/2006/relationships" id="261" r:id="Rbe5ebb3f240d4fae"/>
    <p:sldId xmlns:r="http://schemas.openxmlformats.org/officeDocument/2006/relationships" id="262" r:id="Rc404a70400da47aa"/>
    <p:sldId xmlns:r="http://schemas.openxmlformats.org/officeDocument/2006/relationships" id="263" r:id="R0d7e8dc796f94006"/>
    <p:sldId xmlns:r="http://schemas.openxmlformats.org/officeDocument/2006/relationships" id="264" r:id="Rca73acb9bd1542b9"/>
    <p:sldId xmlns:r="http://schemas.openxmlformats.org/officeDocument/2006/relationships" id="265" r:id="R4fa01144ca0b4fa3"/>
    <p:sldId xmlns:r="http://schemas.openxmlformats.org/officeDocument/2006/relationships" id="266" r:id="Re5e2326e24a1447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490b2a827944141" /><Relationship Type="http://schemas.openxmlformats.org/officeDocument/2006/relationships/slideMaster" Target="/ppt/slideMasters/slideMaster1.xml" Id="R3dd3c923f25948da" /><Relationship Type="http://schemas.openxmlformats.org/officeDocument/2006/relationships/notesMaster" Target="/ppt/notesMasters/notesMaster1.xml" Id="R541015338a994eaa" /><Relationship Type="http://schemas.openxmlformats.org/officeDocument/2006/relationships/presProps" Target="/ppt/presProps.xml" Id="Rcb9159f1019645b0" /><Relationship Type="http://schemas.openxmlformats.org/officeDocument/2006/relationships/tableStyles" Target="/ppt/tableStyles.xml" Id="R1efede02be7b4443" /><Relationship Type="http://schemas.openxmlformats.org/officeDocument/2006/relationships/slide" Target="/ppt/slides/slide1.xml" Id="Rc8a63c9932494367" /><Relationship Type="http://schemas.openxmlformats.org/officeDocument/2006/relationships/slide" Target="/ppt/slides/slide2.xml" Id="R3cdae93c92a54bcc" /><Relationship Type="http://schemas.openxmlformats.org/officeDocument/2006/relationships/slide" Target="/ppt/slides/slide3.xml" Id="R7d77851f41554637" /><Relationship Type="http://schemas.openxmlformats.org/officeDocument/2006/relationships/slide" Target="/ppt/slides/slide4.xml" Id="R3985fba6de6544c9" /><Relationship Type="http://schemas.openxmlformats.org/officeDocument/2006/relationships/slide" Target="/ppt/slides/slide5.xml" Id="R12ed691edcd24152" /><Relationship Type="http://schemas.openxmlformats.org/officeDocument/2006/relationships/slide" Target="/ppt/slides/slide6.xml" Id="Rbe5ebb3f240d4fae" /><Relationship Type="http://schemas.openxmlformats.org/officeDocument/2006/relationships/slide" Target="/ppt/slides/slide7.xml" Id="Rc404a70400da47aa" /><Relationship Type="http://schemas.openxmlformats.org/officeDocument/2006/relationships/slide" Target="/ppt/slides/slide8.xml" Id="R0d7e8dc796f94006" /><Relationship Type="http://schemas.openxmlformats.org/officeDocument/2006/relationships/slide" Target="/ppt/slides/slide9.xml" Id="Rca73acb9bd1542b9" /><Relationship Type="http://schemas.openxmlformats.org/officeDocument/2006/relationships/slide" Target="/ppt/slides/slide10.xml" Id="R4fa01144ca0b4fa3" /><Relationship Type="http://schemas.openxmlformats.org/officeDocument/2006/relationships/slide" Target="/ppt/slides/slide11.xml" Id="Re5e2326e24a1447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072cbc4300e48e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7fd6c87689f4890" /><Relationship Type="http://schemas.openxmlformats.org/officeDocument/2006/relationships/notesMaster" Target="/ppt/notesMasters/notesMaster1.xml" Id="R7dc87b30c98d4ff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ac3273bcca641be" /><Relationship Type="http://schemas.openxmlformats.org/officeDocument/2006/relationships/notesMaster" Target="/ppt/notesMasters/notesMaster1.xml" Id="R0441eee1803f4b7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d1ea466a64242e6" /><Relationship Type="http://schemas.openxmlformats.org/officeDocument/2006/relationships/notesMaster" Target="/ppt/notesMasters/notesMaster1.xml" Id="R80f54489bd19498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8064d7532d94b8c" /><Relationship Type="http://schemas.openxmlformats.org/officeDocument/2006/relationships/notesMaster" Target="/ppt/notesMasters/notesMaster1.xml" Id="Ra5534105be4f4bd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1b8210925a1485c" /><Relationship Type="http://schemas.openxmlformats.org/officeDocument/2006/relationships/notesMaster" Target="/ppt/notesMasters/notesMaster1.xml" Id="R4a3a176502934af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210989c2d114dea" /><Relationship Type="http://schemas.openxmlformats.org/officeDocument/2006/relationships/notesMaster" Target="/ppt/notesMasters/notesMaster1.xml" Id="R53e974f47d0e463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1ce7389d17147c7" /><Relationship Type="http://schemas.openxmlformats.org/officeDocument/2006/relationships/notesMaster" Target="/ppt/notesMasters/notesMaster1.xml" Id="R18563926cac0485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df5241ae4e04bd5" /><Relationship Type="http://schemas.openxmlformats.org/officeDocument/2006/relationships/notesMaster" Target="/ppt/notesMasters/notesMaster1.xml" Id="Ra367d4d884854ed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a34923c0c2641ba" /><Relationship Type="http://schemas.openxmlformats.org/officeDocument/2006/relationships/notesMaster" Target="/ppt/notesMasters/notesMaster1.xml" Id="Rea5c65616b35493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224e2ae7cd4423b" /><Relationship Type="http://schemas.openxmlformats.org/officeDocument/2006/relationships/notesMaster" Target="/ppt/notesMasters/notesMaster1.xml" Id="R17d0a62b7d114d1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3c0c2baa6654db4" /><Relationship Type="http://schemas.openxmlformats.org/officeDocument/2006/relationships/notesMaster" Target="/ppt/notesMasters/notesMaster1.xml" Id="R2f16ce48cf974e1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Откройте с проблемы: запись может исчезнуть из основной базы, но человек всё ещё распознаётся по производным данным.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Спросите жюри: если source удалён, но template активен, завершён ли запрос? Ответ — нет.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Покажите, что отрицательный и неопределённый результаты являются валидными результатами, а не ошибками программы.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Сформулируйте вклад как композицию. Не заявляйте изобретение lineage, подписи, min-cut или machine unlearning по отдельности.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Это механизмный stress test. Подчеркните ограничение: на source-locked holdout сильный typed baseline связал PCUG.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Lean доказывает условное утверждение. Явно назовите assumptions — это повышает научную честность.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Реальны процессы PostgreSQL, Redis и Qdrant. Данные synthetic; это не production latency FaceID/eGov.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Покажите научную зрелость: первая быстрая candidate не прошла utility gate; safe policy выбрала exact retraining.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Если жюри спросит «где новизна», ответьте одной фразой из центральной колонки и сразу назовите prior art.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Это ключевой слайд честности. Скажите: технически путь к 9.5 готов, но фактическая независимость остаётся 7.8.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Завершите: ценность EraSeMap не в обещании идеального удаления, а в отказе объявлять успех без проверяемого основания.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bb322b6cda24a8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1810bb28b5e4325" /><Relationship Type="http://schemas.openxmlformats.org/officeDocument/2006/relationships/slideLayout" Target="/ppt/slideLayouts/slideLayout1.xml" Id="R26510f37b931411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6510f37b931411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a22a2430214744" /><Relationship Type="http://schemas.openxmlformats.org/officeDocument/2006/relationships/notesSlide" Target="/ppt/notesSlides/notesSlide1.xml" Id="R2a59237daae447a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4c2602aa49440a" /><Relationship Type="http://schemas.openxmlformats.org/officeDocument/2006/relationships/notesSlide" Target="/ppt/notesSlides/notesSlide2.xml" Id="R773b00507b7b41f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83212eee9d4512" /><Relationship Type="http://schemas.openxmlformats.org/officeDocument/2006/relationships/notesSlide" Target="/ppt/notesSlides/notesSlide3.xml" Id="R91fa981d30454ac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a0e0c8cbe744aa" /><Relationship Type="http://schemas.openxmlformats.org/officeDocument/2006/relationships/notesSlide" Target="/ppt/notesSlides/notesSlide4.xml" Id="R5975f7a2dcb243f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9f8460d5124997" /><Relationship Type="http://schemas.openxmlformats.org/officeDocument/2006/relationships/chart" Target="/ppt/slides/charts/chart1.xml" Id="R2fe7050674d8484c" /><Relationship Type="http://schemas.openxmlformats.org/officeDocument/2006/relationships/notesSlide" Target="/ppt/notesSlides/notesSlide5.xml" Id="Rea30092e5410455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5d5bbb315742fa" /><Relationship Type="http://schemas.openxmlformats.org/officeDocument/2006/relationships/notesSlide" Target="/ppt/notesSlides/notesSlide6.xml" Id="R36721a186d71465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4d572caae84f2b" /><Relationship Type="http://schemas.openxmlformats.org/officeDocument/2006/relationships/chart" Target="/ppt/slides/charts/chart2.xml" Id="R8a323f633dec4e35" /><Relationship Type="http://schemas.openxmlformats.org/officeDocument/2006/relationships/notesSlide" Target="/ppt/notesSlides/notesSlide7.xml" Id="Re75510db8d614d3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3f0a4cf4ce4bf0" /><Relationship Type="http://schemas.openxmlformats.org/officeDocument/2006/relationships/image" Target="/ppt/media/image.png" Id="Rb131826b7ce14bd2" /><Relationship Type="http://schemas.openxmlformats.org/officeDocument/2006/relationships/notesSlide" Target="/ppt/notesSlides/notesSlide8.xml" Id="Reb4227529f404cc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323b25bfa94183" /><Relationship Type="http://schemas.openxmlformats.org/officeDocument/2006/relationships/notesSlide" Target="/ppt/notesSlides/notesSlide9.xml" Id="R03c97f4a22ab47a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aeb3cff1824f68" /><Relationship Type="http://schemas.openxmlformats.org/officeDocument/2006/relationships/notesSlide" Target="/ppt/notesSlides/notesSlide10.xml" Id="R171f3505c2cf44a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98295e413542f1" /><Relationship Type="http://schemas.openxmlformats.org/officeDocument/2006/relationships/notesSlide" Target="/ppt/notesSlides/notesSlide11.xml" Id="R928d7df827c64dba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varyColors val="0"/>
        <c:ser>
          <c:idx val="0"/>
          <c:order val="0"/>
          <c:tx>
            <c:v>False COMPLETE</c:v>
          </c:tx>
          <c:spPr>
            <a:solidFill xmlns:a="http://schemas.openxmlformats.org/drawingml/2006/main">
              <a:srgbClr val="FF6B35"/>
            </a:solidFill>
          </c:spPr>
          <c:cat>
            <c:strLit>
              <c:ptCount val="2"/>
              <c:pt idx="0">
                <c:v>PCUG</c:v>
              </c:pt>
              <c:pt idx="1">
                <c:v>Typed node</c:v>
              </c:pt>
            </c:strLit>
          </c:cat>
          <c:val>
            <c:numLit>
              <c:formatCode>General</c:formatCode>
              <c:ptCount val="2"/>
              <c:pt idx="0">
                <c:v>0</c:v>
              </c:pt>
              <c:pt idx="1">
                <c:v>75</c:v>
              </c:pt>
            </c:numLit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majorGridlines>
          <c:spPr>
            <a:ln xmlns:a="http://schemas.openxmlformats.org/drawingml/2006/main" w="9525">
              <a:solidFill>
                <a:srgbClr val="B8BCC4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</c:plotArea>
    <c:plotVisOnly val="1"/>
  </c:chart>
</c:chartSpace>
</file>

<file path=ppt/slides/charts/chart2.xml><?xml version="1.0" encoding="utf-8"?>
<c:chartSpace xmlns:c="http://schemas.openxmlformats.org/drawingml/2006/chart">
  <c:lang val="en-US"/>
  <c:chart>
    <c:plotArea>
      <c:barChart>
        <c:barDir val="col"/>
        <c:varyColors val="0"/>
        <c:ser>
          <c:idx val="0"/>
          <c:order val="0"/>
          <c:tx>
            <c:v>Relative bytes written</c:v>
          </c:tx>
          <c:spPr>
            <a:solidFill xmlns:a="http://schemas.openxmlformats.org/drawingml/2006/main">
              <a:srgbClr val="0B0D10"/>
            </a:solidFill>
          </c:spPr>
          <c:cat>
            <c:strLit>
              <c:ptCount val="2"/>
              <c:pt idx="0">
                <c:v>Targeted CDC</c:v>
              </c:pt>
              <c:pt idx="1">
                <c:v>Rebuild all</c:v>
              </c:pt>
            </c:strLit>
          </c:cat>
          <c:val>
            <c:numLit>
              <c:formatCode>General</c:formatCode>
              <c:ptCount val="2"/>
              <c:pt idx="0">
                <c:v>5.38</c:v>
              </c:pt>
              <c:pt idx="1">
                <c:v>100</c:v>
              </c:pt>
            </c:numLit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majorGridlines>
          <c:spPr>
            <a:ln xmlns:a="http://schemas.openxmlformats.org/drawingml/2006/main" w="9525">
              <a:solidFill>
                <a:srgbClr val="B8BCC4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</c:plotArea>
    <c:plotVisOnly val="1"/>
  </c:chart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E85833A6-2F97-492D-AC53-7133BEBF7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2857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6B35"/>
                </a:solidFill>
              </a:defRPr>
            </a:pPr>
            <a:r>
              <a:t>ERASEMAP</a:t>
            </a:r>
          </a:p>
        </p:txBody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097DAE04-56F6-4386-AAFB-5153F82E2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81100"/>
            <a:ext cx="7905750" cy="2047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5400" b="1">
                <a:solidFill>
                  <a:srgbClr val="0B0D10"/>
                </a:solidFill>
              </a:defRPr>
            </a:pPr>
            <a:r>
              <a:t>Удалить запись
недостаточно.</a:t>
            </a:r>
          </a:p>
        </p:txBody>
      </p:sp>
      <p:sp>
        <p:nvSpPr>
          <p:cNvPr id="3" name="cover-band">
            <a:extLst xmlns:a="http://schemas.openxmlformats.org/drawingml/2006/main">
              <a:ext uri="{FF2B5EF4-FFF2-40B4-BE49-F238E27FC236}">
                <a16:creationId xmlns:a16="http://schemas.microsoft.com/office/drawing/2014/main" id="{4585B752-A303-4EDC-8E86-30DE511AE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857625"/>
            <a:ext cx="12192000" cy="3000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5F6"/>
          </a:solidFill>
        </p:spPr>
      </p:sp>
      <p:sp>
        <p:nvSpPr>
          <p:cNvPr id="4" name="cover-method">
            <a:extLst xmlns:a="http://schemas.openxmlformats.org/drawingml/2006/main">
              <a:ext uri="{FF2B5EF4-FFF2-40B4-BE49-F238E27FC236}">
                <a16:creationId xmlns:a16="http://schemas.microsoft.com/office/drawing/2014/main" id="{07109068-6B38-4FCF-8FDB-6F5FD0E2E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81500"/>
            <a:ext cx="49530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0B0D10"/>
                </a:solidFill>
              </a:defRPr>
            </a:pPr>
            <a:r>
              <a:t>Proof-Carrying Unlearning Graph</a:t>
            </a:r>
          </a:p>
        </p:txBody>
      </p:sp>
      <p:sp>
        <p:nvSpPr>
          <p:cNvPr id="5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5D698CF6-FC4B-4785-9892-3FAFA2B55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010150"/>
            <a:ext cx="666750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555B63"/>
                </a:solidFill>
              </a:defRPr>
            </a:pPr>
            <a:r>
              <a:t>Проверяем остаточные копии, влияние на модель и минимальный путь к безопасному удалению.</a:t>
            </a:r>
          </a:p>
        </p:txBody>
      </p:sp>
      <p:sp>
        <p:nvSpPr>
          <p:cNvPr id="6" name="cover-mark-a">
            <a:extLst xmlns:a="http://schemas.openxmlformats.org/drawingml/2006/main">
              <a:ext uri="{FF2B5EF4-FFF2-40B4-BE49-F238E27FC236}">
                <a16:creationId xmlns:a16="http://schemas.microsoft.com/office/drawing/2014/main" id="{C32DCEF9-B6E0-4D49-9448-8000455C8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34340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7" name="cover-mark-b">
            <a:extLst xmlns:a="http://schemas.openxmlformats.org/drawingml/2006/main">
              <a:ext uri="{FF2B5EF4-FFF2-40B4-BE49-F238E27FC236}">
                <a16:creationId xmlns:a16="http://schemas.microsoft.com/office/drawing/2014/main" id="{FBF1DC4E-83BD-4877-B016-154B0AC7D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97205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D10"/>
          </a:solidFill>
        </p:spPr>
      </p:sp>
      <p:sp>
        <p:nvSpPr>
          <p:cNvPr id="8" name="cover-event">
            <a:extLst xmlns:a="http://schemas.openxmlformats.org/drawingml/2006/main">
              <a:ext uri="{FF2B5EF4-FFF2-40B4-BE49-F238E27FC236}">
                <a16:creationId xmlns:a16="http://schemas.microsoft.com/office/drawing/2014/main" id="{2D4C3C95-846A-49F1-8905-E4DEDCE58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362450"/>
            <a:ext cx="20955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B0D10"/>
                </a:solidFill>
              </a:defRPr>
            </a:pPr>
            <a:r>
              <a:t>RKNP / ISEF</a:t>
            </a:r>
          </a:p>
        </p:txBody>
      </p:sp>
      <p:sp>
        <p:nvSpPr>
          <p:cNvPr id="9" name="cover-note">
            <a:extLst xmlns:a="http://schemas.openxmlformats.org/drawingml/2006/main">
              <a:ext uri="{FF2B5EF4-FFF2-40B4-BE49-F238E27FC236}">
                <a16:creationId xmlns:a16="http://schemas.microsoft.com/office/drawing/2014/main" id="{6CC82AB0-2C12-4611-A3B8-392AE1F20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991100"/>
            <a:ext cx="22860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55B63"/>
                </a:solidFill>
              </a:defRPr>
            </a:pPr>
            <a:r>
              <a:t>Evidence-led defense</a:t>
            </a:r>
          </a:p>
        </p:txBody>
      </p:sp>
      <p:sp>
        <p:nvSpPr>
          <p:cNvPr id="10" name="slide-number-1">
            <a:extLst xmlns:a="http://schemas.openxmlformats.org/drawingml/2006/main">
              <a:ext uri="{FF2B5EF4-FFF2-40B4-BE49-F238E27FC236}">
                <a16:creationId xmlns:a16="http://schemas.microsoft.com/office/drawing/2014/main" id="{1DFA7F91-C9AC-4F85-87C0-D4018744E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324600"/>
            <a:ext cx="523875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555B63"/>
                </a:solidFill>
              </a:defRPr>
            </a:pPr>
            <a: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91821179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text-42-38">
            <a:extLst xmlns:a="http://schemas.openxmlformats.org/drawingml/2006/main">
              <a:ext uri="{FF2B5EF4-FFF2-40B4-BE49-F238E27FC236}">
                <a16:creationId xmlns:a16="http://schemas.microsoft.com/office/drawing/2014/main" id="{A83FB985-5B30-4365-9334-6C721B35F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2857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6B35"/>
                </a:solidFill>
              </a:defRPr>
            </a:pPr>
            <a:r>
              <a:t>01  Проблема</a:t>
            </a:r>
          </a:p>
        </p:txBody>
      </p:sp>
      <p:sp>
        <p:nvSpPr>
          <p:cNvPr id="2" name="problem-title">
            <a:extLst xmlns:a="http://schemas.openxmlformats.org/drawingml/2006/main">
              <a:ext uri="{FF2B5EF4-FFF2-40B4-BE49-F238E27FC236}">
                <a16:creationId xmlns:a16="http://schemas.microsoft.com/office/drawing/2014/main" id="{417EA95F-83B3-45AA-9DB5-A9CFFD69B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09625"/>
            <a:ext cx="10001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0B0D10"/>
                </a:solidFill>
              </a:defRPr>
            </a:pPr>
            <a:r>
              <a:t>Удалить запись ≠ удалить данные человека</a:t>
            </a:r>
          </a:p>
        </p:txBody>
      </p:sp>
      <p:sp>
        <p:nvSpPr>
          <p:cNvPr id="3" name="problem-source">
            <a:extLst xmlns:a="http://schemas.openxmlformats.org/drawingml/2006/main">
              <a:ext uri="{FF2B5EF4-FFF2-40B4-BE49-F238E27FC236}">
                <a16:creationId xmlns:a16="http://schemas.microsoft.com/office/drawing/2014/main" id="{A331BFE7-5201-496E-86DC-96FE89D45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47950"/>
            <a:ext cx="1524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</p:spPr>
      </p:sp>
      <p:sp>
        <p:nvSpPr>
          <p:cNvPr id="4" name="problem-template">
            <a:extLst xmlns:a="http://schemas.openxmlformats.org/drawingml/2006/main">
              <a:ext uri="{FF2B5EF4-FFF2-40B4-BE49-F238E27FC236}">
                <a16:creationId xmlns:a16="http://schemas.microsoft.com/office/drawing/2014/main" id="{739540B1-01F9-4508-94CB-9E1D8BEFF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000250"/>
            <a:ext cx="157162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</p:spPr>
      </p:sp>
      <p:sp>
        <p:nvSpPr>
          <p:cNvPr id="5" name="problem-cache">
            <a:extLst xmlns:a="http://schemas.openxmlformats.org/drawingml/2006/main">
              <a:ext uri="{FF2B5EF4-FFF2-40B4-BE49-F238E27FC236}">
                <a16:creationId xmlns:a16="http://schemas.microsoft.com/office/drawing/2014/main" id="{45BE3538-88EE-43DF-A5D0-07A15BBC5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238500"/>
            <a:ext cx="157162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</p:spPr>
      </p:sp>
      <p:sp>
        <p:nvSpPr>
          <p:cNvPr id="6" name="problem-vector">
            <a:extLst xmlns:a="http://schemas.openxmlformats.org/drawingml/2006/main">
              <a:ext uri="{FF2B5EF4-FFF2-40B4-BE49-F238E27FC236}">
                <a16:creationId xmlns:a16="http://schemas.microsoft.com/office/drawing/2014/main" id="{4B2E66C3-0E6E-4EB2-9CA5-B8373BB7D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2000250"/>
            <a:ext cx="157162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</p:spPr>
      </p:sp>
      <p:sp>
        <p:nvSpPr>
          <p:cNvPr id="7" name="problem-backup">
            <a:extLst xmlns:a="http://schemas.openxmlformats.org/drawingml/2006/main">
              <a:ext uri="{FF2B5EF4-FFF2-40B4-BE49-F238E27FC236}">
                <a16:creationId xmlns:a16="http://schemas.microsoft.com/office/drawing/2014/main" id="{0DBE5C32-234B-4836-83D5-66B23BB53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3238500"/>
            <a:ext cx="157162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</p:spPr>
      </p:sp>
      <p:sp>
        <p:nvSpPr>
          <p:cNvPr id="8" name="problem-model">
            <a:extLst xmlns:a="http://schemas.openxmlformats.org/drawingml/2006/main">
              <a:ext uri="{FF2B5EF4-FFF2-40B4-BE49-F238E27FC236}">
                <a16:creationId xmlns:a16="http://schemas.microsoft.com/office/drawing/2014/main" id="{08BC6BB9-9108-4161-84D3-A4397015B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647950"/>
            <a:ext cx="157162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</p:spPr>
      </p:sp>
      <p:sp>
        <p:nvSpPr>
          <p:cNvPr id="9" name="edge-source-a">
            <a:extLst xmlns:a="http://schemas.openxmlformats.org/drawingml/2006/main">
              <a:ext uri="{FF2B5EF4-FFF2-40B4-BE49-F238E27FC236}">
                <a16:creationId xmlns:a16="http://schemas.microsoft.com/office/drawing/2014/main" id="{88CC756E-8B13-4186-9638-B8345EFA2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3000375"/>
            <a:ext cx="76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</p:spPr>
      </p:sp>
      <p:sp>
        <p:nvSpPr>
          <p:cNvPr id="10" name="edge-a-b">
            <a:extLst xmlns:a="http://schemas.openxmlformats.org/drawingml/2006/main">
              <a:ext uri="{FF2B5EF4-FFF2-40B4-BE49-F238E27FC236}">
                <a16:creationId xmlns:a16="http://schemas.microsoft.com/office/drawing/2014/main" id="{DD901DF1-6DF9-4769-B905-44FB2136D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2381250"/>
            <a:ext cx="7810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</p:spPr>
      </p:sp>
      <p:sp>
        <p:nvSpPr>
          <p:cNvPr id="11" name="edge-c-d">
            <a:extLst xmlns:a="http://schemas.openxmlformats.org/drawingml/2006/main">
              <a:ext uri="{FF2B5EF4-FFF2-40B4-BE49-F238E27FC236}">
                <a16:creationId xmlns:a16="http://schemas.microsoft.com/office/drawing/2014/main" id="{02E4D965-2C85-453B-A09B-1FE6CBE2E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3619500"/>
            <a:ext cx="7810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</p:spPr>
      </p:sp>
      <p:sp>
        <p:nvSpPr>
          <p:cNvPr id="12" name="edge-b-model">
            <a:extLst xmlns:a="http://schemas.openxmlformats.org/drawingml/2006/main">
              <a:ext uri="{FF2B5EF4-FFF2-40B4-BE49-F238E27FC236}">
                <a16:creationId xmlns:a16="http://schemas.microsoft.com/office/drawing/2014/main" id="{72535351-4455-498C-B687-5500B0634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000375"/>
            <a:ext cx="7810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</p:spPr>
      </p:sp>
      <p:sp>
        <p:nvSpPr>
          <p:cNvPr id="13" name="text-96-305">
            <a:extLst xmlns:a="http://schemas.openxmlformats.org/drawingml/2006/main">
              <a:ext uri="{FF2B5EF4-FFF2-40B4-BE49-F238E27FC236}">
                <a16:creationId xmlns:a16="http://schemas.microsoft.com/office/drawing/2014/main" id="{934CB2F1-045A-48C1-B724-2418A13D4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05125"/>
            <a:ext cx="1190625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B0D10"/>
                </a:solidFill>
              </a:defRPr>
            </a:pPr>
            <a:r>
              <a:t>SOURCE</a:t>
            </a:r>
          </a:p>
        </p:txBody>
      </p:sp>
      <p:sp>
        <p:nvSpPr>
          <p:cNvPr id="14" name="text-336-229">
            <a:extLst xmlns:a="http://schemas.openxmlformats.org/drawingml/2006/main">
              <a:ext uri="{FF2B5EF4-FFF2-40B4-BE49-F238E27FC236}">
                <a16:creationId xmlns:a16="http://schemas.microsoft.com/office/drawing/2014/main" id="{0F1750BD-C747-440E-9656-3D37832A4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181225"/>
            <a:ext cx="12192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B0D10"/>
                </a:solidFill>
              </a:defRPr>
            </a:pPr>
            <a:r>
              <a:t>FACE
TEMPLATE</a:t>
            </a:r>
          </a:p>
        </p:txBody>
      </p:sp>
      <p:sp>
        <p:nvSpPr>
          <p:cNvPr id="15" name="text-336-366">
            <a:extLst xmlns:a="http://schemas.openxmlformats.org/drawingml/2006/main">
              <a:ext uri="{FF2B5EF4-FFF2-40B4-BE49-F238E27FC236}">
                <a16:creationId xmlns:a16="http://schemas.microsoft.com/office/drawing/2014/main" id="{786C482F-4251-406A-B8ED-EF430500C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486150"/>
            <a:ext cx="12192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B0D10"/>
                </a:solidFill>
              </a:defRPr>
            </a:pPr>
            <a:r>
              <a:t>CACHE</a:t>
            </a:r>
          </a:p>
        </p:txBody>
      </p:sp>
      <p:sp>
        <p:nvSpPr>
          <p:cNvPr id="16" name="text-583-229">
            <a:extLst xmlns:a="http://schemas.openxmlformats.org/drawingml/2006/main">
              <a:ext uri="{FF2B5EF4-FFF2-40B4-BE49-F238E27FC236}">
                <a16:creationId xmlns:a16="http://schemas.microsoft.com/office/drawing/2014/main" id="{9A0631BE-BC79-4945-B1B3-7EA3568BD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2181225"/>
            <a:ext cx="12192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B0D10"/>
                </a:solidFill>
              </a:defRPr>
            </a:pPr>
            <a:r>
              <a:t>VECTOR
INDEX</a:t>
            </a:r>
          </a:p>
        </p:txBody>
      </p:sp>
      <p:sp>
        <p:nvSpPr>
          <p:cNvPr id="17" name="text-583-366">
            <a:extLst xmlns:a="http://schemas.openxmlformats.org/drawingml/2006/main">
              <a:ext uri="{FF2B5EF4-FFF2-40B4-BE49-F238E27FC236}">
                <a16:creationId xmlns:a16="http://schemas.microsoft.com/office/drawing/2014/main" id="{9EFA18F5-A689-45E3-8954-8F8F64289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3486150"/>
            <a:ext cx="12192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B0D10"/>
                </a:solidFill>
              </a:defRPr>
            </a:pPr>
            <a:r>
              <a:t>BACKUP</a:t>
            </a:r>
          </a:p>
        </p:txBody>
      </p:sp>
      <p:sp>
        <p:nvSpPr>
          <p:cNvPr id="18" name="text-830-297">
            <a:extLst xmlns:a="http://schemas.openxmlformats.org/drawingml/2006/main">
              <a:ext uri="{FF2B5EF4-FFF2-40B4-BE49-F238E27FC236}">
                <a16:creationId xmlns:a16="http://schemas.microsoft.com/office/drawing/2014/main" id="{5AC56762-68BC-4FCA-B1D5-16D02DDBC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828925"/>
            <a:ext cx="1228725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B0D10"/>
                </a:solidFill>
              </a:defRPr>
            </a:pPr>
            <a:r>
              <a:t>MODEL
INFLUENCE</a:t>
            </a:r>
          </a:p>
        </p:txBody>
      </p:sp>
      <p:sp>
        <p:nvSpPr>
          <p:cNvPr id="19" name="problem-rule">
            <a:extLst xmlns:a="http://schemas.openxmlformats.org/drawingml/2006/main">
              <a:ext uri="{FF2B5EF4-FFF2-40B4-BE49-F238E27FC236}">
                <a16:creationId xmlns:a16="http://schemas.microsoft.com/office/drawing/2014/main" id="{19E36B0E-383A-4687-97E9-98270F1BE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1962150"/>
            <a:ext cx="66675" cy="2714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20" name="text-1060-208">
            <a:extLst xmlns:a="http://schemas.openxmlformats.org/drawingml/2006/main">
              <a:ext uri="{FF2B5EF4-FFF2-40B4-BE49-F238E27FC236}">
                <a16:creationId xmlns:a16="http://schemas.microsoft.com/office/drawing/2014/main" id="{E1317374-0C82-4779-994E-17848A0DC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1981200"/>
            <a:ext cx="1714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F6B35"/>
                </a:solidFill>
              </a:defRPr>
            </a:pPr>
            <a:r>
              <a:t>Вопрос EraSeMap</a:t>
            </a:r>
          </a:p>
        </p:txBody>
      </p:sp>
      <p:sp>
        <p:nvSpPr>
          <p:cNvPr id="21" name="text-1060-264">
            <a:extLst xmlns:a="http://schemas.openxmlformats.org/drawingml/2006/main">
              <a:ext uri="{FF2B5EF4-FFF2-40B4-BE49-F238E27FC236}">
                <a16:creationId xmlns:a16="http://schemas.microsoft.com/office/drawing/2014/main" id="{EABBEEEB-A7AD-4F3A-8E3D-1E4E1398B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2514600"/>
            <a:ext cx="1714500" cy="1885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B0D10"/>
                </a:solidFill>
              </a:defRPr>
            </a:pPr>
            <a:r>
              <a:t>Какая копия или производная всё ещё может использовать данные?</a:t>
            </a:r>
          </a:p>
        </p:txBody>
      </p:sp>
      <p:sp>
        <p:nvSpPr>
          <p:cNvPr id="22" name="text-42-628">
            <a:extLst xmlns:a="http://schemas.openxmlformats.org/drawingml/2006/main">
              <a:ext uri="{FF2B5EF4-FFF2-40B4-BE49-F238E27FC236}">
                <a16:creationId xmlns:a16="http://schemas.microsoft.com/office/drawing/2014/main" id="{76941E5F-F414-4B58-88A3-89644942A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81700"/>
            <a:ext cx="76200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55B63"/>
                </a:solidFill>
              </a:defRPr>
            </a:pPr>
            <a:r>
              <a:t>Гарантия ограничена зарегистрированной инфраструктурой.</a:t>
            </a:r>
          </a:p>
        </p:txBody>
      </p:sp>
      <p:sp>
        <p:nvSpPr>
          <p:cNvPr id="23" name="slide-number-2">
            <a:extLst xmlns:a="http://schemas.openxmlformats.org/drawingml/2006/main">
              <a:ext uri="{FF2B5EF4-FFF2-40B4-BE49-F238E27FC236}">
                <a16:creationId xmlns:a16="http://schemas.microsoft.com/office/drawing/2014/main" id="{BECD2125-91BC-4374-AEBA-4EA45F019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324600"/>
            <a:ext cx="523875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555B63"/>
                </a:solidFill>
              </a:defRPr>
            </a:pPr>
            <a: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38983645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text-42-38">
            <a:extLst xmlns:a="http://schemas.openxmlformats.org/drawingml/2006/main">
              <a:ext uri="{FF2B5EF4-FFF2-40B4-BE49-F238E27FC236}">
                <a16:creationId xmlns:a16="http://schemas.microsoft.com/office/drawing/2014/main" id="{0D7DED18-0C2B-4649-B257-841F1D29E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3143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6B35"/>
                </a:solidFill>
              </a:defRPr>
            </a:pPr>
            <a:r>
              <a:t>02  Живая проверка</a:t>
            </a:r>
          </a:p>
        </p:txBody>
      </p:sp>
      <p:sp>
        <p:nvSpPr>
          <p:cNvPr id="2" name="live-verdict">
            <a:extLst xmlns:a="http://schemas.openxmlformats.org/drawingml/2006/main">
              <a:ext uri="{FF2B5EF4-FFF2-40B4-BE49-F238E27FC236}">
                <a16:creationId xmlns:a16="http://schemas.microsoft.com/office/drawing/2014/main" id="{8E73165E-0748-47DE-A7DC-4E1D411B4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66775"/>
            <a:ext cx="476250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FF6B35"/>
                </a:solidFill>
              </a:defRPr>
            </a:pPr>
            <a:r>
              <a:t>INCOMPLETE</a:t>
            </a:r>
          </a:p>
        </p:txBody>
      </p:sp>
      <p:sp>
        <p:nvSpPr>
          <p:cNvPr id="3" name="text-42-208">
            <a:extLst xmlns:a="http://schemas.openxmlformats.org/drawingml/2006/main">
              <a:ext uri="{FF2B5EF4-FFF2-40B4-BE49-F238E27FC236}">
                <a16:creationId xmlns:a16="http://schemas.microsoft.com/office/drawing/2014/main" id="{0F617AD4-C6CB-473D-BA90-0E7634C82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81200"/>
            <a:ext cx="45720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55B63"/>
                </a:solidFill>
              </a:defRPr>
            </a:pPr>
            <a:r>
              <a:t>Кратчайший остаточный путь</a:t>
            </a:r>
          </a:p>
        </p:txBody>
      </p:sp>
      <p:sp>
        <p:nvSpPr>
          <p:cNvPr id="4" name="live-path-band">
            <a:extLst xmlns:a="http://schemas.openxmlformats.org/drawingml/2006/main">
              <a:ext uri="{FF2B5EF4-FFF2-40B4-BE49-F238E27FC236}">
                <a16:creationId xmlns:a16="http://schemas.microsoft.com/office/drawing/2014/main" id="{E6839879-A82B-4E6B-9A15-5D8CF4A43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0"/>
            <a:ext cx="106680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5F6"/>
          </a:solidFill>
        </p:spPr>
      </p:sp>
      <p:sp>
        <p:nvSpPr>
          <p:cNvPr id="5" name="text-85-332">
            <a:extLst xmlns:a="http://schemas.openxmlformats.org/drawingml/2006/main">
              <a:ext uri="{FF2B5EF4-FFF2-40B4-BE49-F238E27FC236}">
                <a16:creationId xmlns:a16="http://schemas.microsoft.com/office/drawing/2014/main" id="{27B6A5FF-1F5F-486C-8656-171824C12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162300"/>
            <a:ext cx="200025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2850" b="1">
                <a:solidFill>
                  <a:srgbClr val="0B0D10"/>
                </a:solidFill>
              </a:defRPr>
            </a:pPr>
            <a:r>
              <a:t>source</a:t>
            </a:r>
          </a:p>
        </p:txBody>
      </p:sp>
      <p:sp>
        <p:nvSpPr>
          <p:cNvPr id="6" name="text-330-324">
            <a:extLst xmlns:a="http://schemas.openxmlformats.org/drawingml/2006/main">
              <a:ext uri="{FF2B5EF4-FFF2-40B4-BE49-F238E27FC236}">
                <a16:creationId xmlns:a16="http://schemas.microsoft.com/office/drawing/2014/main" id="{1B5F0450-3771-474D-B6ED-59CEBA4F0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086100"/>
            <a:ext cx="7620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FF6B35"/>
                </a:solidFill>
              </a:defRPr>
            </a:pPr>
            <a:r>
              <a:t>→</a:t>
            </a:r>
          </a:p>
        </p:txBody>
      </p:sp>
      <p:sp>
        <p:nvSpPr>
          <p:cNvPr id="7" name="text-440-332">
            <a:extLst xmlns:a="http://schemas.openxmlformats.org/drawingml/2006/main">
              <a:ext uri="{FF2B5EF4-FFF2-40B4-BE49-F238E27FC236}">
                <a16:creationId xmlns:a16="http://schemas.microsoft.com/office/drawing/2014/main" id="{38E2B88E-79AE-4B0D-87E9-60FFA8FFB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162300"/>
            <a:ext cx="238125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2850" b="1">
                <a:solidFill>
                  <a:srgbClr val="0B0D10"/>
                </a:solidFill>
              </a:defRPr>
            </a:pPr>
            <a:r>
              <a:t>template</a:t>
            </a:r>
          </a:p>
        </p:txBody>
      </p:sp>
      <p:sp>
        <p:nvSpPr>
          <p:cNvPr id="8" name="text-85-470">
            <a:extLst xmlns:a="http://schemas.openxmlformats.org/drawingml/2006/main">
              <a:ext uri="{FF2B5EF4-FFF2-40B4-BE49-F238E27FC236}">
                <a16:creationId xmlns:a16="http://schemas.microsoft.com/office/drawing/2014/main" id="{4E41F52F-B04E-4BC6-ACDB-CEC2AC33C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476750"/>
            <a:ext cx="26670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425" b="0">
                <a:solidFill>
                  <a:srgbClr val="555B63"/>
                </a:solidFill>
              </a:defRPr>
            </a:pPr>
            <a:r>
              <a:t>Основная запись удалена</a:t>
            </a:r>
          </a:p>
        </p:txBody>
      </p:sp>
      <p:sp>
        <p:nvSpPr>
          <p:cNvPr id="9" name="text-430-470">
            <a:extLst xmlns:a="http://schemas.openxmlformats.org/drawingml/2006/main">
              <a:ext uri="{FF2B5EF4-FFF2-40B4-BE49-F238E27FC236}">
                <a16:creationId xmlns:a16="http://schemas.microsoft.com/office/drawing/2014/main" id="{E8AAC4AC-6722-4ADF-AF7E-D3825B7BB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476750"/>
            <a:ext cx="26670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FF6B35"/>
                </a:solidFill>
              </a:defRPr>
            </a:pPr>
            <a:r>
              <a:t>Активный шаблон остаётся</a:t>
            </a:r>
          </a:p>
        </p:txBody>
      </p:sp>
      <p:sp>
        <p:nvSpPr>
          <p:cNvPr id="10" name="text-824-104">
            <a:extLst xmlns:a="http://schemas.openxmlformats.org/drawingml/2006/main">
              <a:ext uri="{FF2B5EF4-FFF2-40B4-BE49-F238E27FC236}">
                <a16:creationId xmlns:a16="http://schemas.microsoft.com/office/drawing/2014/main" id="{78A8FEF7-9D28-4011-9764-E32115F03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990600"/>
            <a:ext cx="33337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B0D10"/>
                </a:solidFill>
              </a:defRPr>
            </a:pPr>
            <a:r>
              <a:t>Не скрывает неизвестное</a:t>
            </a:r>
          </a:p>
        </p:txBody>
      </p:sp>
      <p:sp>
        <p:nvSpPr>
          <p:cNvPr id="11" name="text-824-190">
            <a:extLst xmlns:a="http://schemas.openxmlformats.org/drawingml/2006/main">
              <a:ext uri="{FF2B5EF4-FFF2-40B4-BE49-F238E27FC236}">
                <a16:creationId xmlns:a16="http://schemas.microsoft.com/office/drawing/2014/main" id="{6C1F9233-6AC7-4344-9E98-954CCD6FD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809750"/>
            <a:ext cx="2095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87F5B"/>
                </a:solidFill>
              </a:defRPr>
            </a:pPr>
            <a:r>
              <a:t>COMPLETE</a:t>
            </a:r>
          </a:p>
        </p:txBody>
      </p:sp>
      <p:sp>
        <p:nvSpPr>
          <p:cNvPr id="12" name="text-824-226">
            <a:extLst xmlns:a="http://schemas.openxmlformats.org/drawingml/2006/main">
              <a:ext uri="{FF2B5EF4-FFF2-40B4-BE49-F238E27FC236}">
                <a16:creationId xmlns:a16="http://schemas.microsoft.com/office/drawing/2014/main" id="{87A73241-6CF1-46A5-B184-D5355C48A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152650"/>
            <a:ext cx="2857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55B63"/>
                </a:solidFill>
              </a:defRPr>
            </a:pPr>
            <a:r>
              <a:t>все пути закрыты</a:t>
            </a:r>
          </a:p>
        </p:txBody>
      </p:sp>
      <p:sp>
        <p:nvSpPr>
          <p:cNvPr id="13" name="text-824-290">
            <a:extLst xmlns:a="http://schemas.openxmlformats.org/drawingml/2006/main">
              <a:ext uri="{FF2B5EF4-FFF2-40B4-BE49-F238E27FC236}">
                <a16:creationId xmlns:a16="http://schemas.microsoft.com/office/drawing/2014/main" id="{128090B1-CA7E-4F74-A99A-47218ED5D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762250"/>
            <a:ext cx="2095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F6B35"/>
                </a:solidFill>
              </a:defRPr>
            </a:pPr>
            <a:r>
              <a:t>INCOMPLETE</a:t>
            </a:r>
          </a:p>
        </p:txBody>
      </p:sp>
      <p:sp>
        <p:nvSpPr>
          <p:cNvPr id="14" name="text-824-326">
            <a:extLst xmlns:a="http://schemas.openxmlformats.org/drawingml/2006/main">
              <a:ext uri="{FF2B5EF4-FFF2-40B4-BE49-F238E27FC236}">
                <a16:creationId xmlns:a16="http://schemas.microsoft.com/office/drawing/2014/main" id="{DB057B2B-4DE8-4090-87DC-50900EA24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105150"/>
            <a:ext cx="2857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55B63"/>
                </a:solidFill>
              </a:defRPr>
            </a:pPr>
            <a:r>
              <a:t>остаток найден</a:t>
            </a:r>
          </a:p>
        </p:txBody>
      </p:sp>
      <p:sp>
        <p:nvSpPr>
          <p:cNvPr id="15" name="text-824-390">
            <a:extLst xmlns:a="http://schemas.openxmlformats.org/drawingml/2006/main">
              <a:ext uri="{FF2B5EF4-FFF2-40B4-BE49-F238E27FC236}">
                <a16:creationId xmlns:a16="http://schemas.microsoft.com/office/drawing/2014/main" id="{9B422F86-928C-417E-A887-B4057D1C6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714750"/>
            <a:ext cx="2095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B0D10"/>
                </a:solidFill>
              </a:defRPr>
            </a:pPr>
            <a:r>
              <a:t>UNVERIFIED</a:t>
            </a:r>
          </a:p>
        </p:txBody>
      </p:sp>
      <p:sp>
        <p:nvSpPr>
          <p:cNvPr id="16" name="text-824-426">
            <a:extLst xmlns:a="http://schemas.openxmlformats.org/drawingml/2006/main">
              <a:ext uri="{FF2B5EF4-FFF2-40B4-BE49-F238E27FC236}">
                <a16:creationId xmlns:a16="http://schemas.microsoft.com/office/drawing/2014/main" id="{59174965-FB0E-418D-8C96-23E846131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057650"/>
            <a:ext cx="3238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55B63"/>
                </a:solidFill>
              </a:defRPr>
            </a:pPr>
            <a:r>
              <a:t>доказательств недостаточно</a:t>
            </a:r>
          </a:p>
        </p:txBody>
      </p:sp>
      <p:sp>
        <p:nvSpPr>
          <p:cNvPr id="17" name="text-42-607">
            <a:extLst xmlns:a="http://schemas.openxmlformats.org/drawingml/2006/main">
              <a:ext uri="{FF2B5EF4-FFF2-40B4-BE49-F238E27FC236}">
                <a16:creationId xmlns:a16="http://schemas.microsoft.com/office/drawing/2014/main" id="{F59DA9AD-69C4-4872-9C6F-6DFF1C063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81675"/>
            <a:ext cx="72390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B0D10"/>
                </a:solidFill>
              </a:defRPr>
            </a:pPr>
            <a:r>
              <a:t>Команда: erasemap showcase --repo-root .</a:t>
            </a:r>
          </a:p>
        </p:txBody>
      </p:sp>
      <p:sp>
        <p:nvSpPr>
          <p:cNvPr id="18" name="slide-number-3">
            <a:extLst xmlns:a="http://schemas.openxmlformats.org/drawingml/2006/main">
              <a:ext uri="{FF2B5EF4-FFF2-40B4-BE49-F238E27FC236}">
                <a16:creationId xmlns:a16="http://schemas.microsoft.com/office/drawing/2014/main" id="{4E7C9E0F-08B0-46EE-9704-480E76992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324600"/>
            <a:ext cx="523875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555B63"/>
                </a:solidFill>
              </a:defRPr>
            </a:pPr>
            <a: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93418833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42-38">
            <a:extLst xmlns:a="http://schemas.openxmlformats.org/drawingml/2006/main">
              <a:ext uri="{FF2B5EF4-FFF2-40B4-BE49-F238E27FC236}">
                <a16:creationId xmlns:a16="http://schemas.microsoft.com/office/drawing/2014/main" id="{2ADB0BFD-EE7A-443A-83CD-513916D74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2381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6B35"/>
                </a:solidFill>
              </a:defRPr>
            </a:pPr>
            <a:r>
              <a:t>03  Метод</a:t>
            </a:r>
          </a:p>
        </p:txBody>
      </p:sp>
      <p:sp>
        <p:nvSpPr>
          <p:cNvPr id="2" name="text-42-84">
            <a:extLst xmlns:a="http://schemas.openxmlformats.org/drawingml/2006/main">
              <a:ext uri="{FF2B5EF4-FFF2-40B4-BE49-F238E27FC236}">
                <a16:creationId xmlns:a16="http://schemas.microsoft.com/office/drawing/2014/main" id="{2E76A229-3DE9-46C2-9053-9CE86CB43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00100"/>
            <a:ext cx="80010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0B0D10"/>
                </a:solidFill>
              </a:defRPr>
            </a:pPr>
            <a:r>
              <a:t>Один fail-closed контракт</a:t>
            </a:r>
          </a:p>
        </p:txBody>
      </p:sp>
      <p:sp>
        <p:nvSpPr>
          <p:cNvPr id="3" name="method-graph">
            <a:extLst xmlns:a="http://schemas.openxmlformats.org/drawingml/2006/main">
              <a:ext uri="{FF2B5EF4-FFF2-40B4-BE49-F238E27FC236}">
                <a16:creationId xmlns:a16="http://schemas.microsoft.com/office/drawing/2014/main" id="{445AA98D-987E-4D2F-AC41-2E3600D04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28825"/>
            <a:ext cx="3381375" cy="3476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</p:spPr>
      </p:sp>
      <p:sp>
        <p:nvSpPr>
          <p:cNvPr id="4" name="method-proof">
            <a:extLst xmlns:a="http://schemas.openxmlformats.org/drawingml/2006/main">
              <a:ext uri="{FF2B5EF4-FFF2-40B4-BE49-F238E27FC236}">
                <a16:creationId xmlns:a16="http://schemas.microsoft.com/office/drawing/2014/main" id="{9C8CC1B5-F2AE-4AB0-A69F-0F64D2392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028825"/>
            <a:ext cx="3381375" cy="3476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</p:spPr>
      </p:sp>
      <p:sp>
        <p:nvSpPr>
          <p:cNvPr id="5" name="method-cut">
            <a:extLst xmlns:a="http://schemas.openxmlformats.org/drawingml/2006/main">
              <a:ext uri="{FF2B5EF4-FFF2-40B4-BE49-F238E27FC236}">
                <a16:creationId xmlns:a16="http://schemas.microsoft.com/office/drawing/2014/main" id="{832FE88C-7A06-4689-B9FE-677AAF5BC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028825"/>
            <a:ext cx="3381375" cy="3476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</p:spPr>
      </p:sp>
      <p:sp>
        <p:nvSpPr>
          <p:cNvPr id="6" name="text-69-238">
            <a:extLst xmlns:a="http://schemas.openxmlformats.org/drawingml/2006/main">
              <a:ext uri="{FF2B5EF4-FFF2-40B4-BE49-F238E27FC236}">
                <a16:creationId xmlns:a16="http://schemas.microsoft.com/office/drawing/2014/main" id="{5214B5B4-F594-4E41-BF81-0744C2AAB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266950"/>
            <a:ext cx="4762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FF6B35"/>
                </a:solidFill>
              </a:defRPr>
            </a:pPr>
            <a:r>
              <a:t>1</a:t>
            </a:r>
          </a:p>
        </p:txBody>
      </p:sp>
      <p:sp>
        <p:nvSpPr>
          <p:cNvPr id="7" name="text-69-310">
            <a:extLst xmlns:a="http://schemas.openxmlformats.org/drawingml/2006/main">
              <a:ext uri="{FF2B5EF4-FFF2-40B4-BE49-F238E27FC236}">
                <a16:creationId xmlns:a16="http://schemas.microsoft.com/office/drawing/2014/main" id="{AB868F2D-6282-4435-9814-F1DDB8122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952750"/>
            <a:ext cx="26670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0B0D10"/>
                </a:solidFill>
              </a:defRPr>
            </a:pPr>
            <a:r>
              <a:t>PCUG</a:t>
            </a:r>
          </a:p>
        </p:txBody>
      </p:sp>
      <p:sp>
        <p:nvSpPr>
          <p:cNvPr id="8" name="text-69-378">
            <a:extLst xmlns:a="http://schemas.openxmlformats.org/drawingml/2006/main">
              <a:ext uri="{FF2B5EF4-FFF2-40B4-BE49-F238E27FC236}">
                <a16:creationId xmlns:a16="http://schemas.microsoft.com/office/drawing/2014/main" id="{06B49869-1D9C-4833-A072-0748F8987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3600450"/>
            <a:ext cx="2667000" cy="1238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B0D10"/>
                </a:solidFill>
              </a:defRPr>
            </a:pPr>
            <a:r>
              <a:t>Физические копии + request-scoped model influence + обязательные verifier-каналы.</a:t>
            </a:r>
          </a:p>
        </p:txBody>
      </p:sp>
      <p:sp>
        <p:nvSpPr>
          <p:cNvPr id="9" name="text-489-238">
            <a:extLst xmlns:a="http://schemas.openxmlformats.org/drawingml/2006/main">
              <a:ext uri="{FF2B5EF4-FFF2-40B4-BE49-F238E27FC236}">
                <a16:creationId xmlns:a16="http://schemas.microsoft.com/office/drawing/2014/main" id="{7FDB58C3-FD43-465F-992C-7E9D0599E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266950"/>
            <a:ext cx="4762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FF6B35"/>
                </a:solidFill>
              </a:defRPr>
            </a:pPr>
            <a:r>
              <a:t>2</a:t>
            </a:r>
          </a:p>
        </p:txBody>
      </p:sp>
      <p:sp>
        <p:nvSpPr>
          <p:cNvPr id="10" name="text-489-310">
            <a:extLst xmlns:a="http://schemas.openxmlformats.org/drawingml/2006/main">
              <a:ext uri="{FF2B5EF4-FFF2-40B4-BE49-F238E27FC236}">
                <a16:creationId xmlns:a16="http://schemas.microsoft.com/office/drawing/2014/main" id="{854C5A1F-2426-49C8-8A9E-E7771FD66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952750"/>
            <a:ext cx="26670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0B0D10"/>
                </a:solidFill>
              </a:defRPr>
            </a:pPr>
            <a:r>
              <a:t>Proof bundle</a:t>
            </a:r>
          </a:p>
        </p:txBody>
      </p:sp>
      <p:sp>
        <p:nvSpPr>
          <p:cNvPr id="11" name="text-489-378">
            <a:extLst xmlns:a="http://schemas.openxmlformats.org/drawingml/2006/main">
              <a:ext uri="{FF2B5EF4-FFF2-40B4-BE49-F238E27FC236}">
                <a16:creationId xmlns:a16="http://schemas.microsoft.com/office/drawing/2014/main" id="{307855CD-6F77-4C88-A190-DEE545644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600450"/>
            <a:ext cx="2667000" cy="1238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B0D10"/>
                </a:solidFill>
              </a:defRPr>
            </a:pPr>
            <a:r>
              <a:t>Commitments, raw evidence, replay, signature и independently recomputed verdict.</a:t>
            </a:r>
          </a:p>
        </p:txBody>
      </p:sp>
      <p:sp>
        <p:nvSpPr>
          <p:cNvPr id="12" name="text-909-238">
            <a:extLst xmlns:a="http://schemas.openxmlformats.org/drawingml/2006/main">
              <a:ext uri="{FF2B5EF4-FFF2-40B4-BE49-F238E27FC236}">
                <a16:creationId xmlns:a16="http://schemas.microsoft.com/office/drawing/2014/main" id="{BD7FBEF4-0818-4155-8DF9-9EE04181D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2266950"/>
            <a:ext cx="4762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FF6B35"/>
                </a:solidFill>
              </a:defRPr>
            </a:pPr>
            <a:r>
              <a:t>3</a:t>
            </a:r>
          </a:p>
        </p:txBody>
      </p:sp>
      <p:sp>
        <p:nvSpPr>
          <p:cNvPr id="13" name="text-909-310">
            <a:extLst xmlns:a="http://schemas.openxmlformats.org/drawingml/2006/main">
              <a:ext uri="{FF2B5EF4-FFF2-40B4-BE49-F238E27FC236}">
                <a16:creationId xmlns:a16="http://schemas.microsoft.com/office/drawing/2014/main" id="{06E704E8-3D11-409E-825F-EAD96B166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2952750"/>
            <a:ext cx="26670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0B0D10"/>
                </a:solidFill>
              </a:defRPr>
            </a:pPr>
            <a:r>
              <a:t>Exact CDC</a:t>
            </a:r>
          </a:p>
        </p:txBody>
      </p:sp>
      <p:sp>
        <p:nvSpPr>
          <p:cNvPr id="14" name="text-909-378">
            <a:extLst xmlns:a="http://schemas.openxmlformats.org/drawingml/2006/main">
              <a:ext uri="{FF2B5EF4-FFF2-40B4-BE49-F238E27FC236}">
                <a16:creationId xmlns:a16="http://schemas.microsoft.com/office/drawing/2014/main" id="{2A23EF1D-1816-41A0-A1C7-EE7E7D884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3600450"/>
            <a:ext cx="2667000" cy="1238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B0D10"/>
                </a:solidFill>
              </a:defRPr>
            </a:pPr>
            <a:r>
              <a:t>Минимальная по стоимости разрешённая remediation, закрывающая представленные пути.</a:t>
            </a:r>
          </a:p>
        </p:txBody>
      </p:sp>
      <p:sp>
        <p:nvSpPr>
          <p:cNvPr id="15" name="text-42-624">
            <a:extLst xmlns:a="http://schemas.openxmlformats.org/drawingml/2006/main">
              <a:ext uri="{FF2B5EF4-FFF2-40B4-BE49-F238E27FC236}">
                <a16:creationId xmlns:a16="http://schemas.microsoft.com/office/drawing/2014/main" id="{8FE06295-BB67-4999-B18D-927AED086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43600"/>
            <a:ext cx="104775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55B63"/>
                </a:solidFill>
              </a:defRPr>
            </a:pPr>
            <a:r>
              <a:t>Не отдельный unlearning algorithm — системный слой принятия и проверки решения.</a:t>
            </a:r>
          </a:p>
        </p:txBody>
      </p:sp>
      <p:sp>
        <p:nvSpPr>
          <p:cNvPr id="16" name="slide-number-4">
            <a:extLst xmlns:a="http://schemas.openxmlformats.org/drawingml/2006/main">
              <a:ext uri="{FF2B5EF4-FFF2-40B4-BE49-F238E27FC236}">
                <a16:creationId xmlns:a16="http://schemas.microsoft.com/office/drawing/2014/main" id="{F5CF1F1B-88CD-4B85-9F7F-372DF8982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324600"/>
            <a:ext cx="523875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555B63"/>
                </a:solidFill>
              </a:defRPr>
            </a:pPr>
            <a: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78710786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ext-42-38">
            <a:extLst xmlns:a="http://schemas.openxmlformats.org/drawingml/2006/main">
              <a:ext uri="{FF2B5EF4-FFF2-40B4-BE49-F238E27FC236}">
                <a16:creationId xmlns:a16="http://schemas.microsoft.com/office/drawing/2014/main" id="{EADD696A-192F-4799-80C7-1E81FED97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2857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6B35"/>
                </a:solidFill>
              </a:defRPr>
            </a:pPr>
            <a:r>
              <a:t>04  Зачем PCUG</a:t>
            </a:r>
          </a:p>
        </p:txBody>
      </p:sp>
      <p:sp>
        <p:nvSpPr>
          <p:cNvPr id="2" name="text-42-84">
            <a:extLst xmlns:a="http://schemas.openxmlformats.org/drawingml/2006/main">
              <a:ext uri="{FF2B5EF4-FFF2-40B4-BE49-F238E27FC236}">
                <a16:creationId xmlns:a16="http://schemas.microsoft.com/office/drawing/2014/main" id="{AD57C52E-A627-4C0E-A7DD-C35974C27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00100"/>
            <a:ext cx="106680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375" b="1">
                <a:solidFill>
                  <a:srgbClr val="0B0D10"/>
                </a:solidFill>
              </a:defRPr>
            </a:pPr>
            <a:r>
              <a:t>Node-state audit пропускает взаимодействия</a:t>
            </a:r>
          </a:p>
        </p:txBody>
      </p:sp>
      <p:sp>
        <p:nvSpPr>
          <p:cNvPr id="3" name="stress-chart-frame">
            <a:extLst xmlns:a="http://schemas.openxmlformats.org/drawingml/2006/main">
              <a:ext uri="{FF2B5EF4-FFF2-40B4-BE49-F238E27FC236}">
                <a16:creationId xmlns:a16="http://schemas.microsoft.com/office/drawing/2014/main" id="{F5404C2A-78A5-4B84-9D48-5F0B0F867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14500"/>
            <a:ext cx="6762750" cy="438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5F6"/>
          </a:solidFill>
        </p:spPr>
      </p:sp>
      <p:sp>
        <p:nvSpPr>
          <p:cNvPr id="4" name="text-824-224">
            <a:extLst xmlns:a="http://schemas.openxmlformats.org/drawingml/2006/main">
              <a:ext uri="{FF2B5EF4-FFF2-40B4-BE49-F238E27FC236}">
                <a16:creationId xmlns:a16="http://schemas.microsoft.com/office/drawing/2014/main" id="{858A50F0-65A9-406A-B1C3-295632E06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133600"/>
            <a:ext cx="342900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4950" b="1">
                <a:solidFill>
                  <a:srgbClr val="087F5B"/>
                </a:solidFill>
              </a:defRPr>
            </a:pPr>
            <a:r>
              <a:t>0 / 75</a:t>
            </a:r>
          </a:p>
        </p:txBody>
      </p:sp>
      <p:sp>
        <p:nvSpPr>
          <p:cNvPr id="5" name="text-824-316">
            <a:extLst xmlns:a="http://schemas.openxmlformats.org/drawingml/2006/main">
              <a:ext uri="{FF2B5EF4-FFF2-40B4-BE49-F238E27FC236}">
                <a16:creationId xmlns:a16="http://schemas.microsoft.com/office/drawing/2014/main" id="{45742C1C-A638-42D0-BD4A-643B6CF8C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009900"/>
            <a:ext cx="33337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B0D10"/>
                </a:solidFill>
              </a:defRPr>
            </a:pPr>
            <a:r>
              <a:t>ложных COMPLETE у PCUG</a:t>
            </a:r>
          </a:p>
        </p:txBody>
      </p:sp>
      <p:sp>
        <p:nvSpPr>
          <p:cNvPr id="6" name="text-824-410">
            <a:extLst xmlns:a="http://schemas.openxmlformats.org/drawingml/2006/main">
              <a:ext uri="{FF2B5EF4-FFF2-40B4-BE49-F238E27FC236}">
                <a16:creationId xmlns:a16="http://schemas.microsoft.com/office/drawing/2014/main" id="{F6F78289-E1E1-4422-97C8-8379DED02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905250"/>
            <a:ext cx="342900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4950" b="1">
                <a:solidFill>
                  <a:srgbClr val="FF6B35"/>
                </a:solidFill>
              </a:defRPr>
            </a:pPr>
            <a:r>
              <a:t>75 / 75</a:t>
            </a:r>
          </a:p>
        </p:txBody>
      </p:sp>
      <p:sp>
        <p:nvSpPr>
          <p:cNvPr id="7" name="text-824-502">
            <a:extLst xmlns:a="http://schemas.openxmlformats.org/drawingml/2006/main">
              <a:ext uri="{FF2B5EF4-FFF2-40B4-BE49-F238E27FC236}">
                <a16:creationId xmlns:a16="http://schemas.microsoft.com/office/drawing/2014/main" id="{5340DAAA-E0C0-4AC4-8844-9488337EE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781550"/>
            <a:ext cx="33337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B0D10"/>
                </a:solidFill>
              </a:defRPr>
            </a:pPr>
            <a:r>
              <a:t>у node-only typed audit</a:t>
            </a:r>
          </a:p>
        </p:txBody>
      </p:sp>
      <p:sp>
        <p:nvSpPr>
          <p:cNvPr id="8" name="text-824-588">
            <a:extLst xmlns:a="http://schemas.openxmlformats.org/drawingml/2006/main">
              <a:ext uri="{FF2B5EF4-FFF2-40B4-BE49-F238E27FC236}">
                <a16:creationId xmlns:a16="http://schemas.microsoft.com/office/drawing/2014/main" id="{DCBB79CC-5D42-4D56-917B-9378A4022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5600700"/>
            <a:ext cx="3429000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55B63"/>
                </a:solidFill>
              </a:defRPr>
            </a:pPr>
            <a:r>
              <a:t>Project-authored mechanism stress test — не внешний holdout.</a:t>
            </a:r>
          </a:p>
        </p:txBody>
      </p:sp>
      <p:sp>
        <p:nvSpPr>
          <p:cNvPr id="9" name="slide-number-5">
            <a:extLst xmlns:a="http://schemas.openxmlformats.org/drawingml/2006/main">
              <a:ext uri="{FF2B5EF4-FFF2-40B4-BE49-F238E27FC236}">
                <a16:creationId xmlns:a16="http://schemas.microsoft.com/office/drawing/2014/main" id="{E6BA1C7A-5CCC-43E0-8498-73C0EC114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324600"/>
            <a:ext cx="523875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555B63"/>
                </a:solidFill>
              </a:defRPr>
            </a:pPr>
            <a:r>
              <a:t>05</a:t>
            </a:r>
          </a:p>
        </p:txBody>
      </p:sp>
      <p:graphicFrame>
        <p:nvGraphicFramePr>
          <p:cNvPr id="22" name="Chart"/>
          <p:cNvGraphicFramePr/>
          <p:nvPr/>
        </p:nvGraphicFramePr>
        <p:xfrm>
          <a:off xmlns:a="http://schemas.openxmlformats.org/drawingml/2006/main" x="809625" y="2238375"/>
          <a:ext xmlns:a="http://schemas.openxmlformats.org/drawingml/2006/main" cx="5905500" cy="3238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fe7050674d8484c"/>
          </a:graphicData>
        </a:graphic>
      </p:graphicFrame>
    </p:spTree>
    <p:extLst>
      <p:ext uri="{BB962C8B-B14F-4D97-AF65-F5344CB8AC3E}">
        <p14:creationId xmlns:p14="http://schemas.microsoft.com/office/powerpoint/2010/main" val="160735886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ext-42-38">
            <a:extLst xmlns:a="http://schemas.openxmlformats.org/drawingml/2006/main">
              <a:ext uri="{FF2B5EF4-FFF2-40B4-BE49-F238E27FC236}">
                <a16:creationId xmlns:a16="http://schemas.microsoft.com/office/drawing/2014/main" id="{47F52038-FD36-43B8-AE96-32D11D2F3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3429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6B35"/>
                </a:solidFill>
              </a:defRPr>
            </a:pPr>
            <a:r>
              <a:t>05  Формальная часть</a:t>
            </a:r>
          </a:p>
        </p:txBody>
      </p:sp>
      <p:sp>
        <p:nvSpPr>
          <p:cNvPr id="2" name="text-42-104">
            <a:extLst xmlns:a="http://schemas.openxmlformats.org/drawingml/2006/main">
              <a:ext uri="{FF2B5EF4-FFF2-40B4-BE49-F238E27FC236}">
                <a16:creationId xmlns:a16="http://schemas.microsoft.com/office/drawing/2014/main" id="{3FFC32B1-F7CF-4243-A4D3-BAF6BF9FA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990600"/>
            <a:ext cx="6572250" cy="1047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5700" b="1">
                <a:solidFill>
                  <a:srgbClr val="0B0D10"/>
                </a:solidFill>
              </a:defRPr>
            </a:pPr>
            <a:r>
              <a:t>3 072 / 3 072</a:t>
            </a:r>
          </a:p>
        </p:txBody>
      </p:sp>
      <p:sp>
        <p:nvSpPr>
          <p:cNvPr id="3" name="text-42-226">
            <a:extLst xmlns:a="http://schemas.openxmlformats.org/drawingml/2006/main">
              <a:ext uri="{FF2B5EF4-FFF2-40B4-BE49-F238E27FC236}">
                <a16:creationId xmlns:a16="http://schemas.microsoft.com/office/drawing/2014/main" id="{B6FFA2C5-6AB4-45B2-A300-A084BEAEF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152650"/>
            <a:ext cx="685800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555B63"/>
                </a:solidFill>
              </a:defRPr>
            </a:pPr>
            <a:r>
              <a:t>production exact CDC = exhaustive oracle</a:t>
            </a:r>
          </a:p>
        </p:txBody>
      </p:sp>
      <p:sp>
        <p:nvSpPr>
          <p:cNvPr id="4" name="formal-soundness">
            <a:extLst xmlns:a="http://schemas.openxmlformats.org/drawingml/2006/main">
              <a:ext uri="{FF2B5EF4-FFF2-40B4-BE49-F238E27FC236}">
                <a16:creationId xmlns:a16="http://schemas.microsoft.com/office/drawing/2014/main" id="{5C74AB40-C941-4C76-AB47-5DACAA759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57550"/>
            <a:ext cx="3486150" cy="2152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</p:spPr>
      </p:sp>
      <p:sp>
        <p:nvSpPr>
          <p:cNvPr id="5" name="formal-optimality">
            <a:extLst xmlns:a="http://schemas.openxmlformats.org/drawingml/2006/main">
              <a:ext uri="{FF2B5EF4-FFF2-40B4-BE49-F238E27FC236}">
                <a16:creationId xmlns:a16="http://schemas.microsoft.com/office/drawing/2014/main" id="{C350FFB6-32F3-4520-BC2A-08C1859A3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3257550"/>
            <a:ext cx="3486150" cy="2152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</p:spPr>
      </p:sp>
      <p:sp>
        <p:nvSpPr>
          <p:cNvPr id="6" name="formal-boundary">
            <a:extLst xmlns:a="http://schemas.openxmlformats.org/drawingml/2006/main">
              <a:ext uri="{FF2B5EF4-FFF2-40B4-BE49-F238E27FC236}">
                <a16:creationId xmlns:a16="http://schemas.microsoft.com/office/drawing/2014/main" id="{54090CA8-4865-4FEA-8D1B-D56C0FA4D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257550"/>
            <a:ext cx="3486150" cy="2152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</p:spPr>
      </p:sp>
      <p:sp>
        <p:nvSpPr>
          <p:cNvPr id="7" name="text-70-372">
            <a:extLst xmlns:a="http://schemas.openxmlformats.org/drawingml/2006/main">
              <a:ext uri="{FF2B5EF4-FFF2-40B4-BE49-F238E27FC236}">
                <a16:creationId xmlns:a16="http://schemas.microsoft.com/office/drawing/2014/main" id="{F2777B8A-BC9F-471E-9D79-E5C67A9E1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43300"/>
            <a:ext cx="29527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B0D10"/>
                </a:solidFill>
              </a:defRPr>
            </a:pPr>
            <a:r>
              <a:t>Soundness</a:t>
            </a:r>
          </a:p>
        </p:txBody>
      </p:sp>
      <p:sp>
        <p:nvSpPr>
          <p:cNvPr id="8" name="text-70-432">
            <a:extLst xmlns:a="http://schemas.openxmlformats.org/drawingml/2006/main">
              <a:ext uri="{FF2B5EF4-FFF2-40B4-BE49-F238E27FC236}">
                <a16:creationId xmlns:a16="http://schemas.microsoft.com/office/drawing/2014/main" id="{955EA2F1-4893-4FE7-9C30-FEFF15AA1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14800"/>
            <a:ext cx="2905125" cy="990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0B0D10"/>
                </a:solidFill>
              </a:defRPr>
            </a:pPr>
            <a:r>
              <a:t>Replayed COMPLETE закрывает представленные реальные residual paths и mandatory channels.</a:t>
            </a:r>
          </a:p>
        </p:txBody>
      </p:sp>
      <p:sp>
        <p:nvSpPr>
          <p:cNvPr id="9" name="text-485-372">
            <a:extLst xmlns:a="http://schemas.openxmlformats.org/drawingml/2006/main">
              <a:ext uri="{FF2B5EF4-FFF2-40B4-BE49-F238E27FC236}">
                <a16:creationId xmlns:a16="http://schemas.microsoft.com/office/drawing/2014/main" id="{6A5E3E7A-78A8-4EBD-9C68-FCAD9A7C7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543300"/>
            <a:ext cx="29527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B0D10"/>
                </a:solidFill>
              </a:defRPr>
            </a:pPr>
            <a:r>
              <a:t>Optimality</a:t>
            </a:r>
          </a:p>
        </p:txBody>
      </p:sp>
      <p:sp>
        <p:nvSpPr>
          <p:cNvPr id="10" name="text-485-432">
            <a:extLst xmlns:a="http://schemas.openxmlformats.org/drawingml/2006/main">
              <a:ext uri="{FF2B5EF4-FFF2-40B4-BE49-F238E27FC236}">
                <a16:creationId xmlns:a16="http://schemas.microsoft.com/office/drawing/2014/main" id="{FFFEBFE3-28DD-419E-99B1-4C7807F02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114800"/>
            <a:ext cx="2905125" cy="990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0B0D10"/>
                </a:solidFill>
              </a:defRPr>
            </a:pPr>
            <a:r>
              <a:t>Finite exact selector возвращает feasible candidate с глобально минимальной стоимостью.</a:t>
            </a:r>
          </a:p>
        </p:txBody>
      </p:sp>
      <p:sp>
        <p:nvSpPr>
          <p:cNvPr id="11" name="text-900-372">
            <a:extLst xmlns:a="http://schemas.openxmlformats.org/drawingml/2006/main">
              <a:ext uri="{FF2B5EF4-FFF2-40B4-BE49-F238E27FC236}">
                <a16:creationId xmlns:a16="http://schemas.microsoft.com/office/drawing/2014/main" id="{3FD10252-1EF6-4400-BCE5-2F2F135B1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543300"/>
            <a:ext cx="29527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FF6B35"/>
                </a:solidFill>
              </a:defRPr>
            </a:pPr>
            <a:r>
              <a:t>Boundary</a:t>
            </a:r>
          </a:p>
        </p:txBody>
      </p:sp>
      <p:sp>
        <p:nvSpPr>
          <p:cNvPr id="12" name="text-900-432">
            <a:extLst xmlns:a="http://schemas.openxmlformats.org/drawingml/2006/main">
              <a:ext uri="{FF2B5EF4-FFF2-40B4-BE49-F238E27FC236}">
                <a16:creationId xmlns:a16="http://schemas.microsoft.com/office/drawing/2014/main" id="{1D2398CD-75BF-433D-9437-40C2D38AD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114800"/>
            <a:ext cx="2905125" cy="990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0B0D10"/>
                </a:solidFill>
              </a:defRPr>
            </a:pPr>
            <a:r>
              <a:t>Требуются complete registered topology и sound local verifiers.</a:t>
            </a:r>
          </a:p>
        </p:txBody>
      </p:sp>
      <p:sp>
        <p:nvSpPr>
          <p:cNvPr id="13" name="text-42-626">
            <a:extLst xmlns:a="http://schemas.openxmlformats.org/drawingml/2006/main">
              <a:ext uri="{FF2B5EF4-FFF2-40B4-BE49-F238E27FC236}">
                <a16:creationId xmlns:a16="http://schemas.microsoft.com/office/drawing/2014/main" id="{059A0A9C-21AF-4CFD-B3D6-8A2559326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62650"/>
            <a:ext cx="76200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55B63"/>
                </a:solidFill>
              </a:defRPr>
            </a:pPr>
            <a:r>
              <a:t>Lean 4 · no sorry/admit · axiom allowlist audited</a:t>
            </a:r>
          </a:p>
        </p:txBody>
      </p:sp>
      <p:sp>
        <p:nvSpPr>
          <p:cNvPr id="14" name="slide-number-6">
            <a:extLst xmlns:a="http://schemas.openxmlformats.org/drawingml/2006/main">
              <a:ext uri="{FF2B5EF4-FFF2-40B4-BE49-F238E27FC236}">
                <a16:creationId xmlns:a16="http://schemas.microsoft.com/office/drawing/2014/main" id="{EE802AA7-CA8A-4282-AEF2-D778B3702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324600"/>
            <a:ext cx="523875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555B63"/>
                </a:solidFill>
              </a:defRPr>
            </a:pPr>
            <a: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0367511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ext-42-38">
            <a:extLst xmlns:a="http://schemas.openxmlformats.org/drawingml/2006/main">
              <a:ext uri="{FF2B5EF4-FFF2-40B4-BE49-F238E27FC236}">
                <a16:creationId xmlns:a16="http://schemas.microsoft.com/office/drawing/2014/main" id="{B22BBC53-C619-4A2B-839F-7CBED54D0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4000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6B35"/>
                </a:solidFill>
              </a:defRPr>
            </a:pPr>
            <a:r>
              <a:t>06  Real-process experiment</a:t>
            </a:r>
          </a:p>
        </p:txBody>
      </p:sp>
      <p:sp>
        <p:nvSpPr>
          <p:cNvPr id="2" name="text-42-84">
            <a:extLst xmlns:a="http://schemas.openxmlformats.org/drawingml/2006/main">
              <a:ext uri="{FF2B5EF4-FFF2-40B4-BE49-F238E27FC236}">
                <a16:creationId xmlns:a16="http://schemas.microsoft.com/office/drawing/2014/main" id="{D185CEB2-B25C-43E7-8597-24C78B8E4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00100"/>
            <a:ext cx="106680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375" b="1">
                <a:solidFill>
                  <a:srgbClr val="0B0D10"/>
                </a:solidFill>
              </a:defRPr>
            </a:pPr>
            <a:r>
              <a:t>Меньше работы — тот же verified COMPLETE</a:t>
            </a:r>
          </a:p>
        </p:txBody>
      </p:sp>
      <p:sp>
        <p:nvSpPr>
          <p:cNvPr id="3" name="systems-chart-frame">
            <a:extLst xmlns:a="http://schemas.openxmlformats.org/drawingml/2006/main">
              <a:ext uri="{FF2B5EF4-FFF2-40B4-BE49-F238E27FC236}">
                <a16:creationId xmlns:a16="http://schemas.microsoft.com/office/drawing/2014/main" id="{7347690E-4A98-40BD-8A7C-733BB2E49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52600"/>
            <a:ext cx="619125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5F6"/>
          </a:solidFill>
        </p:spPr>
      </p:sp>
      <p:sp>
        <p:nvSpPr>
          <p:cNvPr id="4" name="text-760-205">
            <a:extLst xmlns:a="http://schemas.openxmlformats.org/drawingml/2006/main">
              <a:ext uri="{FF2B5EF4-FFF2-40B4-BE49-F238E27FC236}">
                <a16:creationId xmlns:a16="http://schemas.microsoft.com/office/drawing/2014/main" id="{22CA30AA-F2F1-4978-BE4A-0059756DB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952625"/>
            <a:ext cx="381000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4650" b="1">
                <a:solidFill>
                  <a:srgbClr val="FF6B35"/>
                </a:solidFill>
              </a:defRPr>
            </a:pPr>
            <a:r>
              <a:t>17.64×</a:t>
            </a:r>
          </a:p>
        </p:txBody>
      </p:sp>
      <p:sp>
        <p:nvSpPr>
          <p:cNvPr id="5" name="text-760-292">
            <a:extLst xmlns:a="http://schemas.openxmlformats.org/drawingml/2006/main">
              <a:ext uri="{FF2B5EF4-FFF2-40B4-BE49-F238E27FC236}">
                <a16:creationId xmlns:a16="http://schemas.microsoft.com/office/drawing/2014/main" id="{63B30A08-B935-402E-B700-B27A3AB9B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781300"/>
            <a:ext cx="40957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55B63"/>
                </a:solidFill>
              </a:defRPr>
            </a:pPr>
            <a:r>
              <a:t>speedup; 95% CI 16.39–18.98×</a:t>
            </a:r>
          </a:p>
        </p:txBody>
      </p:sp>
      <p:sp>
        <p:nvSpPr>
          <p:cNvPr id="6" name="text-760-375">
            <a:extLst xmlns:a="http://schemas.openxmlformats.org/drawingml/2006/main">
              <a:ext uri="{FF2B5EF4-FFF2-40B4-BE49-F238E27FC236}">
                <a16:creationId xmlns:a16="http://schemas.microsoft.com/office/drawing/2014/main" id="{879904AD-32AD-4B94-94A3-AADB2C923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571875"/>
            <a:ext cx="381000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4650" b="1">
                <a:solidFill>
                  <a:srgbClr val="0B0D10"/>
                </a:solidFill>
              </a:defRPr>
            </a:pPr>
            <a:r>
              <a:t>94.62%</a:t>
            </a:r>
          </a:p>
        </p:txBody>
      </p:sp>
      <p:sp>
        <p:nvSpPr>
          <p:cNvPr id="7" name="text-760-462">
            <a:extLst xmlns:a="http://schemas.openxmlformats.org/drawingml/2006/main">
              <a:ext uri="{FF2B5EF4-FFF2-40B4-BE49-F238E27FC236}">
                <a16:creationId xmlns:a16="http://schemas.microsoft.com/office/drawing/2014/main" id="{714F099B-C0BF-46E0-AFF8-2B6160933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400550"/>
            <a:ext cx="40957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55B63"/>
                </a:solidFill>
              </a:defRPr>
            </a:pPr>
            <a:r>
              <a:t>меньше declared application/filesystem bytes</a:t>
            </a:r>
          </a:p>
        </p:txBody>
      </p:sp>
      <p:sp>
        <p:nvSpPr>
          <p:cNvPr id="8" name="text-760-566">
            <a:extLst xmlns:a="http://schemas.openxmlformats.org/drawingml/2006/main">
              <a:ext uri="{FF2B5EF4-FFF2-40B4-BE49-F238E27FC236}">
                <a16:creationId xmlns:a16="http://schemas.microsoft.com/office/drawing/2014/main" id="{3DB3D267-0E06-4790-869A-7153182F0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391150"/>
            <a:ext cx="41910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B0D10"/>
                </a:solidFill>
              </a:defRPr>
            </a:pPr>
            <a:r>
              <a:t>20 paired holdout seeds · 100% completion · 0 retained-data loss</a:t>
            </a:r>
          </a:p>
        </p:txBody>
      </p:sp>
      <p:sp>
        <p:nvSpPr>
          <p:cNvPr id="9" name="slide-number-7">
            <a:extLst xmlns:a="http://schemas.openxmlformats.org/drawingml/2006/main">
              <a:ext uri="{FF2B5EF4-FFF2-40B4-BE49-F238E27FC236}">
                <a16:creationId xmlns:a16="http://schemas.microsoft.com/office/drawing/2014/main" id="{E9775F06-AC9F-482B-A8E6-439FBF8E6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324600"/>
            <a:ext cx="523875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555B63"/>
                </a:solidFill>
              </a:defRPr>
            </a:pPr>
            <a:r>
              <a:t>07</a:t>
            </a:r>
          </a:p>
        </p:txBody>
      </p:sp>
      <p:graphicFrame>
        <p:nvGraphicFramePr>
          <p:cNvPr id="22" name="Chart"/>
          <p:cNvGraphicFramePr/>
          <p:nvPr/>
        </p:nvGraphicFramePr>
        <p:xfrm>
          <a:off xmlns:a="http://schemas.openxmlformats.org/drawingml/2006/main" x="781050" y="2324100"/>
          <a:ext xmlns:a="http://schemas.openxmlformats.org/drawingml/2006/main" cx="5334000" cy="2857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a323f633dec4e35"/>
          </a:graphicData>
        </a:graphic>
      </p:graphicFrame>
    </p:spTree>
    <p:extLst>
      <p:ext uri="{BB962C8B-B14F-4D97-AF65-F5344CB8AC3E}">
        <p14:creationId xmlns:p14="http://schemas.microsoft.com/office/powerpoint/2010/main" val="107771038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ext-42-38">
            <a:extLst xmlns:a="http://schemas.openxmlformats.org/drawingml/2006/main">
              <a:ext uri="{FF2B5EF4-FFF2-40B4-BE49-F238E27FC236}">
                <a16:creationId xmlns:a16="http://schemas.microsoft.com/office/drawing/2014/main" id="{B03E683F-658A-4460-BBF5-B8ED30E7C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2857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6B35"/>
                </a:solidFill>
              </a:defRPr>
            </a:pPr>
            <a:r>
              <a:t>07  Model layer</a:t>
            </a:r>
          </a:p>
        </p:txBody>
      </p:sp>
      <p:sp>
        <p:nvSpPr>
          <p:cNvPr id="2" name="text-42-84">
            <a:extLst xmlns:a="http://schemas.openxmlformats.org/drawingml/2006/main">
              <a:ext uri="{FF2B5EF4-FFF2-40B4-BE49-F238E27FC236}">
                <a16:creationId xmlns:a16="http://schemas.microsoft.com/office/drawing/2014/main" id="{6C975742-700B-44DB-9F8B-0733D49B1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00100"/>
            <a:ext cx="95250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375" b="1">
                <a:solidFill>
                  <a:srgbClr val="0B0D10"/>
                </a:solidFill>
              </a:defRPr>
            </a:pPr>
            <a:r>
              <a:t>MUFAC FAIL → sequential PASS</a:t>
            </a:r>
          </a:p>
        </p:txBody>
      </p:sp>
      <p:sp>
        <p:nvSpPr>
          <p:cNvPr id="3" name="ml-image-frame">
            <a:extLst xmlns:a="http://schemas.openxmlformats.org/drawingml/2006/main">
              <a:ext uri="{FF2B5EF4-FFF2-40B4-BE49-F238E27FC236}">
                <a16:creationId xmlns:a16="http://schemas.microsoft.com/office/drawing/2014/main" id="{2D60B0CB-6C09-4F57-815E-D41373A58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09750"/>
            <a:ext cx="6762750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5F6"/>
          </a:solidFill>
        </p:spPr>
      </p:sp>
      <p:sp>
        <p:nvSpPr>
          <p:cNvPr id="4" name="text-800-205">
            <a:extLst xmlns:a="http://schemas.openxmlformats.org/drawingml/2006/main">
              <a:ext uri="{FF2B5EF4-FFF2-40B4-BE49-F238E27FC236}">
                <a16:creationId xmlns:a16="http://schemas.microsoft.com/office/drawing/2014/main" id="{764999E0-C742-4374-BC99-5C5239EC8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952625"/>
            <a:ext cx="36195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B0D10"/>
                </a:solidFill>
              </a:defRPr>
            </a:pPr>
            <a:r>
              <a:t>MUFAC v3</a:t>
            </a:r>
          </a:p>
        </p:txBody>
      </p:sp>
      <p:sp>
        <p:nvSpPr>
          <p:cNvPr id="5" name="text-800-258">
            <a:extLst xmlns:a="http://schemas.openxmlformats.org/drawingml/2006/main">
              <a:ext uri="{FF2B5EF4-FFF2-40B4-BE49-F238E27FC236}">
                <a16:creationId xmlns:a16="http://schemas.microsoft.com/office/drawing/2014/main" id="{62DD916F-25C4-4B9E-9CDD-F436B853A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457450"/>
            <a:ext cx="2381250" cy="619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FF6B35"/>
                </a:solidFill>
              </a:defRPr>
            </a:pPr>
            <a:r>
              <a:t>FAIL</a:t>
            </a:r>
          </a:p>
        </p:txBody>
      </p:sp>
      <p:sp>
        <p:nvSpPr>
          <p:cNvPr id="6" name="text-800-326">
            <a:extLst xmlns:a="http://schemas.openxmlformats.org/drawingml/2006/main">
              <a:ext uri="{FF2B5EF4-FFF2-40B4-BE49-F238E27FC236}">
                <a16:creationId xmlns:a16="http://schemas.microsoft.com/office/drawing/2014/main" id="{41D76DBC-0EC4-4498-A43A-3818374ED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105150"/>
            <a:ext cx="34290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55B63"/>
                </a:solidFill>
              </a:defRPr>
            </a:pPr>
            <a:r>
              <a:t>retained utility gate</a:t>
            </a:r>
          </a:p>
        </p:txBody>
      </p:sp>
      <p:sp>
        <p:nvSpPr>
          <p:cNvPr id="7" name="text-800-406">
            <a:extLst xmlns:a="http://schemas.openxmlformats.org/drawingml/2006/main">
              <a:ext uri="{FF2B5EF4-FFF2-40B4-BE49-F238E27FC236}">
                <a16:creationId xmlns:a16="http://schemas.microsoft.com/office/drawing/2014/main" id="{444358FC-EB81-4FCA-B465-60BEF733A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867150"/>
            <a:ext cx="36195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B0D10"/>
                </a:solidFill>
              </a:defRPr>
            </a:pPr>
            <a:r>
              <a:t>Sequential v1</a:t>
            </a:r>
          </a:p>
        </p:txBody>
      </p:sp>
      <p:sp>
        <p:nvSpPr>
          <p:cNvPr id="8" name="text-800-459">
            <a:extLst xmlns:a="http://schemas.openxmlformats.org/drawingml/2006/main">
              <a:ext uri="{FF2B5EF4-FFF2-40B4-BE49-F238E27FC236}">
                <a16:creationId xmlns:a16="http://schemas.microsoft.com/office/drawing/2014/main" id="{2272A3D5-ACE3-4036-BAFB-97BFD3D11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371975"/>
            <a:ext cx="3429000" cy="619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087F5B"/>
                </a:solidFill>
              </a:defRPr>
            </a:pPr>
            <a:r>
              <a:t>PASS · 25/25</a:t>
            </a:r>
          </a:p>
        </p:txBody>
      </p:sp>
      <p:sp>
        <p:nvSpPr>
          <p:cNvPr id="9" name="text-800-540">
            <a:extLst xmlns:a="http://schemas.openxmlformats.org/drawingml/2006/main">
              <a:ext uri="{FF2B5EF4-FFF2-40B4-BE49-F238E27FC236}">
                <a16:creationId xmlns:a16="http://schemas.microsoft.com/office/drawing/2014/main" id="{2EB57D6D-D9FC-4780-8B5F-7B438193B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5143500"/>
            <a:ext cx="3714750" cy="619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55B63"/>
                </a:solidFill>
              </a:defRPr>
            </a:pPr>
            <a:r>
              <a:t>privacy upper CI 0.00624 · first-run, project-authored.</a:t>
            </a:r>
          </a:p>
        </p:txBody>
      </p:sp>
      <p:sp>
        <p:nvSpPr>
          <p:cNvPr id="10" name="slide-number-8">
            <a:extLst xmlns:a="http://schemas.openxmlformats.org/drawingml/2006/main">
              <a:ext uri="{FF2B5EF4-FFF2-40B4-BE49-F238E27FC236}">
                <a16:creationId xmlns:a16="http://schemas.microsoft.com/office/drawing/2014/main" id="{2684AD69-9CC6-440F-90C9-FE32F95FF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324600"/>
            <a:ext cx="523875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555B63"/>
                </a:solidFill>
              </a:defRPr>
            </a:pPr>
            <a:r>
              <a:t>08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31826b7ce14bd2"/>
          <a:stretch xmlns:a="http://schemas.openxmlformats.org/drawingml/2006/main"/>
        </p:blipFill>
        <p:spPr>
          <a:xfrm xmlns:a="http://schemas.openxmlformats.org/drawingml/2006/main">
            <a:off x="628650" y="2376805"/>
            <a:ext cx="6305550" cy="294259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939381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42-38">
            <a:extLst xmlns:a="http://schemas.openxmlformats.org/drawingml/2006/main">
              <a:ext uri="{FF2B5EF4-FFF2-40B4-BE49-F238E27FC236}">
                <a16:creationId xmlns:a16="http://schemas.microsoft.com/office/drawing/2014/main" id="{88149F28-389D-4D06-9718-A82BEBB31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4572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6B35"/>
                </a:solidFill>
              </a:defRPr>
            </a:pPr>
            <a:r>
              <a:t>08  Новизна без преувеличения</a:t>
            </a:r>
          </a:p>
        </p:txBody>
      </p:sp>
      <p:sp>
        <p:nvSpPr>
          <p:cNvPr id="2" name="text-42-84">
            <a:extLst xmlns:a="http://schemas.openxmlformats.org/drawingml/2006/main">
              <a:ext uri="{FF2B5EF4-FFF2-40B4-BE49-F238E27FC236}">
                <a16:creationId xmlns:a16="http://schemas.microsoft.com/office/drawing/2014/main" id="{BE6D6434-59FB-440F-980D-9D9148C7F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00100"/>
            <a:ext cx="106680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375" b="1">
                <a:solidFill>
                  <a:srgbClr val="0B0D10"/>
                </a:solidFill>
              </a:defRPr>
            </a:pPr>
            <a:r>
              <a:t>Композиция — вклад. Компоненты — prior art.</a:t>
            </a:r>
          </a:p>
        </p:txBody>
      </p:sp>
      <p:sp>
        <p:nvSpPr>
          <p:cNvPr id="3" name="novel-known">
            <a:extLst xmlns:a="http://schemas.openxmlformats.org/drawingml/2006/main">
              <a:ext uri="{FF2B5EF4-FFF2-40B4-BE49-F238E27FC236}">
                <a16:creationId xmlns:a16="http://schemas.microsoft.com/office/drawing/2014/main" id="{6CB3F883-8645-4CCF-8509-0192D3BDB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24050"/>
            <a:ext cx="3381375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</p:spPr>
      </p:sp>
      <p:sp>
        <p:nvSpPr>
          <p:cNvPr id="4" name="novel-contribution">
            <a:extLst xmlns:a="http://schemas.openxmlformats.org/drawingml/2006/main">
              <a:ext uri="{FF2B5EF4-FFF2-40B4-BE49-F238E27FC236}">
                <a16:creationId xmlns:a16="http://schemas.microsoft.com/office/drawing/2014/main" id="{0F183184-76A7-4A8B-82E1-ADD6C4487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924050"/>
            <a:ext cx="3381375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8E3"/>
          </a:solidFill>
        </p:spPr>
      </p:sp>
      <p:sp>
        <p:nvSpPr>
          <p:cNvPr id="5" name="novel-no-claim">
            <a:extLst xmlns:a="http://schemas.openxmlformats.org/drawingml/2006/main">
              <a:ext uri="{FF2B5EF4-FFF2-40B4-BE49-F238E27FC236}">
                <a16:creationId xmlns:a16="http://schemas.microsoft.com/office/drawing/2014/main" id="{421AC173-16AB-4CD8-8662-E7865CC9E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1924050"/>
            <a:ext cx="3381375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</p:spPr>
      </p:sp>
      <p:sp>
        <p:nvSpPr>
          <p:cNvPr id="6" name="text-69-234">
            <a:extLst xmlns:a="http://schemas.openxmlformats.org/drawingml/2006/main">
              <a:ext uri="{FF2B5EF4-FFF2-40B4-BE49-F238E27FC236}">
                <a16:creationId xmlns:a16="http://schemas.microsoft.com/office/drawing/2014/main" id="{53B2EB09-807B-4592-850A-C8BD7C878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228850"/>
            <a:ext cx="27622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0B0D10"/>
                </a:solidFill>
              </a:defRPr>
            </a:pPr>
            <a:r>
              <a:t>Уже существовало</a:t>
            </a:r>
          </a:p>
        </p:txBody>
      </p:sp>
      <p:sp>
        <p:nvSpPr>
          <p:cNvPr id="7" name="text-69-306">
            <a:extLst xmlns:a="http://schemas.openxmlformats.org/drawingml/2006/main">
              <a:ext uri="{FF2B5EF4-FFF2-40B4-BE49-F238E27FC236}">
                <a16:creationId xmlns:a16="http://schemas.microsoft.com/office/drawing/2014/main" id="{7E3BDE59-9D49-4288-AE30-F43FCFFA2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914650"/>
            <a:ext cx="2714625" cy="2095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0B0D10"/>
                </a:solidFill>
              </a:defRPr>
            </a:pPr>
            <a:r>
              <a:t>Data lineage
Machine unlearning
Proof of deletion
Min-cut / set cover
Signed provenance</a:t>
            </a:r>
          </a:p>
        </p:txBody>
      </p:sp>
      <p:sp>
        <p:nvSpPr>
          <p:cNvPr id="8" name="text-489-234">
            <a:extLst xmlns:a="http://schemas.openxmlformats.org/drawingml/2006/main">
              <a:ext uri="{FF2B5EF4-FFF2-40B4-BE49-F238E27FC236}">
                <a16:creationId xmlns:a16="http://schemas.microsoft.com/office/drawing/2014/main" id="{CF9CC74A-DC0A-4E7D-9EA5-5B88C37AE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228850"/>
            <a:ext cx="27622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FF6B35"/>
                </a:solidFill>
              </a:defRPr>
            </a:pPr>
            <a:r>
              <a:t>Узкий вклад</a:t>
            </a:r>
          </a:p>
        </p:txBody>
      </p:sp>
      <p:sp>
        <p:nvSpPr>
          <p:cNvPr id="9" name="text-489-306">
            <a:extLst xmlns:a="http://schemas.openxmlformats.org/drawingml/2006/main">
              <a:ext uri="{FF2B5EF4-FFF2-40B4-BE49-F238E27FC236}">
                <a16:creationId xmlns:a16="http://schemas.microsoft.com/office/drawing/2014/main" id="{60FE33EA-F371-4DE4-963E-62261E17A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914650"/>
            <a:ext cx="2714625" cy="2305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0B0D10"/>
                </a:solidFill>
              </a:defRPr>
            </a:pPr>
            <a:r>
              <a:t>Единый subject-scoped fail-closed residual-path contract: physical artifacts + model influence + mandatory channels + replay + counterexample + minimum CDC.</a:t>
            </a:r>
          </a:p>
        </p:txBody>
      </p:sp>
      <p:sp>
        <p:nvSpPr>
          <p:cNvPr id="10" name="text-909-234">
            <a:extLst xmlns:a="http://schemas.openxmlformats.org/drawingml/2006/main">
              <a:ext uri="{FF2B5EF4-FFF2-40B4-BE49-F238E27FC236}">
                <a16:creationId xmlns:a16="http://schemas.microsoft.com/office/drawing/2014/main" id="{6A719E17-299D-4604-A94A-7D1B99FC1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2228850"/>
            <a:ext cx="27622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0B0D10"/>
                </a:solidFill>
              </a:defRPr>
            </a:pPr>
            <a:r>
              <a:t>Не заявляется</a:t>
            </a:r>
          </a:p>
        </p:txBody>
      </p:sp>
      <p:sp>
        <p:nvSpPr>
          <p:cNvPr id="11" name="text-909-306">
            <a:extLst xmlns:a="http://schemas.openxmlformats.org/drawingml/2006/main">
              <a:ext uri="{FF2B5EF4-FFF2-40B4-BE49-F238E27FC236}">
                <a16:creationId xmlns:a16="http://schemas.microsoft.com/office/drawing/2014/main" id="{2B397DEB-3D92-40C6-BD80-7A6966FF4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2914650"/>
            <a:ext cx="2714625" cy="2190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0B0D10"/>
                </a:solidFill>
              </a:defRPr>
            </a:pPr>
            <a:r>
              <a:t>«Первый proof of unlearning»
Глобальное физическое стирание
Внедрение FaceID/eGov
Юридическая compliance guarantee</a:t>
            </a:r>
          </a:p>
        </p:txBody>
      </p:sp>
      <p:sp>
        <p:nvSpPr>
          <p:cNvPr id="12" name="text-42-626">
            <a:extLst xmlns:a="http://schemas.openxmlformats.org/drawingml/2006/main">
              <a:ext uri="{FF2B5EF4-FFF2-40B4-BE49-F238E27FC236}">
                <a16:creationId xmlns:a16="http://schemas.microsoft.com/office/drawing/2014/main" id="{08CD57D6-2C17-458D-B599-633D0A285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62650"/>
            <a:ext cx="108585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55B63"/>
                </a:solidFill>
              </a:defRPr>
            </a:pPr>
            <a:r>
              <a:t>Добавлен близкий патент US12456052B2: staged unlearning DAG + cryptographic verification + deployment checks.</a:t>
            </a:r>
          </a:p>
        </p:txBody>
      </p:sp>
      <p:sp>
        <p:nvSpPr>
          <p:cNvPr id="13" name="slide-number-9">
            <a:extLst xmlns:a="http://schemas.openxmlformats.org/drawingml/2006/main">
              <a:ext uri="{FF2B5EF4-FFF2-40B4-BE49-F238E27FC236}">
                <a16:creationId xmlns:a16="http://schemas.microsoft.com/office/drawing/2014/main" id="{B8861551-D27A-4601-8815-837B0ABF4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324600"/>
            <a:ext cx="523875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555B63"/>
                </a:solidFill>
              </a:defRPr>
            </a:pPr>
            <a: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203770595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42-38">
            <a:extLst xmlns:a="http://schemas.openxmlformats.org/drawingml/2006/main">
              <a:ext uri="{FF2B5EF4-FFF2-40B4-BE49-F238E27FC236}">
                <a16:creationId xmlns:a16="http://schemas.microsoft.com/office/drawing/2014/main" id="{096D2445-227C-4447-8399-FA96923F8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3905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6B35"/>
                </a:solidFill>
              </a:defRPr>
            </a:pPr>
            <a:r>
              <a:t>09  Доказательная лестница</a:t>
            </a:r>
          </a:p>
        </p:txBody>
      </p:sp>
      <p:sp>
        <p:nvSpPr>
          <p:cNvPr id="2" name="text-42-84">
            <a:extLst xmlns:a="http://schemas.openxmlformats.org/drawingml/2006/main">
              <a:ext uri="{FF2B5EF4-FFF2-40B4-BE49-F238E27FC236}">
                <a16:creationId xmlns:a16="http://schemas.microsoft.com/office/drawing/2014/main" id="{19E14A2B-DF73-4819-96D1-9B256F982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00100"/>
            <a:ext cx="102870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375" b="1">
                <a:solidFill>
                  <a:srgbClr val="0B0D10"/>
                </a:solidFill>
              </a:defRPr>
            </a:pPr>
            <a:r>
              <a:t>Readiness нельзя выдавать за independence</a:t>
            </a:r>
          </a:p>
        </p:txBody>
      </p:sp>
      <p:sp>
        <p:nvSpPr>
          <p:cNvPr id="3" name="evidence-current">
            <a:extLst xmlns:a="http://schemas.openxmlformats.org/drawingml/2006/main">
              <a:ext uri="{FF2B5EF4-FFF2-40B4-BE49-F238E27FC236}">
                <a16:creationId xmlns:a16="http://schemas.microsoft.com/office/drawing/2014/main" id="{4522758C-10EC-47AA-9A7F-E7FA86604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114550"/>
            <a:ext cx="3381375" cy="3257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</p:spPr>
      </p:sp>
      <p:sp>
        <p:nvSpPr>
          <p:cNvPr id="4" name="evidence-next">
            <a:extLst xmlns:a="http://schemas.openxmlformats.org/drawingml/2006/main">
              <a:ext uri="{FF2B5EF4-FFF2-40B4-BE49-F238E27FC236}">
                <a16:creationId xmlns:a16="http://schemas.microsoft.com/office/drawing/2014/main" id="{1A91BD7B-A987-424E-8056-4C3A1BC0A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657350"/>
            <a:ext cx="3381375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E8E3"/>
          </a:solidFill>
        </p:spPr>
      </p:sp>
      <p:sp>
        <p:nvSpPr>
          <p:cNvPr id="5" name="evidence-org">
            <a:extLst xmlns:a="http://schemas.openxmlformats.org/drawingml/2006/main">
              <a:ext uri="{FF2B5EF4-FFF2-40B4-BE49-F238E27FC236}">
                <a16:creationId xmlns:a16="http://schemas.microsoft.com/office/drawing/2014/main" id="{03EF12D5-9E7E-43A9-8496-B2924530B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1200150"/>
            <a:ext cx="3381375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</p:spPr>
      </p:sp>
      <p:sp>
        <p:nvSpPr>
          <p:cNvPr id="6" name="text-69-254">
            <a:extLst xmlns:a="http://schemas.openxmlformats.org/drawingml/2006/main">
              <a:ext uri="{FF2B5EF4-FFF2-40B4-BE49-F238E27FC236}">
                <a16:creationId xmlns:a16="http://schemas.microsoft.com/office/drawing/2014/main" id="{FEBA4D97-4910-4EC8-9008-1CC8E344C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419350"/>
            <a:ext cx="2762250" cy="838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4950" b="1">
                <a:solidFill>
                  <a:srgbClr val="0B0D10"/>
                </a:solidFill>
              </a:defRPr>
            </a:pPr>
            <a:r>
              <a:t>7.8</a:t>
            </a:r>
          </a:p>
        </p:txBody>
      </p:sp>
      <p:sp>
        <p:nvSpPr>
          <p:cNvPr id="7" name="text-69-354">
            <a:extLst xmlns:a="http://schemas.openxmlformats.org/drawingml/2006/main">
              <a:ext uri="{FF2B5EF4-FFF2-40B4-BE49-F238E27FC236}">
                <a16:creationId xmlns:a16="http://schemas.microsoft.com/office/drawing/2014/main" id="{B2C5A188-5587-4A4A-927A-A54D89FD7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3371850"/>
            <a:ext cx="27622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0B0D10"/>
                </a:solidFill>
              </a:defRPr>
            </a:pPr>
            <a:r>
              <a:t>Сейчас</a:t>
            </a:r>
          </a:p>
        </p:txBody>
      </p:sp>
      <p:sp>
        <p:nvSpPr>
          <p:cNvPr id="8" name="text-69-418">
            <a:extLst xmlns:a="http://schemas.openxmlformats.org/drawingml/2006/main">
              <a:ext uri="{FF2B5EF4-FFF2-40B4-BE49-F238E27FC236}">
                <a16:creationId xmlns:a16="http://schemas.microsoft.com/office/drawing/2014/main" id="{EAA35A75-54EE-4FE0-93D1-1DB9FDE2D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3981450"/>
            <a:ext cx="2714625" cy="1000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B0D10"/>
                </a:solidFill>
              </a:defRPr>
            </a:pPr>
            <a:r>
              <a:t>Протокол, подпись, CI. Внешнего submission пока нет.</a:t>
            </a:r>
          </a:p>
        </p:txBody>
      </p:sp>
      <p:sp>
        <p:nvSpPr>
          <p:cNvPr id="9" name="text-489-206">
            <a:extLst xmlns:a="http://schemas.openxmlformats.org/drawingml/2006/main">
              <a:ext uri="{FF2B5EF4-FFF2-40B4-BE49-F238E27FC236}">
                <a16:creationId xmlns:a16="http://schemas.microsoft.com/office/drawing/2014/main" id="{B5431607-40D5-4ADF-8839-50FDE7F6F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1962150"/>
            <a:ext cx="2762250" cy="838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4950" b="1">
                <a:solidFill>
                  <a:srgbClr val="FF6B35"/>
                </a:solidFill>
              </a:defRPr>
            </a:pPr>
            <a:r>
              <a:t>9.5</a:t>
            </a:r>
          </a:p>
        </p:txBody>
      </p:sp>
      <p:sp>
        <p:nvSpPr>
          <p:cNvPr id="10" name="text-489-306">
            <a:extLst xmlns:a="http://schemas.openxmlformats.org/drawingml/2006/main">
              <a:ext uri="{FF2B5EF4-FFF2-40B4-BE49-F238E27FC236}">
                <a16:creationId xmlns:a16="http://schemas.microsoft.com/office/drawing/2014/main" id="{0AAA1054-1482-4898-9013-7CEC14E28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914650"/>
            <a:ext cx="27622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0B0D10"/>
                </a:solidFill>
              </a:defRPr>
            </a:pPr>
            <a:r>
              <a:t>Один external PASS</a:t>
            </a:r>
          </a:p>
        </p:txBody>
      </p:sp>
      <p:sp>
        <p:nvSpPr>
          <p:cNvPr id="11" name="text-489-370">
            <a:extLst xmlns:a="http://schemas.openxmlformats.org/drawingml/2006/main">
              <a:ext uri="{FF2B5EF4-FFF2-40B4-BE49-F238E27FC236}">
                <a16:creationId xmlns:a16="http://schemas.microsoft.com/office/drawing/2014/main" id="{6612D925-5A26-4E5F-AD81-B79237063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524250"/>
            <a:ext cx="2714625" cy="1371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B0D10"/>
                </a:solidFill>
              </a:defRPr>
            </a:pPr>
            <a:r>
              <a:t>≥4 independently authored families, ≥120 cases, one-shot freeze, reveal, provenance, signature.</a:t>
            </a:r>
          </a:p>
        </p:txBody>
      </p:sp>
      <p:sp>
        <p:nvSpPr>
          <p:cNvPr id="12" name="text-909-158">
            <a:extLst xmlns:a="http://schemas.openxmlformats.org/drawingml/2006/main">
              <a:ext uri="{FF2B5EF4-FFF2-40B4-BE49-F238E27FC236}">
                <a16:creationId xmlns:a16="http://schemas.microsoft.com/office/drawing/2014/main" id="{E6887C07-1C69-4285-8D09-01C9C9ED4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1504950"/>
            <a:ext cx="2762250" cy="838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4950" b="1">
                <a:solidFill>
                  <a:srgbClr val="0B0D10"/>
                </a:solidFill>
              </a:defRPr>
            </a:pPr>
            <a:r>
              <a:t>9.8</a:t>
            </a:r>
          </a:p>
        </p:txBody>
      </p:sp>
      <p:sp>
        <p:nvSpPr>
          <p:cNvPr id="13" name="text-909-258">
            <a:extLst xmlns:a="http://schemas.openxmlformats.org/drawingml/2006/main">
              <a:ext uri="{FF2B5EF4-FFF2-40B4-BE49-F238E27FC236}">
                <a16:creationId xmlns:a16="http://schemas.microsoft.com/office/drawing/2014/main" id="{CC51D3AE-A8A3-47B0-93A7-F47E75AAC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2457450"/>
            <a:ext cx="27622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0B0D10"/>
                </a:solidFill>
              </a:defRPr>
            </a:pPr>
            <a:r>
              <a:t>Репликация</a:t>
            </a:r>
          </a:p>
        </p:txBody>
      </p:sp>
      <p:sp>
        <p:nvSpPr>
          <p:cNvPr id="14" name="text-909-322">
            <a:extLst xmlns:a="http://schemas.openxmlformats.org/drawingml/2006/main">
              <a:ext uri="{FF2B5EF4-FFF2-40B4-BE49-F238E27FC236}">
                <a16:creationId xmlns:a16="http://schemas.microsoft.com/office/drawing/2014/main" id="{BD2231AD-8BC9-45FD-9C19-8F3F5902B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3067050"/>
            <a:ext cx="2714625" cy="1371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B0D10"/>
                </a:solidFill>
              </a:defRPr>
            </a:pPr>
            <a:r>
              <a:t>Два независимых evaluator или одна authorized organization на materially different systems.</a:t>
            </a:r>
          </a:p>
        </p:txBody>
      </p:sp>
      <p:sp>
        <p:nvSpPr>
          <p:cNvPr id="15" name="text-42-625">
            <a:extLst xmlns:a="http://schemas.openxmlformats.org/drawingml/2006/main">
              <a:ext uri="{FF2B5EF4-FFF2-40B4-BE49-F238E27FC236}">
                <a16:creationId xmlns:a16="http://schemas.microsoft.com/office/drawing/2014/main" id="{9E1F4E86-6ACB-42E1-A881-42F5336F2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53125"/>
            <a:ext cx="8572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F6B35"/>
                </a:solidFill>
              </a:defRPr>
            </a:pPr>
            <a:r>
              <a:t>Новые внутренние тесты не двигают 7.8.</a:t>
            </a:r>
          </a:p>
        </p:txBody>
      </p:sp>
      <p:sp>
        <p:nvSpPr>
          <p:cNvPr id="16" name="slide-number-10">
            <a:extLst xmlns:a="http://schemas.openxmlformats.org/drawingml/2006/main">
              <a:ext uri="{FF2B5EF4-FFF2-40B4-BE49-F238E27FC236}">
                <a16:creationId xmlns:a16="http://schemas.microsoft.com/office/drawing/2014/main" id="{1330B4F0-6E7D-4086-B860-39A5CC3E6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324600"/>
            <a:ext cx="523875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555B63"/>
                </a:solidFill>
              </a:defRPr>
            </a:pPr>
            <a: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29200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ext-42-38">
            <a:extLst xmlns:a="http://schemas.openxmlformats.org/drawingml/2006/main">
              <a:ext uri="{FF2B5EF4-FFF2-40B4-BE49-F238E27FC236}">
                <a16:creationId xmlns:a16="http://schemas.microsoft.com/office/drawing/2014/main" id="{41BD4B4C-46C1-4BDC-AFF3-8DEEE76E6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1950"/>
            <a:ext cx="2857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6B35"/>
                </a:solidFill>
              </a:defRPr>
            </a:pPr>
            <a:r>
              <a:t>ERASEMAP</a:t>
            </a:r>
          </a:p>
        </p:txBody>
      </p:sp>
      <p:sp>
        <p:nvSpPr>
          <p:cNvPr id="2" name="text-42-108">
            <a:extLst xmlns:a="http://schemas.openxmlformats.org/drawingml/2006/main">
              <a:ext uri="{FF2B5EF4-FFF2-40B4-BE49-F238E27FC236}">
                <a16:creationId xmlns:a16="http://schemas.microsoft.com/office/drawing/2014/main" id="{B1D005B7-0087-421B-8F8D-3A18FC643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28700"/>
            <a:ext cx="10001250" cy="1714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4800" b="1">
                <a:solidFill>
                  <a:srgbClr val="0B0D10"/>
                </a:solidFill>
              </a:defRPr>
            </a:pPr>
            <a:r>
              <a:t>Не верить слову «удалено».
Проверять путь.</a:t>
            </a:r>
          </a:p>
        </p:txBody>
      </p:sp>
      <p:sp>
        <p:nvSpPr>
          <p:cNvPr id="3" name="closing-band">
            <a:extLst xmlns:a="http://schemas.openxmlformats.org/drawingml/2006/main">
              <a:ext uri="{FF2B5EF4-FFF2-40B4-BE49-F238E27FC236}">
                <a16:creationId xmlns:a16="http://schemas.microsoft.com/office/drawing/2014/main" id="{59CB3E5E-BF79-4238-8FFD-701D47B7A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733800"/>
            <a:ext cx="12192000" cy="3124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5F6"/>
          </a:solidFill>
        </p:spPr>
      </p:sp>
      <p:sp>
        <p:nvSpPr>
          <p:cNvPr id="4" name="closing-a">
            <a:extLst xmlns:a="http://schemas.openxmlformats.org/drawingml/2006/main">
              <a:ext uri="{FF2B5EF4-FFF2-40B4-BE49-F238E27FC236}">
                <a16:creationId xmlns:a16="http://schemas.microsoft.com/office/drawing/2014/main" id="{06BD7832-8D47-4326-94B6-2F83CC4A9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28625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D10"/>
          </a:solidFill>
        </p:spPr>
      </p:sp>
      <p:sp>
        <p:nvSpPr>
          <p:cNvPr id="5" name="closing-b">
            <a:extLst xmlns:a="http://schemas.openxmlformats.org/drawingml/2006/main">
              <a:ext uri="{FF2B5EF4-FFF2-40B4-BE49-F238E27FC236}">
                <a16:creationId xmlns:a16="http://schemas.microsoft.com/office/drawing/2014/main" id="{DD2342EE-35D1-40FF-9536-104AF479D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28625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0D10"/>
          </a:solidFill>
        </p:spPr>
      </p:sp>
      <p:sp>
        <p:nvSpPr>
          <p:cNvPr id="6" name="closing-c">
            <a:extLst xmlns:a="http://schemas.openxmlformats.org/drawingml/2006/main">
              <a:ext uri="{FF2B5EF4-FFF2-40B4-BE49-F238E27FC236}">
                <a16:creationId xmlns:a16="http://schemas.microsoft.com/office/drawing/2014/main" id="{70F276BE-00EA-400E-A96D-17174566F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28625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</p:spPr>
      </p:sp>
      <p:sp>
        <p:nvSpPr>
          <p:cNvPr id="7" name="text-42-510">
            <a:extLst xmlns:a="http://schemas.openxmlformats.org/drawingml/2006/main">
              <a:ext uri="{FF2B5EF4-FFF2-40B4-BE49-F238E27FC236}">
                <a16:creationId xmlns:a16="http://schemas.microsoft.com/office/drawing/2014/main" id="{C92543EA-8D79-467D-9BA3-9039A2C79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857750"/>
            <a:ext cx="31432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B0D10"/>
                </a:solidFill>
              </a:defRPr>
            </a:pPr>
            <a:r>
              <a:t>Сейчас</a:t>
            </a:r>
          </a:p>
        </p:txBody>
      </p:sp>
      <p:sp>
        <p:nvSpPr>
          <p:cNvPr id="8" name="text-42-560">
            <a:extLst xmlns:a="http://schemas.openxmlformats.org/drawingml/2006/main">
              <a:ext uri="{FF2B5EF4-FFF2-40B4-BE49-F238E27FC236}">
                <a16:creationId xmlns:a16="http://schemas.microsoft.com/office/drawing/2014/main" id="{AB50936D-BACD-42E2-8E01-8F167A171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334000"/>
            <a:ext cx="314325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B0D10"/>
                </a:solidFill>
              </a:defRPr>
            </a:pPr>
            <a:r>
              <a:t>Formal + measured systems + reproducible jury demo</a:t>
            </a:r>
          </a:p>
        </p:txBody>
      </p:sp>
      <p:sp>
        <p:nvSpPr>
          <p:cNvPr id="9" name="text-452-510">
            <a:extLst xmlns:a="http://schemas.openxmlformats.org/drawingml/2006/main">
              <a:ext uri="{FF2B5EF4-FFF2-40B4-BE49-F238E27FC236}">
                <a16:creationId xmlns:a16="http://schemas.microsoft.com/office/drawing/2014/main" id="{A0361ED0-BAA0-4B0C-854E-CDC2812A3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857750"/>
            <a:ext cx="33337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B0D10"/>
                </a:solidFill>
              </a:defRPr>
            </a:pPr>
            <a:r>
              <a:t>Следующий результат</a:t>
            </a:r>
          </a:p>
        </p:txBody>
      </p:sp>
      <p:sp>
        <p:nvSpPr>
          <p:cNvPr id="10" name="text-452-560">
            <a:extLst xmlns:a="http://schemas.openxmlformats.org/drawingml/2006/main">
              <a:ext uri="{FF2B5EF4-FFF2-40B4-BE49-F238E27FC236}">
                <a16:creationId xmlns:a16="http://schemas.microsoft.com/office/drawing/2014/main" id="{EB730CB5-C3C2-4A55-AEBB-CAE95B439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5334000"/>
            <a:ext cx="333375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B0D10"/>
                </a:solidFill>
              </a:defRPr>
            </a:pPr>
            <a:r>
              <a:t>Независимый hidden challenge без изменения алгоритма</a:t>
            </a:r>
          </a:p>
        </p:txBody>
      </p:sp>
      <p:sp>
        <p:nvSpPr>
          <p:cNvPr id="11" name="text-862-510">
            <a:extLst xmlns:a="http://schemas.openxmlformats.org/drawingml/2006/main">
              <a:ext uri="{FF2B5EF4-FFF2-40B4-BE49-F238E27FC236}">
                <a16:creationId xmlns:a16="http://schemas.microsoft.com/office/drawing/2014/main" id="{5F39B2F2-2D03-4BAC-8B93-763402693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857750"/>
            <a:ext cx="31432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FF6B35"/>
                </a:solidFill>
              </a:defRPr>
            </a:pPr>
            <a:r>
              <a:t>Цель</a:t>
            </a:r>
          </a:p>
        </p:txBody>
      </p:sp>
      <p:sp>
        <p:nvSpPr>
          <p:cNvPr id="12" name="text-862-560">
            <a:extLst xmlns:a="http://schemas.openxmlformats.org/drawingml/2006/main">
              <a:ext uri="{FF2B5EF4-FFF2-40B4-BE49-F238E27FC236}">
                <a16:creationId xmlns:a16="http://schemas.microsoft.com/office/drawing/2014/main" id="{2204460B-51AE-49A8-9C0C-F9AAE8CE0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5334000"/>
            <a:ext cx="333375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B0D10"/>
                </a:solidFill>
              </a:defRPr>
            </a:pPr>
            <a:r>
              <a:t>Доказать COMPLETE на чужих скрытых системах — или честно показать failure.</a:t>
            </a:r>
          </a:p>
        </p:txBody>
      </p:sp>
      <p:sp>
        <p:nvSpPr>
          <p:cNvPr id="13" name="slide-number-11">
            <a:extLst xmlns:a="http://schemas.openxmlformats.org/drawingml/2006/main">
              <a:ext uri="{FF2B5EF4-FFF2-40B4-BE49-F238E27FC236}">
                <a16:creationId xmlns:a16="http://schemas.microsoft.com/office/drawing/2014/main" id="{2BF76438-7308-4827-A3A9-47044D197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324600"/>
            <a:ext cx="523875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555B63"/>
                </a:solidFill>
              </a:defRPr>
            </a:pPr>
            <a: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14511628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2026-08-22T12:05:26.1670000Z</dcterms:created>
  <dcterms:modified xsi:type="dcterms:W3CDTF">2026-08-22T12:05:26.1670000Z</dcterms:modified>
</coreProperties>
</file>