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cff57671b64791" /><Relationship Type="http://schemas.openxmlformats.org/officeDocument/2006/relationships/extended-properties" Target="/docProps/app.xml" Id="Rb5fc3efbcafd4f1f" /><Relationship Type="http://schemas.openxmlformats.org/officeDocument/2006/relationships/officeDocument" Target="/ppt/presentation.xml" Id="R2a935841cb9b4d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6a1be7a3e84038"/>
  </p:sldMasterIdLst>
  <p:notesMasterIdLst>
    <p:notesMasterId xmlns:r="http://schemas.openxmlformats.org/officeDocument/2006/relationships" r:id="Raff531f29c11465d"/>
  </p:notesMasterIdLst>
  <p:sldIdLst>
    <p:sldId xmlns:r="http://schemas.openxmlformats.org/officeDocument/2006/relationships" id="256" r:id="Re39601bd6b3c49c3"/>
    <p:sldId xmlns:r="http://schemas.openxmlformats.org/officeDocument/2006/relationships" id="257" r:id="R371f93e1f3ec494e"/>
    <p:sldId xmlns:r="http://schemas.openxmlformats.org/officeDocument/2006/relationships" id="258" r:id="R0607b92e006f47b5"/>
    <p:sldId xmlns:r="http://schemas.openxmlformats.org/officeDocument/2006/relationships" id="259" r:id="R6bb236579da8439c"/>
    <p:sldId xmlns:r="http://schemas.openxmlformats.org/officeDocument/2006/relationships" id="260" r:id="R8805ccab0dc14e7e"/>
    <p:sldId xmlns:r="http://schemas.openxmlformats.org/officeDocument/2006/relationships" id="261" r:id="R36c9ae491f8a402c"/>
    <p:sldId xmlns:r="http://schemas.openxmlformats.org/officeDocument/2006/relationships" id="262" r:id="R672c2a7f697242a0"/>
    <p:sldId xmlns:r="http://schemas.openxmlformats.org/officeDocument/2006/relationships" id="263" r:id="R1a6ad2d60b1d4cab"/>
    <p:sldId xmlns:r="http://schemas.openxmlformats.org/officeDocument/2006/relationships" id="264" r:id="R22108bacbb6c422f"/>
    <p:sldId xmlns:r="http://schemas.openxmlformats.org/officeDocument/2006/relationships" id="265" r:id="Ra0e32b5cb4bb454b"/>
    <p:sldId xmlns:r="http://schemas.openxmlformats.org/officeDocument/2006/relationships" id="266" r:id="Rfb566a3d79024a0e"/>
    <p:sldId xmlns:r="http://schemas.openxmlformats.org/officeDocument/2006/relationships" id="267" r:id="Redee5e72cfb243bd"/>
    <p:sldId xmlns:r="http://schemas.openxmlformats.org/officeDocument/2006/relationships" id="268" r:id="R18edabb512cc4158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3b25f021084a5e" /><Relationship Type="http://schemas.openxmlformats.org/officeDocument/2006/relationships/slideMaster" Target="/ppt/slideMasters/slideMaster1.xml" Id="Re86a1be7a3e84038" /><Relationship Type="http://schemas.openxmlformats.org/officeDocument/2006/relationships/notesMaster" Target="/ppt/notesMasters/notesMaster1.xml" Id="Raff531f29c11465d" /><Relationship Type="http://schemas.openxmlformats.org/officeDocument/2006/relationships/presProps" Target="/ppt/presProps.xml" Id="Rf9dd9bbbdd32465d" /><Relationship Type="http://schemas.openxmlformats.org/officeDocument/2006/relationships/viewProps" Target="/ppt/viewProps.xml" Id="R8ecff8c708854524" /><Relationship Type="http://schemas.openxmlformats.org/officeDocument/2006/relationships/tableStyles" Target="/ppt/tableStyles.xml" Id="R1d67b4c095634255" /><Relationship Type="http://schemas.openxmlformats.org/officeDocument/2006/relationships/slide" Target="/ppt/slides/slide1.xml" Id="Re39601bd6b3c49c3" /><Relationship Type="http://schemas.openxmlformats.org/officeDocument/2006/relationships/slide" Target="/ppt/slides/slide2.xml" Id="R371f93e1f3ec494e" /><Relationship Type="http://schemas.openxmlformats.org/officeDocument/2006/relationships/slide" Target="/ppt/slides/slide3.xml" Id="R0607b92e006f47b5" /><Relationship Type="http://schemas.openxmlformats.org/officeDocument/2006/relationships/slide" Target="/ppt/slides/slide4.xml" Id="R6bb236579da8439c" /><Relationship Type="http://schemas.openxmlformats.org/officeDocument/2006/relationships/slide" Target="/ppt/slides/slide5.xml" Id="R8805ccab0dc14e7e" /><Relationship Type="http://schemas.openxmlformats.org/officeDocument/2006/relationships/slide" Target="/ppt/slides/slide6.xml" Id="R36c9ae491f8a402c" /><Relationship Type="http://schemas.openxmlformats.org/officeDocument/2006/relationships/slide" Target="/ppt/slides/slide7.xml" Id="R672c2a7f697242a0" /><Relationship Type="http://schemas.openxmlformats.org/officeDocument/2006/relationships/slide" Target="/ppt/slides/slide8.xml" Id="R1a6ad2d60b1d4cab" /><Relationship Type="http://schemas.openxmlformats.org/officeDocument/2006/relationships/slide" Target="/ppt/slides/slide9.xml" Id="R22108bacbb6c422f" /><Relationship Type="http://schemas.openxmlformats.org/officeDocument/2006/relationships/slide" Target="/ppt/slides/slide10.xml" Id="Ra0e32b5cb4bb454b" /><Relationship Type="http://schemas.openxmlformats.org/officeDocument/2006/relationships/slide" Target="/ppt/slides/slide11.xml" Id="Rfb566a3d79024a0e" /><Relationship Type="http://schemas.openxmlformats.org/officeDocument/2006/relationships/slide" Target="/ppt/slides/slide12.xml" Id="Redee5e72cfb243bd" /><Relationship Type="http://schemas.openxmlformats.org/officeDocument/2006/relationships/slide" Target="/ppt/slides/slide13.xml" Id="R18edabb512cc41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b77fdd5aec49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581228316f4129" /><Relationship Type="http://schemas.openxmlformats.org/officeDocument/2006/relationships/notesMaster" Target="/ppt/notesMasters/notesMaster1.xml" Id="R1f0f8117eacd4e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f7931faea44115" /><Relationship Type="http://schemas.openxmlformats.org/officeDocument/2006/relationships/notesMaster" Target="/ppt/notesMasters/notesMaster1.xml" Id="R80428038ed3648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35a2dfe9184900" /><Relationship Type="http://schemas.openxmlformats.org/officeDocument/2006/relationships/notesMaster" Target="/ppt/notesMasters/notesMaster1.xml" Id="R28d2c1da4bab4e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4b55cf5b9c44f9" /><Relationship Type="http://schemas.openxmlformats.org/officeDocument/2006/relationships/notesMaster" Target="/ppt/notesMasters/notesMaster1.xml" Id="R9d7f2674e8604f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9124be7f5e4bae" /><Relationship Type="http://schemas.openxmlformats.org/officeDocument/2006/relationships/notesMaster" Target="/ppt/notesMasters/notesMaster1.xml" Id="R521533441aaa41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547a8708b448e9" /><Relationship Type="http://schemas.openxmlformats.org/officeDocument/2006/relationships/notesMaster" Target="/ppt/notesMasters/notesMaster1.xml" Id="R348525815a0f49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c3d1656b1e4b2e" /><Relationship Type="http://schemas.openxmlformats.org/officeDocument/2006/relationships/notesMaster" Target="/ppt/notesMasters/notesMaster1.xml" Id="Ra38476b9e5cc4e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e77bc5ee7f440c" /><Relationship Type="http://schemas.openxmlformats.org/officeDocument/2006/relationships/notesMaster" Target="/ppt/notesMasters/notesMaster1.xml" Id="R81d660943ce241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e1f9f68e6b4647" /><Relationship Type="http://schemas.openxmlformats.org/officeDocument/2006/relationships/notesMaster" Target="/ppt/notesMasters/notesMaster1.xml" Id="R601d0c0508554a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25d9e15e36454b" /><Relationship Type="http://schemas.openxmlformats.org/officeDocument/2006/relationships/notesMaster" Target="/ppt/notesMasters/notesMaster1.xml" Id="Rb6b05c295a0549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b850431e744c7c" /><Relationship Type="http://schemas.openxmlformats.org/officeDocument/2006/relationships/notesMaster" Target="/ppt/notesMasters/notesMaster1.xml" Id="R7cb988d76fa842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5035bc2c504fce" /><Relationship Type="http://schemas.openxmlformats.org/officeDocument/2006/relationships/notesMaster" Target="/ppt/notesMasters/notesMaster1.xml" Id="Re4188fa6fa1540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b42ee33ac4746be" /><Relationship Type="http://schemas.openxmlformats.org/officeDocument/2006/relationships/notesMaster" Target="/ppt/notesMasters/notesMaster1.xml" Id="Rbc2dd0ea55284c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Главная мысль: удаление — это не команда, а доказуемый процесс.</a:t>
            </a:r>
            <a:endParaRPr/>
          </a:p>
          <a:p xmlns:a="http://schemas.openxmlformats.org/drawingml/2006/main">
            <a:r>
              <a:t>Сначала объясните проблему простыми словами, затем назовите три этапа алгоритма: Find, Erase, Prove.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Проведите взглядом по пяти следам одного профиля: исходная запись, биометрический вектор, кэш/реплика, резерв и влияние на модель.</a:t>
            </a:r>
            <a:endParaRPr/>
          </a:p>
          <a:p xmlns:a="http://schemas.openxmlformats.org/drawingml/2006/main">
            <a:r>
              <a:t>Гипотеза фальсифицируема: если хотя бы один обязательный путь остаётся, COMPLETE запрещён.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представляйте FIND, ERASE и PROVE как три отдельных алгоритма. Это три фазы одной процедуры.</a:t>
            </a:r>
            <a:endParaRPr/>
          </a:p>
          <a:p xmlns:a="http://schemas.openxmlformats.org/drawingml/2006/main">
            <a:r>
              <a:t>VERDICT и EVIDENCE — части PROVE: они собирают доказательства и выпускают один итог.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Семь каналов — это независимые причины отказа. Успех физического удаления не перекрывает провал модели или временного replay.</a:t>
            </a:r>
            <a:endParaRPr/>
          </a:p>
          <a:p xmlns:a="http://schemas.openxmlformats.org/drawingml/2006/main">
            <a:r>
              <a:t>COMPLETE_WITHIN_ENVELOPE означает завершение только внутри зарегистрированной границы проверки.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Этот слайд заменяет прежний узкий отраслевой сюжет.</a:t>
            </a:r>
          </a:p>
          <a:p xmlns:a="http://schemas.openxmlformats.org/drawingml/2006/main">
            <a:r>
              <a:t>Стенд полезнее: он показывает универсальную цифровую идентичность и реальные типы инфраструктуры — IAM, база/кэш, векторная БД, lineage модели и backup.</a:t>
            </a:r>
          </a:p>
          <a:p xmlns:a="http://schemas.openxmlformats.org/drawingml/2006/main">
            <a:r>
              <a:t>Важно: mappings и ошибки удаления созданы автором, поэтому это сильный контролируемый эксперимент, но ещё не независимый production-пилот.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главный сравнительный график. EraSeMap — 0/60, полный typed audit — 5/60, обычный status — 45/60.</a:t>
            </a:r>
            <a:endParaRPr/>
          </a:p>
          <a:p xmlns:a="http://schemas.openxmlformats.org/drawingml/2006/main">
            <a:r>
              <a:t>Не объединяйте этот график с другими наборами: все три числа относятся к одному frozen transfer-протоколу.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Сначала безопасность, затем эффективность: быстрый план принимается только после тех же доказательных проверок.</a:t>
            </a:r>
            <a:endParaRPr/>
          </a:p>
          <a:p xmlns:a="http://schemas.openxmlformats.org/drawingml/2006/main">
            <a:r>
              <a:t>Ограничение: это измерение на одной локальной конфигурации, а не обещание такой же скорости в production.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EraSeMap и greedy использовали 7 проб, random — 13, exhaustive — 49.</a:t>
            </a:r>
            <a:endParaRPr/>
          </a:p>
          <a:p xmlns:a="http://schemas.openxmlformats.org/drawingml/2006/main">
            <a:r>
              <a:t>Не заявляйте превосходство над greedy и не называйте результат глобально оптимальным для всех систем.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объединяет четыре измерения: false-COMPLETE, temporal risk detection, action cost и normalized time.</a:t>
            </a:r>
            <a:endParaRPr/>
          </a:p>
          <a:p xmlns:a="http://schemas.openxmlformats.org/drawingml/2006/main">
            <a:r>
              <a:t>Модельный результат отрицательный: быстрый Qwen-candidate не прошёл все пороги, поэтому exact retraining остался безопасным fallback.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Lean-теоремы условны: они требуют корректных локальных проверок и зарегистрированной топологии.</a:t>
            </a:r>
            <a:endParaRPr/>
          </a:p>
          <a:p xmlns:a="http://schemas.openxmlformats.org/drawingml/2006/main">
            <a:r>
              <a:t>Oracle-совпадение показывает корректность exact solver в конечной зарегистрированной области, но не полноту реальной организации.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Переносимость показана между классами сервисов, но не является готовым внедрением.</a:t>
            </a:r>
            <a:endParaRPr/>
          </a:p>
          <a:p xmlns:a="http://schemas.openxmlformats.org/drawingml/2006/main">
            <a:r>
              <a:t>Для Казахстана наиболее понятные направления — цифровая идентичность, школьные и медицинские порталы. За рубежом — IAM, vector databases и ML governance. Все это будущие пилоты, не текущие результаты.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заявляйте, что lineage или machine unlearning изобретены в проекте.</a:t>
            </a:r>
            <a:endParaRPr/>
          </a:p>
          <a:p xmlns:a="http://schemas.openxmlformats.org/drawingml/2006/main">
            <a:r>
              <a:t>Новизна — единый fail-closed decision rule, который не позволяет успеху одного канала скрыть провал другого, плюс воспроизводимый сертификат в заявленной границе.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Закончите формулой из трёх слов: FIND ищет остаточный путь, ERASE закрывает его минимальным безопасным планом, PROVE проверяет будущий возврат.</a:t>
            </a:r>
            <a:endParaRPr/>
          </a:p>
          <a:p xmlns:a="http://schemas.openxmlformats.org/drawingml/2006/main">
            <a:r>
              <a:t>Финальная мысль: проверять путь, а не обещание.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26c2d7d5f34ed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804008ce654b3f" /><Relationship Type="http://schemas.openxmlformats.org/officeDocument/2006/relationships/slideLayout" Target="/ppt/slideLayouts/slideLayout1.xml" Id="Ra15eb6d5886c4c5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5eb6d5886c4c5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2ce5ccac240e6" /><Relationship Type="http://schemas.openxmlformats.org/officeDocument/2006/relationships/image" Target="/ppt/media/image.png" Id="R61f96368fa5047a3" /><Relationship Type="http://schemas.openxmlformats.org/officeDocument/2006/relationships/notesSlide" Target="/ppt/notesSlides/notesSlide1.xml" Id="R0b413e1197f24e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f96456a5c44f8" /><Relationship Type="http://schemas.openxmlformats.org/officeDocument/2006/relationships/image" Target="/ppt/media/image2.png" Id="R50c7d65cff234ce8" /><Relationship Type="http://schemas.openxmlformats.org/officeDocument/2006/relationships/notesSlide" Target="/ppt/notesSlides/notesSlide2.xml" Id="R1671a586d68946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8ed4d863c48e1" /><Relationship Type="http://schemas.openxmlformats.org/officeDocument/2006/relationships/image" Target="/ppt/media/image3.png" Id="R5e45748f1cf7474a" /><Relationship Type="http://schemas.openxmlformats.org/officeDocument/2006/relationships/notesSlide" Target="/ppt/notesSlides/notesSlide3.xml" Id="Rec95a4bdc13645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a62303e524f02" /><Relationship Type="http://schemas.openxmlformats.org/officeDocument/2006/relationships/notesSlide" Target="/ppt/notesSlides/notesSlide4.xml" Id="R4d1df4e279034b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73f70c3744bbb" /><Relationship Type="http://schemas.openxmlformats.org/officeDocument/2006/relationships/notesSlide" Target="/ppt/notesSlides/notesSlide5.xml" Id="Rb86f3ab0214a4d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1bc5fb79d4813" /><Relationship Type="http://schemas.openxmlformats.org/officeDocument/2006/relationships/image" Target="/ppt/media/image4.png" Id="Rd0b9510c0ded47ca" /><Relationship Type="http://schemas.openxmlformats.org/officeDocument/2006/relationships/notesSlide" Target="/ppt/notesSlides/notesSlide6.xml" Id="R73787b7b1bc945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c83bf7ffa40a4" /><Relationship Type="http://schemas.openxmlformats.org/officeDocument/2006/relationships/image" Target="/ppt/media/image5.png" Id="R2f22ca8f2a094a35" /><Relationship Type="http://schemas.openxmlformats.org/officeDocument/2006/relationships/notesSlide" Target="/ppt/notesSlides/notesSlide7.xml" Id="R939dc8fd37ca46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c558bc5624f34" /><Relationship Type="http://schemas.openxmlformats.org/officeDocument/2006/relationships/image" Target="/ppt/media/image6.png" Id="R95c95c5222164449" /><Relationship Type="http://schemas.openxmlformats.org/officeDocument/2006/relationships/notesSlide" Target="/ppt/notesSlides/notesSlide8.xml" Id="R244cdc5d1c3948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f4d115b0b453f" /><Relationship Type="http://schemas.openxmlformats.org/officeDocument/2006/relationships/notesSlide" Target="/ppt/notesSlides/notesSlide9.xml" Id="R3dac38b8920d46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96c4271414e0a" /><Relationship Type="http://schemas.openxmlformats.org/officeDocument/2006/relationships/notesSlide" Target="/ppt/notesSlides/notesSlide10.xml" Id="Rc19c53bb6e6f43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57070e23f48ec" /><Relationship Type="http://schemas.openxmlformats.org/officeDocument/2006/relationships/notesSlide" Target="/ppt/notesSlides/notesSlide11.xml" Id="R61712521518849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70d4f0dd74d39" /><Relationship Type="http://schemas.openxmlformats.org/officeDocument/2006/relationships/notesSlide" Target="/ppt/notesSlides/notesSlide12.xml" Id="Rdad97ecb042342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e8449b0e641b8" /><Relationship Type="http://schemas.openxmlformats.org/officeDocument/2006/relationships/image" Target="/ppt/media/image7.png" Id="R6930a590027a41bc" /><Relationship Type="http://schemas.openxmlformats.org/officeDocument/2006/relationships/notesSlide" Target="/ppt/notesSlides/notesSlide13.xml" Id="R7c18808eebcd4e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2B79112-6F7C-4FE3-B8EC-1ADB7C2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9912096" y="0"/>
            <a:ext cx="2194560" cy="1234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6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7FDB630-FCBA-4374-B624-D044FDA8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">
            <a:off x="10744200" y="164592"/>
            <a:ext cx="1188720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6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E9FB6C-AADC-4E3C-BE8B-1E56CD47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8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ECB33A0-DA6E-45BE-B4D2-6F1F2984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A408BD-D125-46EA-8466-FAA57494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D5D787-19E8-405D-9521-F4BF7BC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15B617D-8D66-4700-8508-7531CD38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D16497-7F90-4D9F-AFA5-ADD21FDF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02336"/>
            <a:ext cx="4389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EraSeMap / НҰРЛАНҰЛЫ ДУЛАТ · 9 «Б»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C16FF20-406C-4F65-B90D-7D1B7045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325880"/>
            <a:ext cx="557784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687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123B35"/>
                </a:solidFill>
                <a:latin typeface="Inter Display"/>
                <a:ea typeface="Inter Display"/>
                <a:cs typeface="Inter Display"/>
              </a:rPr>
              <a:t>Удаление —</a:t>
            </a:r>
            <a:endParaRPr sz="4800"/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123B35"/>
                </a:solidFill>
                <a:latin typeface="Inter Display"/>
                <a:ea typeface="Inter Display"/>
                <a:cs typeface="Inter Display"/>
              </a:rPr>
              <a:t>это не кнопка.</a:t>
            </a:r>
            <a:endParaRPr sz="4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FAC0B5-A702-4005-AAB7-46B7C026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852928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Проверяемое удаление.</a:t>
            </a:r>
            <a:endParaRPr sz="2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1E4F61C-80A7-4293-8F20-12A1849D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571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83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B7069"/>
                </a:solidFill>
                <a:latin typeface="Inter"/>
                <a:ea typeface="Inter"/>
                <a:cs typeface="Inter"/>
              </a:rPr>
              <a:t>Когда человек просит удалить данные, одной команды недостаточно. Find–Erase–Prove проверяет, исчезли ли запись, копии, производные и возможность будущего восстановления.</a:t>
            </a:r>
            <a:endParaRPr sz="16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C3ED458-FE4E-485D-AAC1-8ECBCE16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90288"/>
            <a:ext cx="452628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8935950-4C19-413D-90A4-E763E4EA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727448"/>
            <a:ext cx="4187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99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Find → Erase → Prove → сертификат в проверенных границах</a:t>
            </a:r>
            <a:endParaRPr sz="10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72F0ADD-D291-4FFC-8B6B-1F6871C4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34840"/>
            <a:ext cx="1993392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B35"/>
          </a:solidFill>
          <a:ln xmlns:a="http://schemas.openxmlformats.org/drawingml/2006/main" w="12700">
            <a:solidFill>
              <a:srgbClr val="123B35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94257A3-CCA0-4AA4-A8B5-C7453727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45152"/>
            <a:ext cx="19933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Проверить</a:t>
            </a:r>
            <a:endParaRPr sz="15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7F03E1C-5238-47EA-AE7F-D0C9915B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601675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3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Информатика · Алматы, 2026</a:t>
            </a:r>
            <a:endParaRPr sz="12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2B9B97B6-73BB-43C7-8FD5-3AB2BECE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52120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5B7069"/>
                </a:solidFill>
                <a:latin typeface="Inter"/>
                <a:ea typeface="Inter"/>
                <a:cs typeface="Inter"/>
              </a:rPr>
              <a:t>Aksay BIL Lyceum · руководитель Смағұл Ерзат Айдынұлы</a:t>
            </a:r>
            <a:endParaRPr sz="72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0427274-33ED-4A7B-BFAF-21693A8B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01</a:t>
            </a:r>
            <a:endParaRPr sz="850"/>
          </a:p>
        </p:txBody>
      </p:sp>
      <p:pic>
        <p:nvPicPr>
          <p:cNvPr id="59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96368fa5047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1417320"/>
            <a:ext cx="3977639" cy="2606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487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ACBB7C3-DE6F-459E-A977-3FF472CD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F8E1DDC-60A2-4C9A-9B51-12549235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A9C487-FA48-45B4-9A49-DFCCBDB2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D861EF9-8ED5-42D5-B047-4528356D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502146D-2E5A-467A-A99F-B532E663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F162035-0A8E-4B2B-90D1-3CC9C008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Проблема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C1806D-9370-465B-92C5-39463115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02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B254185-A0A5-46F3-9C3B-E2E145C6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91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5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Один профиль — пять мест, где данные могут остаться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891E0E9-C89B-4F6A-BB94-C6919113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Исследовательский вопрос: можно ли одним вердиктом проверить копии, производные, модель и будущий возврат?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C6D200F-0B3C-42DB-BA35-2DA5424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29968"/>
            <a:ext cx="137160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A5042CB-3C38-4474-BD1D-6FCBAAE0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057400"/>
            <a:ext cx="11887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47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50">
                <a:solidFill>
                  <a:srgbClr val="078C82"/>
                </a:solidFill>
                <a:latin typeface="Inter"/>
                <a:ea typeface="Inter"/>
                <a:cs typeface="Inter"/>
              </a:rPr>
              <a:t>ОДИН ЦИФРОВОЙ ПРОФИЛЬ</a:t>
            </a:r>
            <a:endParaRPr sz="7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E6C058B-4316-4425-A13A-066F75C4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542032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2F2FE3F-9C25-4DD0-9360-853CB451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450592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Исходная запись</a:t>
            </a:r>
            <a:endParaRPr sz="132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E16178F-C412-4059-ABFF-382F3888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97480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5B7069"/>
                </a:solidFill>
                <a:latin typeface="Inter"/>
                <a:ea typeface="Inter"/>
                <a:cs typeface="Inter"/>
              </a:rPr>
              <a:t>пользователь / аккаунт</a:t>
            </a:r>
            <a:endParaRPr sz="93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AA624A1-FB0A-4637-A5A6-2D3FD96F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98064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115" cmpd="sng">
            <a:solidFill>
              <a:srgbClr val="8BAAA2">
                <a:alpha val="96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2129602-E9BA-4C7C-A1D3-6861CEDE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54096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6CFA424-B17F-40F5-B5E5-F644EB9D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962656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Биометрический шаблон</a:t>
            </a:r>
            <a:endParaRPr sz="132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00BC95E-2C82-4C16-B869-EB21D83D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209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5B7069"/>
                </a:solidFill>
                <a:latin typeface="Inter"/>
                <a:ea typeface="Inter"/>
                <a:cs typeface="Inter"/>
              </a:rPr>
              <a:t>биометрический вектор</a:t>
            </a:r>
            <a:endParaRPr sz="93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E8C3079-FC0A-4996-ACEF-2D38565E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310128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115" cmpd="sng">
            <a:solidFill>
              <a:srgbClr val="8BAAA2">
                <a:alpha val="96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50F12E3-C611-4363-91A3-4978710B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66160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9D91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54E03E3-9C0B-462A-8EE2-F4211041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74720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Кэш и реплика</a:t>
            </a:r>
            <a:endParaRPr sz="13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E65E833-1C1F-48B8-87E9-A2492BE4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721608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5B7069"/>
                </a:solidFill>
                <a:latin typeface="Inter"/>
                <a:ea typeface="Inter"/>
                <a:cs typeface="Inter"/>
              </a:rPr>
              <a:t>быстрый путь чтения</a:t>
            </a:r>
            <a:endParaRPr sz="93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A097BFA-CBB5-48E3-879F-9BB14CF5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822192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115" cmpd="sng">
            <a:solidFill>
              <a:srgbClr val="8BAAA2">
                <a:alpha val="96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4707EB1-737D-4CF7-A8BD-AEC3738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078224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73EE2B8-7675-4CB5-9F06-178BE6AE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986784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Резерв / восстановление</a:t>
            </a:r>
            <a:endParaRPr sz="132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C178A90-BB24-4927-9B84-55758036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33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5B7069"/>
                </a:solidFill>
                <a:latin typeface="Inter"/>
                <a:ea typeface="Inter"/>
                <a:cs typeface="Inter"/>
              </a:rPr>
              <a:t>отложенная копия</a:t>
            </a:r>
            <a:endParaRPr sz="93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276804DF-2839-4764-8F9E-29F9FCDC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334256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115" cmpd="sng">
            <a:solidFill>
              <a:srgbClr val="8BAAA2">
                <a:alpha val="96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A54FFE8-A104-4808-ACFE-315D54EC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590288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DB9AD"/>
          </a:solidFill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40CB678-B464-4272-8601-20C461D4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498848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Влияние на модель</a:t>
            </a:r>
            <a:endParaRPr sz="132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C19671B-726D-434E-8FF2-98ED08A1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745736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5B7069"/>
                </a:solidFill>
                <a:latin typeface="Inter"/>
                <a:ea typeface="Inter"/>
                <a:cs typeface="Inter"/>
              </a:rPr>
              <a:t>сигнал в модели</a:t>
            </a:r>
            <a:endParaRPr sz="93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FAD8E97-9D9A-45EE-91AE-57668061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34009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Гипотеза</a:t>
            </a:r>
            <a:endParaRPr sz="15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3916D7F-151D-4D68-9C24-D40F4C8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749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5B7069"/>
                </a:solidFill>
                <a:latin typeface="Inter"/>
                <a:ea typeface="Inter"/>
                <a:cs typeface="Inter"/>
              </a:rPr>
              <a:t>Гипотеза: положительный вердикт допустим только тогда, когда проверены все обязательные каналы и ни один путь восстановления не остался открытым.</a:t>
            </a:r>
            <a:endParaRPr sz="11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7E54B89-CCF0-4B92-A99F-312AE435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029968"/>
            <a:ext cx="6995160" cy="3794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9884BF3-B25A-4579-A47E-D875690A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313432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61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Почему обычного статуса «удалено» недостаточно</a:t>
            </a:r>
            <a:endParaRPr sz="2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872A8B2-31F5-4156-84EB-4849B692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670048"/>
            <a:ext cx="5212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739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5B7069"/>
                </a:solidFill>
                <a:latin typeface="Inter"/>
                <a:ea typeface="Inter"/>
                <a:cs typeface="Inter"/>
              </a:rPr>
              <a:t>Локальный статус подтверждает операцию в одном компоненте, но не доказывает исчезновение кэша, индекса, резервной копии или влияния в модели.</a:t>
            </a:r>
            <a:endParaRPr sz="11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232F5714-0B60-484C-A910-1C20C48A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5248656"/>
            <a:ext cx="6099048" cy="3474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7BC78AB4-E8EA-4BBF-927B-E6BDFC68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340096"/>
            <a:ext cx="57150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Статус «удалено» ≠ данные действительно исчезли</a:t>
            </a:r>
            <a:endParaRPr sz="1120"/>
          </a:p>
        </p:txBody>
      </p:sp>
      <p:pic>
        <p:nvPicPr>
          <p:cNvPr id="98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c7d65cff234c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0" y="2898648"/>
            <a:ext cx="5486400" cy="233172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407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8093C6-C251-41AB-8D4F-7CD43401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BFE9156-9ABB-4A49-8F2F-CA71FDAE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13CE67-3ED7-48F1-8C47-D9C50F2D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8B770E2-A316-4A1B-9F7A-587751FB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182CFD5-5728-49AA-9806-D7B4ABE2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AB2CEC1-3964-420A-8404-6F56AED4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Метод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8807891-8EEA-4682-9438-60DA8744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03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72ED191-85E0-41F1-A174-21190AC7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5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Find–Erase–Prove: один алгоритм, три шага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F80D1A6-04F8-4FB4-B121-E5116D23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95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Три действия создают два результата: Find находит путь, Erase закрывает его, Prove повторяет проверку; затем формируются вердикт и доказательства.</a:t>
            </a:r>
            <a:endParaRPr sz="152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2B1AB69D-BE12-4466-BA60-93D137AA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4892040"/>
            <a:ext cx="9710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401BDC9-39B4-43B9-A92E-6039E70D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056632"/>
            <a:ext cx="9235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07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Find → Erase → Prove → Complete within envelope / Incomplete / Unverified</a:t>
            </a:r>
            <a:endParaRPr sz="13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3E2359E-DF25-4BD4-85E1-2D95BD5F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150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B7069"/>
                </a:solidFill>
                <a:latin typeface="Inter"/>
                <a:ea typeface="Inter"/>
                <a:cs typeface="Inter"/>
              </a:rPr>
              <a:t>Если хотя бы одна проверка неизвестна или не пройдена, алгоритм не пишет Complete. Он возвращает Incomplete либо Unverified и показывает, какого доказательства не хватает.</a:t>
            </a:r>
            <a:endParaRPr sz="1250"/>
          </a:p>
        </p:txBody>
      </p:sp>
      <p:pic>
        <p:nvPicPr>
          <p:cNvPr id="57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5748f1cf747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2743200"/>
            <a:ext cx="10789920" cy="2514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9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6CCCA25-C8C5-48FB-81B4-CE5B9C16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E658DE7-983C-4A7F-875D-A15963A5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B0F5216-7E7B-4071-82AB-7CB0D39F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876E0E1-90EF-485B-B92A-C4D5D60F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206BCB7-88BB-4E53-B06F-61EA494E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671530-39F6-4F81-8FDC-BAB45E56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Вердикт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E50A8D7-3C25-4A61-9EEC-587A4131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04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AFE0F2E-ED6C-49EC-B4F6-9A7C0655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647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Complete возможен только после проверки всех семи каналов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31D97AF-F94D-4C12-B5B0-37E8D2B8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7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physical · derivative · model · privacy · utility · temporal · coverage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0D74CC7-A7C2-4A44-83D1-EE81316A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3794760" cy="3474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46E93F0-555D-432C-B990-76CB33F3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468880"/>
            <a:ext cx="3246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Incomplete</a:t>
            </a:r>
            <a:endParaRPr sz="3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5FE29E-45BA-4D0D-BAF4-4E532AB6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724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86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Найден активный путь или риск возврата</a:t>
            </a:r>
            <a:endParaRPr sz="13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3D92936-1DEE-4CE4-A66B-55095C84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041648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8614B">
                <a:alpha val="97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6C4ECB5-38AC-4E8B-AC02-EC4A6A79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404164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8614B">
                <a:alpha val="97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1C087DF-A0AE-49DD-8F5A-241C781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136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9044609-C2B1-46F5-8F8F-487B1BC1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39136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A9DA649-1305-4518-9524-968A7146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343400"/>
            <a:ext cx="777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B7069"/>
                </a:solidFill>
                <a:latin typeface="Inter"/>
                <a:ea typeface="Inter"/>
                <a:cs typeface="Inter"/>
              </a:rPr>
              <a:t>источник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2F5A4DB-7E3B-4494-8813-0DE34325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434340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B7069"/>
                </a:solidFill>
                <a:latin typeface="Inter"/>
                <a:ea typeface="Inter"/>
                <a:cs typeface="Inter"/>
              </a:rPr>
              <a:t>шаблон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052DEFD-C3F1-4231-B4BD-FE3F1C97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4846320"/>
            <a:ext cx="306324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42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75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Один Fail или Unknown означает: доказательство неполное, сертификат выдавать нельзя.</a:t>
            </a:r>
            <a:endParaRPr sz="132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C091BF7-F153-48D8-89A9-D6747CAB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057400"/>
            <a:ext cx="6327648" cy="3474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3A3DFB8-488E-4F47-BBD1-5C2B1D98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468880"/>
            <a:ext cx="5577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Complete within envelope если</a:t>
            </a:r>
            <a:endParaRPr sz="2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3FBFC01-8503-4CC4-8BAB-19BD1F0F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3054096"/>
            <a:ext cx="53492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7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P  ∧  D  ∧  T</a:t>
            </a:r>
            <a:endParaRPr sz="37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BF318F4-6820-4FDA-BF99-31579943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C91F80-295F-4532-850E-A7B0747E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2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B236438-A2F0-410D-BD00-C83A6516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физика + модель</a:t>
            </a:r>
            <a:endParaRPr sz="103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4A9621B-37C1-4542-B809-27BB7361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318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5B7069"/>
                </a:solidFill>
                <a:latin typeface="Inter"/>
                <a:ea typeface="Inter"/>
                <a:cs typeface="Inter"/>
              </a:rPr>
              <a:t>зарегистрированные пути закрыты</a:t>
            </a:r>
            <a:endParaRPr sz="88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5C745CF-86C0-4322-B499-6FF0356D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7427E08-2B20-46E0-8E9F-43E83E22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2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</a:t>
            </a:r>
            <a:endParaRPr sz="10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ED96253-6604-4025-9E0D-C013502B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путь доказан</a:t>
            </a:r>
            <a:endParaRPr sz="103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4192323-211A-4C47-AA63-EC6EB86E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5B7069"/>
                </a:solidFill>
                <a:latin typeface="Inter"/>
                <a:ea typeface="Inter"/>
                <a:cs typeface="Inter"/>
              </a:rPr>
              <a:t>recovery-path проверен</a:t>
            </a:r>
            <a:endParaRPr sz="88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65999024-0BA1-469F-8E0B-BE7D8F1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D879598-9279-4DC7-BC07-6FD0A994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2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A008877-7F3E-43B0-95F5-95321FD9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временное</a:t>
            </a:r>
            <a:endParaRPr sz="103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C9FA29D-5668-46A6-9CA8-09BF685E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9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5B7069"/>
                </a:solidFill>
                <a:latin typeface="Inter"/>
                <a:ea typeface="Inter"/>
                <a:cs typeface="Inter"/>
              </a:rPr>
              <a:t>registered replay безопасен</a:t>
            </a:r>
            <a:endParaRPr sz="880"/>
          </a:p>
        </p:txBody>
      </p:sp>
    </p:spTree>
    <p:extLst>
      <p:ext uri="{BB962C8B-B14F-4D97-AF65-F5344CB8AC3E}">
        <p14:creationId xmlns:p14="http://schemas.microsoft.com/office/powerpoint/2010/main" val="3060672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3DAFEE-3854-4FF4-AD1B-33634401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1883C74-A914-49B2-B557-B3C929FF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A3C02D7-0949-4E2D-9E5F-1B6F29EC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8D692F6-FAD5-4341-916F-0509502D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9C0BF42-B3DB-4EF7-8062-F10436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B66AC1-BCCB-49BF-93C1-8E1E1D88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008E84"/>
                </a:solidFill>
                <a:latin typeface="Inter Display"/>
                <a:ea typeface="Inter Display"/>
                <a:cs typeface="Inter Display"/>
              </a:rPr>
              <a:t>EraSeMap  /  Эксперимент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1F2CB51-E864-4E72-951D-3FCB34DD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05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9203ED6-4569-483C-ABF4-91DF275C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40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Стенд цифровой идентичности: что реально проверяется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0ED983B-EB43-4FD7-8738-CBDF6077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4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0">
                <a:solidFill>
                  <a:srgbClr val="566E69"/>
                </a:solidFill>
                <a:latin typeface="Inter Display"/>
                <a:ea typeface="Inter Display"/>
                <a:cs typeface="Inter Display"/>
              </a:rPr>
              <a:t>В стенде используются реальные открытые сервисы и публичные либо тестовые записи. Он показывает полный жизненный цикл цифрового профиля, но не изображает готовое промышленное внедрение.</a:t>
            </a:r>
            <a:endParaRPr sz="1520"/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4082CD-6E78-44AD-91BA-7075177F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306324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BF5"/>
          </a:solidFill>
          <a:ln xmlns:a="http://schemas.openxmlformats.org/drawingml/2006/main" w="14604">
            <a:solidFill>
              <a:srgbClr val="BCD6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B68A606C-BEAC-4CA7-900B-51E9C7A4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02082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E8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4378709-04A5-4B4B-921A-3BCF15E3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" y="1938528"/>
            <a:ext cx="2560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85859"/>
          </a:bodyPr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12433E"/>
                </a:solidFill>
                <a:latin typeface="Inter"/>
                <a:ea typeface="Inter"/>
                <a:cs typeface="Inter"/>
              </a:rPr>
              <a:t>1 · Жизненный цикл профиля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A0FFE6-817B-4957-96A5-7B67B1C3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322576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9144" rIns="9144" bIns="9144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Keycloak — учётная запись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PostgreSQL / Redis — запись и кэш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Qdrant — биометрический вектор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MLflow / Qwen — lineage и влияние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Encrypted backup — путь восстановления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5ECC2D4-4076-465A-A3D8-42236D65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1828800"/>
            <a:ext cx="315468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BF5"/>
          </a:solidFill>
          <a:ln xmlns:a="http://schemas.openxmlformats.org/drawingml/2006/main" w="14604">
            <a:solidFill>
              <a:srgbClr val="BCD6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DE3D5862-8086-4A99-B03A-8399A77F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231" y="202082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E8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F9F9602-00CE-46B8-9404-2219E4CD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938528"/>
            <a:ext cx="2651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12433E"/>
                </a:solidFill>
                <a:latin typeface="Inter"/>
                <a:ea typeface="Inter"/>
                <a:cs typeface="Inter"/>
              </a:rPr>
              <a:t>2 · Данные и стенд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869242-42AF-4D50-A00A-5F7EDEF8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807" y="2322576"/>
            <a:ext cx="283464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9144" rIns="9144" bIns="9144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• публичные Olivetti / LFW-векторы;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• тестовые идентичности без реальных ПД;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• stock Keycloak, MLflow и Qdrant;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• 60 frozen transfer-кейсов;</a:t>
            </a:r>
          </a:p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• mappings и fault-инъекции созданы в проекте.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C7F8FD1-662F-4F12-B2D9-8541A63C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182880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BF5"/>
          </a:solidFill>
          <a:ln xmlns:a="http://schemas.openxmlformats.org/drawingml/2006/main" w="14604">
            <a:solidFill>
              <a:srgbClr val="BCD6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1984C2F1-0A60-4EFA-A047-8ACE2B67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202082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604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424DDC-5981-46B2-B7D3-B384E6C6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392" y="1938528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76978"/>
          </a:bodyPr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DC604B"/>
                </a:solidFill>
                <a:latin typeface="Inter"/>
                <a:ea typeface="Inter"/>
                <a:cs typeface="Inter"/>
              </a:rPr>
              <a:t>3 · Один воспроизводимый прогон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34072BD-FDDC-4464-B36E-490B84AF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322576"/>
            <a:ext cx="2926079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9144" rIns="9144" bIns="9144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Фиксируются начальные параметры, версия кода и пороги. Затем запускаются сравниваемые методы, выполняются Find, Erase и Prove, после чего сохраняются JSON-результаты, журналы и контрольные хеши.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35A59A7B-1FDD-40C9-80CB-16AAE708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6280"/>
            <a:ext cx="4892040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BF5F1"/>
          </a:solidFill>
          <a:ln xmlns:a="http://schemas.openxmlformats.org/drawingml/2006/main" w="14604">
            <a:solidFill>
              <a:srgbClr val="BCD6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3142AB3D-47F5-432E-8295-6715649B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7183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E8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D2E1FE79-E00A-412A-B7EE-41F08080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" y="4636008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2433E"/>
                </a:solidFill>
                <a:latin typeface="Inter"/>
                <a:ea typeface="Inter"/>
                <a:cs typeface="Inter"/>
              </a:rPr>
              <a:t>Почему этому можно доверять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B244972-9CEB-4800-83B4-C5929983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5020056"/>
            <a:ext cx="4572000" cy="703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9144" rIns="9144" bIns="9144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Гипотеза проверяема; метрики заданы заранее; raw artifacts сохранены; отрицательный результат не скрывается.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8F3EDE5-4B27-4B95-AE01-B660CEBA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4526280"/>
            <a:ext cx="4800600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9E8E3"/>
          </a:solidFill>
          <a:ln xmlns:a="http://schemas.openxmlformats.org/drawingml/2006/main" w="14604">
            <a:solidFill>
              <a:srgbClr val="BCD6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E1929A4D-D2D4-47E3-84DB-D1907820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1" y="47183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604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39A0E54B-0E47-4D0F-8A28-4A4E1255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4636008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DC604B"/>
                </a:solidFill>
                <a:latin typeface="Inter"/>
                <a:ea typeface="Inter"/>
                <a:cs typeface="Inter"/>
              </a:rPr>
              <a:t>Граница вывода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61803-B304-4C82-9FDC-4E1CA646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7" y="5020056"/>
            <a:ext cx="4480560" cy="703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9144" rIns="9144" bIns="9144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</a:pPr>
            <a:r>
              <a:rPr sz="1275">
                <a:solidFill>
                  <a:srgbClr val="566E69"/>
                </a:solidFill>
                <a:latin typeface="Inter"/>
                <a:ea typeface="Inter"/>
                <a:cs typeface="Inter"/>
              </a:rPr>
              <a:t>Это контролируемая интеграционная лаборатория, а не eGov / Face ID deployment. Вывод действует только внутри зарегистрированного envelope.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3629E30E-B4D8-4C4E-90F2-B69BA049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7880"/>
            <a:ext cx="992124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BF5F1"/>
          </a:solidFill>
          <a:ln xmlns:a="http://schemas.openxmlformats.org/drawingml/2006/main" w="14604">
            <a:solidFill>
              <a:srgbClr val="008E8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A14B473-ADE8-4717-9FE9-8CF06E29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998464"/>
            <a:ext cx="9555480" cy="3901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>
            <a:normAutofit fontScale="95686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75" b="1">
                <a:solidFill>
                  <a:srgbClr val="12433E"/>
                </a:solidFill>
                <a:latin typeface="Inter"/>
                <a:ea typeface="Inter"/>
                <a:cs typeface="Inter"/>
              </a:rPr>
              <a:t>Итог: один тестовый профиль проходит через реальные классы сервисов, поэтому проверяется полный путь данных, а не только внешний интерфейс.</a:t>
            </a:r>
          </a:p>
        </p:txBody>
      </p:sp>
    </p:spTree>
    <p:extLst>
      <p:ext uri="{BB962C8B-B14F-4D97-AF65-F5344CB8AC3E}">
        <p14:creationId xmlns:p14="http://schemas.microsoft.com/office/powerpoint/2010/main" val="1221596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EB2853-B2C5-4645-BC80-736BC763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18DAE52-FFDC-41D4-BF3C-27062BFD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0AAE57-7EE8-43CC-A2CA-CCB44D6C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9AF0BC1-56F6-46BB-85A0-7ACA5F01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AE77897-DD36-4F8F-ACBD-4306921F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8EFE5B-03FC-446F-B330-0AB8039B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1F64AD7-0C9A-41B8-8F4A-A8F08C63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Результаты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97B4F5-44E7-4239-9417-92398C6A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06</a:t>
            </a:r>
            <a:endParaRPr sz="8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DDF6197-E403-450D-8133-D14953FF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Безопасность: 0 ложных Complete из 60</a:t>
            </a:r>
            <a:endParaRPr sz="3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3B0773A-D052-4DDF-83F5-C5EC85ED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4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Ложный Complete — это опасная ошибка: система утверждает, что удаление завершено, хотя активный путь данных ещё существует. Чем меньше значение, тем безопаснее метод.</a:t>
            </a:r>
            <a:endParaRPr sz="152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D2EA738-78E0-4ACA-A603-2271F1D5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8394192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00B1C40-20FD-49E3-8FF1-8FFCE045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B35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18DD8F2-DE2F-4066-BE47-E8F69E4E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Inter"/>
                <a:ea typeface="Inter"/>
                <a:cs typeface="Inter"/>
              </a:rPr>
              <a:t>БЕЗОПАСНОСТЬ  ·  НИЖЕ ЛУЧШЕ</a:t>
            </a:r>
            <a:endParaRPr sz="820"/>
          </a:p>
        </p:txBody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9510c0ded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688" y="2488468"/>
            <a:ext cx="8065008" cy="2896048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469BE58-F6AE-475F-A2C8-384DE590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12848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0 / 60</a:t>
            </a:r>
            <a:endParaRPr sz="2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272E6A9-6AB3-40CE-AA2C-1567B96C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60320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EraSeMap</a:t>
            </a:r>
            <a:endParaRPr sz="95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08999E8-3A80-4276-876C-0992D231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246120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35A99B"/>
                </a:solidFill>
                <a:latin typeface="Inter"/>
                <a:ea typeface="Inter"/>
                <a:cs typeface="Inter"/>
              </a:rPr>
              <a:t>5 / 60</a:t>
            </a:r>
            <a:endParaRPr sz="24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86EF183-A4E9-471A-88CC-7A5403BD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593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full typed audit</a:t>
            </a:r>
            <a:endParaRPr sz="95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C046739-297F-4A2B-9ADA-47B67F96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279392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2C7C70"/>
                </a:solidFill>
                <a:latin typeface="Inter"/>
                <a:ea typeface="Inter"/>
                <a:cs typeface="Inter"/>
              </a:rPr>
              <a:t>45 / 60</a:t>
            </a:r>
            <a:endParaRPr sz="2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48FE779-1C24-428E-9882-63BAF2DF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626864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native status</a:t>
            </a:r>
            <a:endParaRPr sz="95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AE88E39-0438-4AB3-B078-736C13DE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516636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98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5">
                <a:solidFill>
                  <a:srgbClr val="5B7069"/>
                </a:solidFill>
                <a:latin typeface="Inter"/>
                <a:ea typeface="Inter"/>
                <a:cs typeface="Inter"/>
              </a:rPr>
              <a:t>Frozen transfer: Keycloak, MLflow, Qdrant; project-authored mappings и faults.</a:t>
            </a:r>
            <a:endParaRPr sz="1000"/>
          </a:p>
        </p:txBody>
      </p:sp>
      <p:sp>
        <p:nvSpPr>
          <p:cNvPr id="25" name="Readable conclusion 20">
            <a:extLst xmlns:a="http://schemas.openxmlformats.org/drawingml/2006/main">
              <a:ext uri="{FF2B5EF4-FFF2-40B4-BE49-F238E27FC236}">
                <a16:creationId xmlns:a16="http://schemas.microsoft.com/office/drawing/2014/main" id="{62438F0E-EFD8-4571-8D51-7C27520A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100584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4EF"/>
          </a:solidFill>
          <a:ln xmlns:a="http://schemas.openxmlformats.org/drawingml/2006/main" w="9525">
            <a:solidFill>
              <a:srgbClr val="078C82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23F38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123F38"/>
                </a:solidFill>
                <a:latin typeface="Inter"/>
                <a:ea typeface="Inter"/>
                <a:cs typeface="Inter"/>
              </a:rPr>
              <a:t>Вывод: в одном и том же переносном протоколе EraSeMap не выдал ни одного ложного подтверждения удаления.</a:t>
            </a:r>
          </a:p>
        </p:txBody>
      </p:sp>
    </p:spTree>
    <p:extLst>
      <p:ext uri="{BB962C8B-B14F-4D97-AF65-F5344CB8AC3E}">
        <p14:creationId xmlns:p14="http://schemas.microsoft.com/office/powerpoint/2010/main" val="415130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01C68B9-7301-4DB4-89BE-1EDCDDDE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23AB93E-5DAB-4B46-93E8-464EA063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64BF0D-71A7-42F6-BCA0-58751438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9C86C7C-95DF-49F5-AD96-1AF9DF40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58BDCC6-7BE6-42E4-9530-395FADA7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AF7576F-3F0D-474E-816E-1428E4A7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Результаты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6306106-2755-4E42-8F9A-21355217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07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1019610-84D7-455D-AC5D-3AD190B1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76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75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Точечный Erase: в 17.64 раза быстрее и на 94.62% меньше байтов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13B706-8E4A-469E-A96C-3872914C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4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Проведено 20 парных запусков на PostgreSQL, Redis, Qdrant и зашифрованной резервной копии. Оба подхода проходили одинаковые проверки безопасности.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DC0DC19-63C2-4E9D-AB1F-3FBC3A41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8650224" cy="3657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9F846A0-F158-4326-967E-EB983861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B35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E86AAE-19D8-46C2-BC84-0AF1467E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196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Inter"/>
                <a:ea typeface="Inter"/>
                <a:cs typeface="Inter"/>
              </a:rPr>
              <a:t>СТОИМОСТЬ  ·  ВРЕМЯ  ·  БАЙТЫ  ·  НИЖЕ ЛУЧШЕ</a:t>
            </a:r>
            <a:endParaRPr sz="820"/>
          </a:p>
        </p:txBody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2ca8f2a09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" y="2618463"/>
            <a:ext cx="8321040" cy="2471467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757DBF7-54C0-424B-8FE3-1F224792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212848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17.64×</a:t>
            </a:r>
            <a:endParaRPr sz="2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D9BA5F2-807B-493A-A179-CE7E95F3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560320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99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быстрее полной пересборки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0E2D2A4-48CC-4B2E-9B31-911AEA33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3246120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35A99B"/>
                </a:solidFill>
                <a:latin typeface="Inter"/>
                <a:ea typeface="Inter"/>
                <a:cs typeface="Inter"/>
              </a:rPr>
              <a:t>−94.62%</a:t>
            </a:r>
            <a:endParaRPr sz="24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FFE91F3-ADF6-447D-97B0-7EA90944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3593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50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меньше перезаписанных байт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4279C60-08DE-44BC-98EB-FD1040C6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4279392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2C7C70"/>
                </a:solidFill>
                <a:latin typeface="Inter"/>
                <a:ea typeface="Inter"/>
                <a:cs typeface="Inter"/>
              </a:rPr>
              <a:t>17</a:t>
            </a:r>
            <a:endParaRPr sz="2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24CFB67E-EF8F-4737-86AB-44625718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4626864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B7069"/>
                </a:solidFill>
                <a:latin typeface="Inter"/>
                <a:ea typeface="Inter"/>
                <a:cs typeface="Inter"/>
              </a:rPr>
              <a:t>средняя стоимость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571BCCD-07F2-485E-9D38-B1CDA80A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5175504"/>
            <a:ext cx="205740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7691710-A0A0-445E-BDCA-877C7110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285232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666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5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20/20 завершены · один локальный компьютер</a:t>
            </a:r>
            <a:endParaRPr sz="1020"/>
          </a:p>
        </p:txBody>
      </p:sp>
      <p:sp>
        <p:nvSpPr>
          <p:cNvPr id="25" name="Readable conclusion 20">
            <a:extLst xmlns:a="http://schemas.openxmlformats.org/drawingml/2006/main">
              <a:ext uri="{FF2B5EF4-FFF2-40B4-BE49-F238E27FC236}">
                <a16:creationId xmlns:a16="http://schemas.microsoft.com/office/drawing/2014/main" id="{D83B4D23-BD21-40AE-8E1E-45995BE8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100584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4EF"/>
          </a:solidFill>
          <a:ln xmlns:a="http://schemas.openxmlformats.org/drawingml/2006/main" w="9525">
            <a:solidFill>
              <a:srgbClr val="078C82"/>
            </a:solidFill>
            <a:prstDash val="solid"/>
          </a:ln>
        </p:spPr>
        <p:txBody>
          <a:bodyPr xmlns:a="http://schemas.openxmlformats.org/drawingml/2006/main" wrap="square" anchor="ctr">
            <a:normAutofit fontScale="81791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23F38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123F38"/>
                </a:solidFill>
                <a:latin typeface="Inter"/>
                <a:ea typeface="Inter"/>
                <a:cs typeface="Inter"/>
              </a:rPr>
              <a:t>Вывод: Erase закрывает только доказанные пути и поэтому требует значительно меньше времени и перезаписи данных, чем полная пересборка.</a:t>
            </a:r>
          </a:p>
        </p:txBody>
      </p:sp>
    </p:spTree>
    <p:extLst>
      <p:ext uri="{BB962C8B-B14F-4D97-AF65-F5344CB8AC3E}">
        <p14:creationId xmlns:p14="http://schemas.microsoft.com/office/powerpoint/2010/main" val="8913968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EA302F6-D3C7-4AC7-9F29-32E89B55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647180E-BFDB-4518-A92E-8307EF33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645D96E-45CF-4538-B5CC-95EB456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81BE14A-407A-40F8-8857-BBAE064E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D573119-CFB9-44C1-9C52-C6D1E0EE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7DC166F-448B-4184-B16E-3F97BDE8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Результаты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8E94EF2-BC6E-4090-9328-57EEFE98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08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4F956A6-AD85-4A5E-B09C-C0363157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Скрытый путь восстановления найден за 7 проверок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6BE222-3D2F-4F8F-8DD5-B8A9158A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4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Адаптивный поиск выбирает следующую проверку так, чтобы максимально разделить оставшиеся гипотезы. Поэтому ему не нужно перебирать все возможные варианты.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34727FE-107D-4099-8F15-904036D2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7571232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E8007D7-A4E8-4CF7-A72B-ABAC4E9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B35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4F7FDC-71D0-4972-8680-7B7EBB21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Inter"/>
                <a:ea typeface="Inter"/>
                <a:cs typeface="Inter"/>
              </a:rPr>
              <a:t>ПОИСК ПУТИ  ·  НИЖЕ ЛУЧШЕ</a:t>
            </a:r>
            <a:endParaRPr sz="820"/>
          </a:p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95c52221644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688" y="2680657"/>
            <a:ext cx="7223760" cy="2593966"/>
          </a:xfrm>
          <a:prstGeom xmlns:a="http://schemas.openxmlformats.org/drawingml/2006/main" prst="rect">
            <a:avLst/>
          </a:prstGeom>
        </p:spPr>
      </p:pic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EF469D1-7B89-47C3-8F57-9860E61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993392"/>
            <a:ext cx="2834640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D3380CE-54C7-4C31-9067-D27EAF2A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233172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Сравнение</a:t>
            </a:r>
            <a:endParaRPr sz="20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96EE896-AEEC-4D9E-BDA5-085749F3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2962656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7</a:t>
            </a:r>
            <a:endParaRPr sz="24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3CBA501-2357-4878-AD31-1CA72033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035808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EraSeMap = greedy</a:t>
            </a:r>
            <a:endParaRPr sz="11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BDD6162-E647-431A-A350-18ED3131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3529584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13</a:t>
            </a:r>
            <a:endParaRPr sz="2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A6936D5-3BEE-4220-B8BE-F386EB6A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60273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случайный</a:t>
            </a:r>
            <a:endParaRPr sz="11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B02B7AD-570C-4C70-A4B0-832B7479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4096512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49</a:t>
            </a:r>
            <a:endParaRPr sz="2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F8553896-ACDA-49A6-ADB4-77D00B7E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1696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полный перебор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89F69A7-229F-481A-9F29-E3F015D3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5266944"/>
            <a:ext cx="2286000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7DF1043F-AC27-417C-B068-5666BFD1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5358384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714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Честная ничья с greedy; external hidden run ещё не проведён.</a:t>
            </a:r>
            <a:endParaRPr sz="840"/>
          </a:p>
        </p:txBody>
      </p:sp>
      <p:sp>
        <p:nvSpPr>
          <p:cNvPr id="27" name="Readable conclusion 22">
            <a:extLst xmlns:a="http://schemas.openxmlformats.org/drawingml/2006/main">
              <a:ext uri="{FF2B5EF4-FFF2-40B4-BE49-F238E27FC236}">
                <a16:creationId xmlns:a16="http://schemas.microsoft.com/office/drawing/2014/main" id="{60333F8C-8A47-44B3-A642-5CB382E8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100584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4EF"/>
          </a:solidFill>
          <a:ln xmlns:a="http://schemas.openxmlformats.org/drawingml/2006/main" w="9525">
            <a:solidFill>
              <a:srgbClr val="078C82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23F38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123F38"/>
                </a:solidFill>
                <a:latin typeface="Inter"/>
                <a:ea typeface="Inter"/>
                <a:cs typeface="Inter"/>
              </a:rPr>
              <a:t>Вывод: Find использовал 7 проверок, как и greedy-подход, против 13 у случайного поиска и 49 у полного перебора.</a:t>
            </a:r>
          </a:p>
        </p:txBody>
      </p:sp>
    </p:spTree>
    <p:extLst>
      <p:ext uri="{BB962C8B-B14F-4D97-AF65-F5344CB8AC3E}">
        <p14:creationId xmlns:p14="http://schemas.microsoft.com/office/powerpoint/2010/main" val="10680685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A4C375-9BC5-4E9F-AC88-546DD18B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CA84F5C-7DB5-47F7-8453-35FA6348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76F278-19D8-477D-AB68-9F8D28F2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DD07A66-FC3E-4A7F-91C0-90A255A9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4B3A4F-C046-44E9-BE54-295CAD14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3A97012-E6FC-49DE-92AE-6EB9B375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Результаты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05B7A2D-770D-4671-91D1-F0CED519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09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E14154C-620A-4B23-A4FE-7C950260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4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Все 30 будущих рисков найдены; быстрый Qwen-метод получил Fail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508E19-A129-424D-9E48-3A36B326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41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7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Каждая цифра относится к заранее зафиксированному сценарию. Поэтому здесь отдельно показаны безопасность, будущая регенерация, стоимость, время и влияние удаления на модель.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D567C96-0D3C-4EE5-A4B8-DED34B1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7735824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BCA194B-39EF-4A61-B59F-C5936721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8600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Четыре независимых измерения</a:t>
            </a:r>
            <a:endParaRPr sz="2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B69F435-84B0-4D07-9D6D-D4359425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59CA3BB-E120-4C68-BEFA-A26D8E2B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85292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3B8E6E-B601-4FE5-888E-D5AE2F71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779776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Безопасность</a:t>
            </a:r>
            <a:endParaRPr sz="11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7733FFA-2C28-466D-A967-0657387C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017520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5B7069"/>
                </a:solidFill>
                <a:latin typeface="Inter"/>
                <a:ea typeface="Inter"/>
                <a:cs typeface="Inter"/>
              </a:rPr>
              <a:t>ложное «ГОТОВО» ↓</a:t>
            </a:r>
            <a:endParaRPr sz="8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1F6A1AF-1D01-469C-A649-E569F9C9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2779776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EraSeMap</a:t>
            </a:r>
            <a:endParaRPr sz="87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36227BE-C612-411E-8B42-FC80C07C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2743200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0 / 60</a:t>
            </a:r>
            <a:endParaRPr sz="15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A413620-5465-4B05-9790-10BA60C2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999232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DDCD5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34A0C37-44F6-47D4-AF26-AED87A7F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779776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native status</a:t>
            </a:r>
            <a:endParaRPr sz="87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FB960D8-85FE-4070-BD07-2EC22F42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743200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45 / 60</a:t>
            </a:r>
            <a:endParaRPr sz="15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C770126-7FBD-4C88-A50F-B7F81BDF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83280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CC5877B-3990-4374-9C7E-C888A97B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56616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99B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2B0C46C-8CE6-48B0-BF76-E11F9B05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493008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Будущая регенерация</a:t>
            </a:r>
            <a:endParaRPr sz="112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84A71C0-3F87-450E-9D89-1E66D6FA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730752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5B7069"/>
                </a:solidFill>
                <a:latin typeface="Inter"/>
                <a:ea typeface="Inter"/>
                <a:cs typeface="Inter"/>
              </a:rPr>
              <a:t>найденные риски ↑</a:t>
            </a:r>
            <a:endParaRPr sz="8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C0AF27B-E268-475F-8B90-89A2BCAB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493008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EraSeMap</a:t>
            </a:r>
            <a:endParaRPr sz="87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0B6C275-7F1B-45E9-B825-13B2491F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3456432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30 / 30</a:t>
            </a:r>
            <a:endParaRPr sz="15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200E55F-8C67-4BB4-8443-5D15F129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712464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DDCD5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9E88683-BE84-40EE-96BB-4874674E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49300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снимок</a:t>
            </a:r>
            <a:endParaRPr sz="87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D4D6204-AE10-4D9D-9DE8-A3D5BE2A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456432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0 / 30</a:t>
            </a:r>
            <a:endParaRPr sz="15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3421D07-8070-433E-A4B4-4C3B73AD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96512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EF139C6-F815-4F30-85DE-539F35C7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793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9D91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CF0848B-46C4-4334-BC38-A4F46EC8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206240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Стоимость действий</a:t>
            </a:r>
            <a:endParaRPr sz="112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10B244B-EA98-40F8-9408-B61E65B2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443984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5B7069"/>
                </a:solidFill>
                <a:latin typeface="Inter"/>
                <a:ea typeface="Inter"/>
                <a:cs typeface="Inter"/>
              </a:rPr>
              <a:t>средняя стоимость ↓</a:t>
            </a:r>
            <a:endParaRPr sz="8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E9856A8-B61C-4324-92AA-2E954145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4206240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EraSeMap</a:t>
            </a:r>
            <a:endParaRPr sz="87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780D1D5-FADD-413E-BB81-4FCB4ADD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169664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17</a:t>
            </a:r>
            <a:endParaRPr sz="150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CD05774F-C623-4005-89E1-A6C05D62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42569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DDCD5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2F6E9ED-792A-4C24-ABA4-93FFBDC5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206240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удалить всё</a:t>
            </a:r>
            <a:endParaRPr sz="87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C558D89-2F30-4169-B788-283BE9E0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169664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48.67</a:t>
            </a:r>
            <a:endParaRPr sz="150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BA55AE05-D4B3-4739-9D1A-ED673A23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809744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FF0298AC-24BA-464B-9B26-71E4E84B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9926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EA37E01-EDA2-49C0-A6EB-3D3D8449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919472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Время задачи</a:t>
            </a:r>
            <a:endParaRPr sz="112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0923EA6-5E6F-45CF-85A6-C0EECACF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157216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5B7069"/>
                </a:solidFill>
                <a:latin typeface="Inter"/>
                <a:ea typeface="Inter"/>
                <a:cs typeface="Inter"/>
              </a:rPr>
              <a:t>норм. время ↓</a:t>
            </a:r>
            <a:endParaRPr sz="85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41FCC5F4-EFFB-401E-B06C-714B2501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4919472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EraSeMap</a:t>
            </a:r>
            <a:endParaRPr sz="87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17DE62C5-AECF-4F14-B4B0-38BC59AD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882896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5.67%</a:t>
            </a:r>
            <a:endParaRPr sz="15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BBD51F97-B891-4AD8-876E-E075F466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138928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DDCD5"/>
            </a:solidFill>
            <a:prstDash val="solid"/>
          </a:ln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3AC770FF-C83B-4F59-AD86-914AFF08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919472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6504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5B7069"/>
                </a:solidFill>
                <a:latin typeface="Inter"/>
                <a:ea typeface="Inter"/>
                <a:cs typeface="Inter"/>
              </a:rPr>
              <a:t>пересобрать всё</a:t>
            </a:r>
            <a:endParaRPr sz="87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87CAB697-2810-44EB-BDFE-57888D6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882896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100%</a:t>
            </a:r>
            <a:endParaRPr sz="150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23E47068-7D1A-4425-B247-7CABB0A5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1993392"/>
            <a:ext cx="2670048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D45F063B-18C9-4998-8EA1-AA47CEAE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31720"/>
            <a:ext cx="2231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Machine unlearning</a:t>
            </a:r>
            <a:endParaRPr sz="190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72AA21CC-FA2E-41BE-8D3D-CE399D53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999232"/>
            <a:ext cx="217627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На Qwen2.5-1.5B быстрый кандидат был быстрее, но не прошёл retain-utility gate.</a:t>
            </a:r>
            <a:endParaRPr sz="103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3104CDF8-0DB6-4525-BE52-7C2DFA68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703320"/>
            <a:ext cx="2176272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FE9EB3CF-EA8D-41D7-90D7-91F0A2ED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822192"/>
            <a:ext cx="18836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Fail · exact retraining = safe fallback</a:t>
            </a:r>
            <a:endParaRPr sz="900"/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B531E76C-699F-49B3-ACDD-499BD07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389120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31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5">
                <a:solidFill>
                  <a:srgbClr val="5B7069"/>
                </a:solidFill>
                <a:latin typeface="Inter"/>
                <a:ea typeface="Inter"/>
                <a:cs typeface="Inter"/>
              </a:rPr>
              <a:t>Быстрый результат не принимается, если он ухудшает полезность сохранённых данных.</a:t>
            </a:r>
            <a:endParaRPr sz="1020"/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840F6C71-127E-4101-AF9C-C74BA1D0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157216"/>
            <a:ext cx="224942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14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B7069"/>
                </a:solidFill>
                <a:latin typeface="Inter"/>
                <a:ea typeface="Inter"/>
                <a:cs typeface="Inter"/>
              </a:rPr>
              <a:t>Не удаление из Qwen pretraining и не certified privacy.</a:t>
            </a:r>
            <a:endParaRPr sz="900"/>
          </a:p>
        </p:txBody>
      </p:sp>
      <p:sp>
        <p:nvSpPr>
          <p:cNvPr id="57" name="Readable conclusion 54">
            <a:extLst xmlns:a="http://schemas.openxmlformats.org/drawingml/2006/main">
              <a:ext uri="{FF2B5EF4-FFF2-40B4-BE49-F238E27FC236}">
                <a16:creationId xmlns:a16="http://schemas.microsoft.com/office/drawing/2014/main" id="{C86EECA9-970D-4C01-8ADB-0523A1FF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100584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4EF"/>
          </a:solidFill>
          <a:ln xmlns:a="http://schemas.openxmlformats.org/drawingml/2006/main" w="9525">
            <a:solidFill>
              <a:srgbClr val="078C82"/>
            </a:solidFill>
            <a:prstDash val="solid"/>
          </a:ln>
        </p:spPr>
        <p:txBody>
          <a:bodyPr xmlns:a="http://schemas.openxmlformats.org/drawingml/2006/main" wrap="square" anchor="ctr">
            <a:normAutofit fontScale="83521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23F38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123F38"/>
                </a:solidFill>
                <a:latin typeface="Inter"/>
                <a:ea typeface="Inter"/>
                <a:cs typeface="Inter"/>
              </a:rPr>
              <a:t>Итог: положительный вердикт требует одновременного прохождения всех порогов; один быстрый показатель не компенсирует научный Fail.</a:t>
            </a:r>
          </a:p>
        </p:txBody>
      </p:sp>
    </p:spTree>
    <p:extLst>
      <p:ext uri="{BB962C8B-B14F-4D97-AF65-F5344CB8AC3E}">
        <p14:creationId xmlns:p14="http://schemas.microsoft.com/office/powerpoint/2010/main" val="19351854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C8582CA-2C66-464E-8527-0F24F628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0B4A1B-B000-44F5-B8EF-2C30C682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3E7BC75-5747-4BA2-A282-94EF9087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E87798A-7151-41DB-8DFF-D5657600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5C19740-B808-437B-AF10-ABA7D03D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6F97011-E20B-4D77-9115-0FDA6BC7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BA84DAA-867B-431B-9616-C1C079DE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Теория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29435A2-A893-4577-8AD5-BC674FE4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10</a:t>
            </a:r>
            <a:endParaRPr sz="8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178C0-A8EC-42CB-8EA6-3042E49E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9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25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Точные решатели полностью совпали с полным перебором</a:t>
            </a:r>
            <a:endParaRPr sz="3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21EC2B3-517B-4292-96CD-8F40C44D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41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7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Lean проверяет условные математические свойства, а независимая Python-реализация сравнивает ответы точных решателей с полным перебором всех вариантов в зарегистрированной области.</a:t>
            </a:r>
            <a:endParaRPr sz="152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2C98CA4-69BA-4F77-A52C-4EEB81A6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84248"/>
            <a:ext cx="1019556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15829ED-4748-48E2-9DA5-F15981E9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67712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Complete within envelope ⇔ P ∧ D ∧ T</a:t>
            </a:r>
            <a:endParaRPr sz="3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FBA7F5B-AA3C-4EB2-9925-41125376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2C7C70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9C788F3-0EC7-4B24-AFFA-D224D5D0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4E8AC5F-F64C-4D6F-8770-A7A26045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09893C4-A840-4A3C-B78A-67FF6706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физика + модель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6E1C5D3-FAD7-4B81-9390-9E2519FA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21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5B7069"/>
                </a:solidFill>
                <a:latin typeface="Inter"/>
                <a:ea typeface="Inter"/>
                <a:cs typeface="Inter"/>
              </a:rPr>
              <a:t>зарегистрированные пути закрыты</a:t>
            </a:r>
            <a:endParaRPr sz="94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5956D27-532C-4F35-A54F-94AE9B16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C0E136-A40D-4EB1-9C6C-E350044E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275A03E-B6DC-4A9C-9DB2-381E83F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23B9D8D-F91B-43BB-BE58-9F7097BD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путь доказан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474CCD2-4796-46D1-8B11-3F04E93B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5B7069"/>
                </a:solidFill>
                <a:latin typeface="Inter"/>
                <a:ea typeface="Inter"/>
                <a:cs typeface="Inter"/>
              </a:rPr>
              <a:t>recovery-path проверен</a:t>
            </a:r>
            <a:endParaRPr sz="94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28B3881-48AA-4E3B-98B7-E48B09C1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BFEF55E-6BCD-4FA8-9396-BAB7473A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B808510-1660-4ED2-BE20-20385B91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9789FBD-4A0B-4081-B75F-D65CA55D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временное</a:t>
            </a:r>
            <a:endParaRPr sz="12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2C58953-D35C-43B5-94ED-BE9ED04D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5B7069"/>
                </a:solidFill>
                <a:latin typeface="Inter"/>
                <a:ea typeface="Inter"/>
                <a:cs typeface="Inter"/>
              </a:rPr>
              <a:t>registered replay безопасен</a:t>
            </a:r>
            <a:endParaRPr sz="94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4B2EBAA-0A9C-40AA-9BFA-468478E2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184648"/>
            <a:ext cx="10149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75" b="1">
                <a:solidFill>
                  <a:srgbClr val="24564C"/>
                </a:solidFill>
                <a:latin typeface="Inter"/>
                <a:ea typeface="Inter"/>
                <a:cs typeface="Inter"/>
              </a:rPr>
              <a:t>Action oracle: 3 072 / 3 072 · Temporal oracle: 16 384 / 16 384 · 0 расхождений</a:t>
            </a:r>
            <a:endParaRPr sz="12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D258356-42CE-4B63-BC8B-314620CC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95950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75">
                <a:solidFill>
                  <a:srgbClr val="5B7069"/>
                </a:solidFill>
                <a:latin typeface="Inter"/>
                <a:ea typeface="Inter"/>
                <a:cs typeface="Inter"/>
              </a:rPr>
              <a:t>Это подтверждает корректность решателей в проверенной области, но не доказывает полноту неизвестной реальной инфраструктуры или правильность каждого будущего адаптера.</a:t>
            </a:r>
            <a:endParaRPr sz="1120"/>
          </a:p>
        </p:txBody>
      </p:sp>
    </p:spTree>
    <p:extLst>
      <p:ext uri="{BB962C8B-B14F-4D97-AF65-F5344CB8AC3E}">
        <p14:creationId xmlns:p14="http://schemas.microsoft.com/office/powerpoint/2010/main" val="17380444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C89D860-1C92-4791-9FBE-CED3B05F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5B0E2A-4782-40E2-9ABF-2DB2DDDF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B30AC3-8214-499E-980E-B99AC62F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6C130D9-5DBC-490F-BF90-0E6932D5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F27CA2E-C926-4784-AC44-9B9A0E82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F0EB8D0-A46C-489C-84A2-E0BE10A7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Границы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F57532D-84B9-4498-9924-AD916075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11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968B60B-A58F-48A1-859B-999F0B47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84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Алгоритм переносим, но промышленный пилот ещё не проведён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674A144-3A29-46DF-8952-92FA495A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41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7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Одно правило уже проверено на системах управления учётными записями, ML-lineage и векторном поиске. Однако сценарии подготовлены внутри проекта, а скорость измерена на одной машине.</a:t>
            </a:r>
            <a:endParaRPr sz="15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FA887C-EDE0-4706-B0F2-DC8DC3EF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5074920" cy="3520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B1D3385-2271-4DDE-80A5-09FE8025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331720"/>
            <a:ext cx="4343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75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Что ограничивает вывод</a:t>
            </a:r>
            <a:endParaRPr sz="2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9F19AFF-0C92-4C34-BB3D-B1870F14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923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7EFD7AD-AB18-4B95-B1FF-844B2D2D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1528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01</a:t>
            </a:r>
            <a:endParaRPr sz="7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F547575-8386-40BA-AA55-7E3CEBC8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3017520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793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5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сценарии и hidden-графы подготовлены внутри проекта</a:t>
            </a:r>
            <a:endParaRPr sz="122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4071D13-F76E-4C7D-995A-5DAAB67B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383D5BD-152C-4746-9E68-F0EE4F49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39896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02</a:t>
            </a:r>
            <a:endParaRPr sz="7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B690A8F-88D2-4697-92BD-0CFB95AF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3675888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29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5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скорость измерена на одной локальной конфигурации</a:t>
            </a:r>
            <a:endParaRPr sz="12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6670D42-28B5-4603-85DF-A238CDA5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1596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306908A-3FAD-4D15-B484-B0A353BC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98264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03</a:t>
            </a:r>
            <a:endParaRPr sz="7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5D511B7-C03D-46C6-992E-257672CE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4334256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5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Qwen: adapter influence, не pretraining influence</a:t>
            </a:r>
            <a:endParaRPr sz="12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D4C6400-AD1A-49C4-8530-82980D3C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93392"/>
            <a:ext cx="5138928" cy="3520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4B06F29-6BBE-4434-B9A4-3475AA83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31720"/>
            <a:ext cx="4425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75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Куда можно переносить после пилота</a:t>
            </a:r>
            <a:endParaRPr sz="2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0F78F07-2BE1-4321-8197-BC6AE040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9560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90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• цифровая идентичность и биометрические индексы</a:t>
            </a:r>
            <a:endParaRPr sz="1600"/>
          </a:p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• школьные и медицинские порталы</a:t>
            </a:r>
            <a:endParaRPr sz="1600"/>
          </a:p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• ML-платформы и реестры данных</a:t>
            </a:r>
            <a:endParaRPr sz="16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DD5F240-B8A5-4F1D-A4F4-248E13BB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52850"/>
            <a:ext cx="4000500" cy="323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EC7411C-E269-47E2-86B4-D4EED0F5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29050"/>
            <a:ext cx="3771900" cy="171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НАПРАВЛЕНИЯ, А НЕ ТЕКУЩИЕ ВНЕДРЕНИЯ</a:t>
            </a:r>
            <a:endParaRPr sz="81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FA34C51-73FB-44AB-BB93-7B63A9CB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6245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Техническая проверка,</a:t>
            </a:r>
            <a:endParaRPr sz="1600"/>
          </a:p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не юридическая сертификация</a:t>
            </a:r>
            <a:endParaRPr sz="16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57C3B6C-E4CB-444A-A477-9C0A99EE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10150"/>
            <a:ext cx="40005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74C411-7F92-4E1A-95AA-81918FDE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95875"/>
            <a:ext cx="373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27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5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Нужны разрешение владельца системы и независимая оценка.</a:t>
            </a:r>
            <a:endParaRPr sz="81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3C36E3E-63E0-4E3E-BAC6-97330ADB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857875"/>
            <a:ext cx="647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75">
                <a:solidFill>
                  <a:srgbClr val="5B7069"/>
                </a:solidFill>
                <a:latin typeface="Inter"/>
                <a:ea typeface="Inter"/>
                <a:cs typeface="Inter"/>
              </a:rPr>
              <a:t>Если доказательств не хватает, EraSeMap возвращает Unverified и перечисляет пробелы. Это честнее, чем удобное, но неподтверждённое «успешно».</a:t>
            </a:r>
            <a:endParaRPr sz="1160"/>
          </a:p>
        </p:txBody>
      </p:sp>
    </p:spTree>
    <p:extLst>
      <p:ext uri="{BB962C8B-B14F-4D97-AF65-F5344CB8AC3E}">
        <p14:creationId xmlns:p14="http://schemas.microsoft.com/office/powerpoint/2010/main" val="7000212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2F95977-96C7-45DC-B8EF-44F0679C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FD9401-1FEA-432A-BE2B-1CC54CFD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DB7EE16-74E5-440B-8E3F-0C1E0DE4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5F9C284-E8C1-401A-A26A-75189394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699B1DF-5197-47B2-823B-A050456F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D3E4602-9F87-43D3-9469-3FEB3C75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Вклад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09366A-D17A-4006-84A6-A0FB4482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12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92A3409-DEA9-41CC-B5C2-009A3EB7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04672"/>
            <a:ext cx="106070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50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75" b="1">
                <a:solidFill>
                  <a:srgbClr val="123F38"/>
                </a:solidFill>
                <a:latin typeface="Inter Display"/>
                <a:ea typeface="Inter Display"/>
                <a:cs typeface="Inter Display"/>
              </a:rPr>
              <a:t>Вклад: единый безопасный контракт вместо разрозненных проверок</a:t>
            </a:r>
            <a:endParaRPr sz="3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2A9D851-837B-4C45-AB17-FC941FFE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44752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41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75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Отдельно уже существуют lineage, machine unlearning и временное тестирование. EraSeMap объединяет их в один проверяемый процесс, где неизвестность не считается успехом.</a:t>
            </a:r>
            <a:endParaRPr sz="15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BD1A5D0-9FBC-40D7-A910-5F5234ED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11680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Вклад работы</a:t>
            </a:r>
            <a:endParaRPr sz="20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F2B944E-8284-43DC-936C-362E8C8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67919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C7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72B4F60-D764-4AAE-8E32-DFEA6373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697480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единый вердикт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E6AD452-13D8-4B16-92BB-B172FA80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971800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5B7069"/>
                </a:solidFill>
                <a:latin typeface="Inter"/>
                <a:ea typeface="Inter"/>
                <a:cs typeface="Inter"/>
              </a:rPr>
              <a:t>не пять локальных ответов, а одно решение</a:t>
            </a:r>
            <a:endParaRPr sz="97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AC8BF24-8301-44CB-8881-2CE908A9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43814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E55090A-F9D0-45D9-8C6B-31834034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5643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fail-closed Unknown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A31CF30-924F-443F-AF33-BE24A692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730752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5B7069"/>
                </a:solidFill>
                <a:latin typeface="Inter"/>
                <a:ea typeface="Inter"/>
                <a:cs typeface="Inter"/>
              </a:rPr>
              <a:t>неизвестность не считается успехом</a:t>
            </a:r>
            <a:endParaRPr sz="97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766703A-1DE3-4E6C-A892-3B4C6AF6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970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DB9AD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4AA1830-2536-40E3-B4EA-58D4CF2A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4215384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граница сертификата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7BD91F-8879-4EB4-A8BB-3F22F7EA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4489704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5B7069"/>
                </a:solidFill>
                <a:latin typeface="Inter"/>
                <a:ea typeface="Inter"/>
                <a:cs typeface="Inter"/>
              </a:rPr>
              <a:t>Complete только внутри проверенного envelope</a:t>
            </a:r>
            <a:endParaRPr sz="97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8900A2A-9378-4F99-88F7-8F5BABDB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2011680"/>
            <a:ext cx="5843016" cy="3584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CDDCD5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C479F2C-4719-44FB-92F8-0DC69762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340864"/>
            <a:ext cx="4956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Воспроизводимость</a:t>
            </a:r>
            <a:endParaRPr sz="2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159E40E-4BBB-4FF1-9CA9-93E708E5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962656"/>
            <a:ext cx="2011680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175F50A-9A8F-48CF-BF60-B6C860F0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1294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•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E480AC7-F811-4194-A160-E33BEC8A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01294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reproduce_release.sh core</a:t>
            </a:r>
            <a:endParaRPr sz="88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BC6386C0-B493-4014-B5EB-630307B6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3374136"/>
            <a:ext cx="2011680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DDD6"/>
          </a:solidFill>
          <a:ln xmlns:a="http://schemas.openxmlformats.org/drawingml/2006/main" w="12700">
            <a:solidFill>
              <a:srgbClr val="D8614B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4072CA5-3666-4C98-83C0-E50F6951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2442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•</a:t>
            </a:r>
            <a:endParaRPr sz="8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B42B723-0569-4462-BADB-A036F1B8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42442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D8614B"/>
                </a:solidFill>
                <a:latin typeface="Inter"/>
                <a:ea typeface="Inter"/>
                <a:cs typeface="Inter"/>
              </a:rPr>
              <a:t>erasemap showcase → jury report</a:t>
            </a:r>
            <a:endParaRPr sz="88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2EA822B-E2CA-4B5C-9E6F-C8090A38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3785616"/>
            <a:ext cx="3639312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FBE3332-D657-4C14-8A60-B063D6A6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3590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•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AF3D53E-FFB8-41C1-9754-D0883771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3590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Ruff · strict mypy · pytest ≥90% · Lean</a:t>
            </a:r>
            <a:endParaRPr sz="88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9726E8C9-4967-4C07-9451-40B521C3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197096"/>
            <a:ext cx="3493008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40DAAA4-0E1A-4D4F-828D-26367FE2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24738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•</a:t>
            </a:r>
            <a:endParaRPr sz="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6F18A0D-A641-43A5-A3FE-56C3BF1B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24738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seeds · thresholds · hashes заранее</a:t>
            </a:r>
            <a:endParaRPr sz="88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9104E5E-9E8F-4510-8C09-1171A7E6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608576"/>
            <a:ext cx="3346704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4B8C634-FAFB-402B-BE62-FE64B2D7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5886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8C82"/>
                </a:solidFill>
                <a:latin typeface="Inter"/>
                <a:ea typeface="Inter"/>
                <a:cs typeface="Inter"/>
              </a:rPr>
              <a:t>✓</a:t>
            </a:r>
            <a:endParaRPr sz="8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3D6F9AB-8927-4C75-A303-A2AA2C07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65886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воспроизводимая лаборатория</a:t>
            </a:r>
            <a:endParaRPr sz="88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8B8BAE5-539E-4F8B-8AEE-25FCCED5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143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61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B7069"/>
                </a:solidFill>
                <a:latin typeface="Inter"/>
                <a:ea typeface="Inter"/>
                <a:cs typeface="Inter"/>
              </a:rPr>
              <a:t>Этика и воспроизводимость: используются тестовые идентичности и открытые наборы; параметры, пороги и хеши фиксируются заранее; проверка реальной системы возможна только с разрешения владельца.</a:t>
            </a:r>
            <a:endParaRPr sz="1070"/>
          </a:p>
        </p:txBody>
      </p:sp>
    </p:spTree>
    <p:extLst>
      <p:ext uri="{BB962C8B-B14F-4D97-AF65-F5344CB8AC3E}">
        <p14:creationId xmlns:p14="http://schemas.microsoft.com/office/powerpoint/2010/main" val="12335285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601B5E6-A588-4176-A146-DDACA19C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9912096" y="0"/>
            <a:ext cx="2194560" cy="1234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6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C0D9450-95EE-4D8D-902A-146110DA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">
            <a:off x="10744200" y="164592"/>
            <a:ext cx="1188720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DDD6">
              <a:alpha val="6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839057-726F-420D-A9E0-65617735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E0">
              <a:alpha val="38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25B7AA-5974-44D4-9823-9CC7F424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78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AB0E59-BAF2-4034-8316-2EAFBFC0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DDCD5">
                <a:alpha val="84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86BCD14-B7A5-40A6-AE6D-FC2806CF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8C82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1AC1F0E-E670-4DDE-9AD8-1CABE6EF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614B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CAE2F3-6199-4D72-9C22-8E588192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02336"/>
            <a:ext cx="3291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80">
                <a:solidFill>
                  <a:srgbClr val="078C82"/>
                </a:solidFill>
                <a:latin typeface="Inter Display"/>
                <a:ea typeface="Inter Display"/>
                <a:cs typeface="Inter Display"/>
              </a:rPr>
              <a:t>EraSeMap  /  Вывод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AA483AC-0DB9-429D-A3BF-6A34BBD7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325880"/>
            <a:ext cx="534924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4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700" b="1">
                <a:solidFill>
                  <a:srgbClr val="123B35"/>
                </a:solidFill>
                <a:latin typeface="Inter Display"/>
                <a:ea typeface="Inter Display"/>
                <a:cs typeface="Inter Display"/>
              </a:rPr>
              <a:t>Проверять путь,</a:t>
            </a:r>
            <a:endParaRPr sz="4700"/>
          </a:p>
          <a:p xmlns:a="http://schemas.openxmlformats.org/drawingml/2006/main">
            <a:pPr marL="0" indent="0" algn="l">
              <a:buNone/>
            </a:pPr>
            <a:r>
              <a:rPr sz="4700" b="1">
                <a:solidFill>
                  <a:srgbClr val="123B35"/>
                </a:solidFill>
                <a:latin typeface="Inter Display"/>
                <a:ea typeface="Inter Display"/>
                <a:cs typeface="Inter Display"/>
              </a:rPr>
              <a:t>а не обещание.</a:t>
            </a:r>
            <a:endParaRPr sz="4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48B585F-835A-4090-9701-EE4F3EE0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246120"/>
            <a:ext cx="516636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59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5">
                <a:solidFill>
                  <a:srgbClr val="5B7069"/>
                </a:solidFill>
                <a:latin typeface="Inter"/>
                <a:ea typeface="Inter"/>
                <a:cs typeface="Inter"/>
              </a:rPr>
              <a:t>Find строит карту остаточных путей. Erase закрывает их минимальным безопасным планом. Prove повторяет проверку сейчас и после возможного восстановления.</a:t>
            </a:r>
            <a:endParaRPr sz="16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8DAF25F-C0C2-4065-938A-51C5E058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443984"/>
            <a:ext cx="45262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4EF"/>
          </a:solidFill>
          <a:ln xmlns:a="http://schemas.openxmlformats.org/drawingml/2006/main" w="12700">
            <a:solidFill>
              <a:srgbClr val="078C82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F699953-416F-4E17-B0C4-DFD4D33E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48175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23B35"/>
                </a:solidFill>
                <a:latin typeface="Inter"/>
                <a:ea typeface="Inter"/>
                <a:cs typeface="Inter"/>
              </a:rPr>
              <a:t>Следующий шаг: независимая скрытая проверка или разрешённый пилот.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EE63925-96F6-44C6-8184-BB6EA513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5B7069"/>
                </a:solidFill>
                <a:latin typeface="Inter Display"/>
                <a:ea typeface="Inter Display"/>
                <a:cs typeface="Inter Display"/>
              </a:rPr>
              <a:t>13</a:t>
            </a:r>
            <a:endParaRPr sz="850"/>
          </a:p>
        </p:txBody>
      </p:sp>
      <p:pic>
        <p:nvPicPr>
          <p:cNvPr id="39" name="Picture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0a590027a41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691640"/>
            <a:ext cx="4114800" cy="347472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84305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2026-08-31T12:51:31.6690000Z</dcterms:created>
  <dcterms:modified xsi:type="dcterms:W3CDTF">2026-08-31T12:51:31.6690000Z</dcterms:modified>
</coreProperties>
</file>