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Начните с простой мысли: ответ DELETE 200 OK подтверждает только команду, но не исчезновение копий и производных. EraSeMap превращает обещание удаления в проверяемый путь.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Покажите, что один пользователь представлен не одной строкой: есть шаблон, кэш, backup и влияние на модель. Любая из ветвей может стать путём восстановления.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Проговорите пять вопросов вместо названий внутренних модулей. Так алгоритм понятен комиссии: карта, поиск пути, минимальный план, временная проверка и сертификат.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сила — безопасный отказ. COMPLETE выдаётся только при одновременном физическом, производном и временном закрытии.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Расскажите это как одну историю: запрос идёт от карты данных к закрытию копий, затем к активной проверке и только после этого к вердикту. Если найден риск или путь не подтверждён, EraSeMap не говорит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Чётко назовите метрику: false COMPLETE, а не общая точность. Ноль — безопасный результат на ограниченном протоколе, не обещание промышленного внедрения.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показывает эффективность после прохождения safety gates. Это нормализованная bounded задача, поэтому не переносите цифры автоматически на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Активная проба выбирает следующий тест так, чтобы разделить оставшиеся гипотезы. Результат family-held-out показывает переносимость на новые семейства топологий, но не production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скрывайте отрицательный model-unlearning результат. Сильная область проекта — evidence-led storage deletion; модельный канал доказывается отдельно. Подчеркните, что четыре строки не складываются в один рейтинг.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Формула — удобная рамка для комиссии. Важно уточнить: formal checks подтверждают conformance протокола и composition property, но не заменяют внешний production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Поясните термины: retained utility — полезность для оставшихся пользователей; exact fallback — безопасное переобучение. Отрицательный результат здесь усиливает научную честность.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Новизна формулируется как композиция: recovery-path discovery, temporal closure и сертификат с границей неизвестности. Отдельно покажите, какие доказательства уже есть, а какие ещё нужны.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Закройте одной фразой: EraSeMap проверяет путь, а не обещание. Если спросят о следующем шаге, называйте independent hidden challenge и production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CBE4D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F5D2C8">
              <a:alpha val="6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4023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RESEARCH PROTOTYPE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41732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—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кнопка.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88950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проверяемый путь.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43814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проверяет, исчезли ли данные из копий, производных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будущих каналов восстановления.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86384" y="4590288"/>
            <a:ext cx="4526280" cy="47548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" y="4727448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200 OK  →  карта  →  проверка  →  сертификат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1828800"/>
            <a:ext cx="1097280" cy="640080"/>
          </a:xfrm>
          <a:prstGeom prst="line">
            <a:avLst/>
          </a:prstGeom>
          <a:noFill/>
          <a:ln w="27940">
            <a:solidFill>
              <a:srgbClr val="C8D6CE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468880"/>
            <a:ext cx="1078992" cy="-137160"/>
          </a:xfrm>
          <a:prstGeom prst="line">
            <a:avLst/>
          </a:prstGeom>
          <a:noFill/>
          <a:ln w="27940">
            <a:solidFill>
              <a:srgbClr val="C8D6CE">
                <a:alpha val="8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828800"/>
            <a:ext cx="713232" cy="1572768"/>
          </a:xfrm>
          <a:prstGeom prst="line">
            <a:avLst/>
          </a:prstGeom>
          <a:noFill/>
          <a:ln w="27940">
            <a:solidFill>
              <a:srgbClr val="C8D6CE">
                <a:alpha val="8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8432" y="3401568"/>
            <a:ext cx="1353312" cy="-932688"/>
          </a:xfrm>
          <a:prstGeom prst="line">
            <a:avLst/>
          </a:prstGeom>
          <a:noFill/>
          <a:ln w="27940">
            <a:solidFill>
              <a:srgbClr val="C8D6CE">
                <a:alpha val="8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1417320"/>
            <a:ext cx="1536192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75704" y="1563624"/>
            <a:ext cx="146304" cy="146304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13448" y="150876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13448" y="1755648"/>
            <a:ext cx="1033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исходная запись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94192" y="2139696"/>
            <a:ext cx="160020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0496" y="22860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78240" y="22311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производная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247802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 / индекс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73568" y="3346704"/>
            <a:ext cx="1572768" cy="658368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9872" y="3493008"/>
            <a:ext cx="146304" cy="146304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57616" y="3438144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357616" y="3685032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 / восстановление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3438144"/>
            <a:ext cx="146304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7077D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55664" y="3584448"/>
            <a:ext cx="146304" cy="146304"/>
          </a:xfrm>
          <a:prstGeom prst="ellipse">
            <a:avLst/>
          </a:prstGeom>
          <a:solidFill>
            <a:srgbClr val="7077D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93408" y="35295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693408" y="377647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квитанция + повтор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915400" y="4434840"/>
            <a:ext cx="1993392" cy="694944"/>
          </a:xfrm>
          <a:prstGeom prst="roundRect">
            <a:avLst/>
          </a:prstGeom>
          <a:solidFill>
            <a:srgbClr val="173F38"/>
          </a:solidFill>
          <a:ln w="12700">
            <a:solidFill>
              <a:srgbClr val="173F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15400" y="464515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" y="6016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путь, а не обещание «удалено».</a:t>
            </a:r>
            <a:endParaRPr lang="en-US" sz="1230" dirty="0"/>
          </a:p>
        </p:txBody>
      </p:sp>
      <p:sp>
        <p:nvSpPr>
          <p:cNvPr id="38" name="Text 36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39" name="Text 37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F5D2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ПРОБЛЕМА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запись не живёт в одном месте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Копии, производные и отложенные задачи создают скрытый путь назад.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768096" y="2029968"/>
            <a:ext cx="1371600" cy="228600"/>
          </a:xfrm>
          <a:prstGeom prst="roundRect">
            <a:avLst/>
          </a:prstGeom>
          <a:solidFill>
            <a:srgbClr val="E2F0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9536" y="205740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ПЕРСОНА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59536" y="2542032"/>
            <a:ext cx="246888" cy="246888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61872" y="24505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Исходная запись</a:t>
            </a:r>
            <a:endParaRPr lang="en-US" sz="132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26974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/ аккаунт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978408" y="2798064"/>
            <a:ext cx="0" cy="438912"/>
          </a:xfrm>
          <a:prstGeom prst="line">
            <a:avLst/>
          </a:prstGeom>
          <a:noFill/>
          <a:ln w="19050">
            <a:solidFill>
              <a:srgbClr val="C8D6CE">
                <a:alpha val="9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3054096"/>
            <a:ext cx="246888" cy="246888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61872" y="29626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Биометрический шаблон</a:t>
            </a:r>
            <a:endParaRPr lang="en-US" sz="132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20954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биометрический вектор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978408" y="3310128"/>
            <a:ext cx="0" cy="438912"/>
          </a:xfrm>
          <a:prstGeom prst="line">
            <a:avLst/>
          </a:prstGeom>
          <a:noFill/>
          <a:ln w="19050">
            <a:solidFill>
              <a:srgbClr val="C8D6CE">
                <a:alpha val="9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" y="3566160"/>
            <a:ext cx="246888" cy="246888"/>
          </a:xfrm>
          <a:prstGeom prst="ellipse">
            <a:avLst/>
          </a:prstGeom>
          <a:solidFill>
            <a:srgbClr val="D49B4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61872" y="34747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и реплика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372160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путь чтения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978408" y="3822192"/>
            <a:ext cx="0" cy="438912"/>
          </a:xfrm>
          <a:prstGeom prst="line">
            <a:avLst/>
          </a:prstGeom>
          <a:noFill/>
          <a:ln w="19050">
            <a:solidFill>
              <a:srgbClr val="C8D6CE">
                <a:alpha val="9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4078224"/>
            <a:ext cx="246888" cy="246888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261872" y="398678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 / восстановление</a:t>
            </a:r>
            <a:endParaRPr lang="en-US" sz="1320" dirty="0"/>
          </a:p>
        </p:txBody>
      </p:sp>
      <p:sp>
        <p:nvSpPr>
          <p:cNvPr id="28" name="Text 26"/>
          <p:cNvSpPr txBox="1"/>
          <p:nvPr/>
        </p:nvSpPr>
        <p:spPr>
          <a:xfrm>
            <a:off x="1261872" y="42336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отложенная копия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78408" y="4334256"/>
            <a:ext cx="0" cy="438912"/>
          </a:xfrm>
          <a:prstGeom prst="line">
            <a:avLst/>
          </a:prstGeom>
          <a:noFill/>
          <a:ln w="19050">
            <a:solidFill>
              <a:srgbClr val="C8D6CE">
                <a:alpha val="9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" y="4590288"/>
            <a:ext cx="246888" cy="246888"/>
          </a:xfrm>
          <a:prstGeom prst="ellipse">
            <a:avLst/>
          </a:prstGeom>
          <a:solidFill>
            <a:srgbClr val="7077D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261872" y="44988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на модель</a:t>
            </a:r>
            <a:endParaRPr lang="en-US" sz="1320" dirty="0"/>
          </a:p>
        </p:txBody>
      </p:sp>
      <p:sp>
        <p:nvSpPr>
          <p:cNvPr id="32" name="Text 30"/>
          <p:cNvSpPr txBox="1"/>
          <p:nvPr/>
        </p:nvSpPr>
        <p:spPr>
          <a:xfrm>
            <a:off x="1261872" y="47457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 в модели</a:t>
            </a:r>
            <a:endParaRPr lang="en-US" sz="930" dirty="0"/>
          </a:p>
        </p:txBody>
      </p:sp>
      <p:sp>
        <p:nvSpPr>
          <p:cNvPr id="33" name="Text 31"/>
          <p:cNvSpPr txBox="1"/>
          <p:nvPr/>
        </p:nvSpPr>
        <p:spPr>
          <a:xfrm>
            <a:off x="768096" y="534009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человек → несколько представлений данных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" y="57515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одной строки не закрывает весь граф.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389120" y="2029968"/>
            <a:ext cx="6995160" cy="379476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54880" y="2313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Скрытый путь назад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267004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производное осталось, запись можно восстановить снова.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0" y="3858768"/>
            <a:ext cx="1536192" cy="-640080"/>
          </a:xfrm>
          <a:prstGeom prst="line">
            <a:avLst/>
          </a:prstGeom>
          <a:noFill/>
          <a:ln w="27940">
            <a:solidFill>
              <a:srgbClr val="C8D6CE">
                <a:alpha val="9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3218688"/>
            <a:ext cx="1481328" cy="658368"/>
          </a:xfrm>
          <a:prstGeom prst="line">
            <a:avLst/>
          </a:prstGeom>
          <a:noFill/>
          <a:ln w="27940">
            <a:solidFill>
              <a:srgbClr val="C8D6CE">
                <a:alpha val="9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0" y="3858768"/>
            <a:ext cx="1261872" cy="932688"/>
          </a:xfrm>
          <a:prstGeom prst="line">
            <a:avLst/>
          </a:prstGeom>
          <a:noFill/>
          <a:ln w="27940">
            <a:solidFill>
              <a:srgbClr val="C8D6CE">
                <a:alpha val="9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31152" y="4718304"/>
            <a:ext cx="1755648" cy="-877824"/>
          </a:xfrm>
          <a:prstGeom prst="line">
            <a:avLst/>
          </a:prstGeom>
          <a:noFill/>
          <a:ln w="27940">
            <a:solidFill>
              <a:srgbClr val="C8D6CE">
                <a:alpha val="9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66360" y="3529584"/>
            <a:ext cx="155448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12664" y="3675888"/>
            <a:ext cx="146304" cy="146304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550408" y="362102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550408" y="3867912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 аккаунта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76288" y="2926080"/>
            <a:ext cx="173736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22592" y="3072384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260336" y="30175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7260336" y="326440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лицо / признаки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641080" y="3529584"/>
            <a:ext cx="150876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D49B4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87384" y="3675888"/>
            <a:ext cx="146304" cy="146304"/>
          </a:xfrm>
          <a:prstGeom prst="ellipse">
            <a:avLst/>
          </a:prstGeom>
          <a:solidFill>
            <a:srgbClr val="D49B43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025128" y="36210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025128" y="386791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реплика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29400" y="4498848"/>
            <a:ext cx="1755648" cy="658368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75704" y="4645152"/>
            <a:ext cx="146304" cy="146304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013448" y="459028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7013448" y="4837176"/>
            <a:ext cx="1252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восстановление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28032" y="5248656"/>
            <a:ext cx="6099048" cy="347472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029200" y="5340096"/>
            <a:ext cx="5715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«DELETE 200 OK»  ≠  данные исчезли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CBE4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МЕТОД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алгоритм. Пять вопросов.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Модули помогают аудиту, но публичный объект — один понятный вердикт EraSeMap.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2295144" y="3703320"/>
            <a:ext cx="694944" cy="0"/>
          </a:xfrm>
          <a:prstGeom prst="line">
            <a:avLst/>
          </a:prstGeom>
          <a:noFill/>
          <a:ln w="3048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" y="3090672"/>
            <a:ext cx="256032" cy="256032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30" dirty="0"/>
          </a:p>
        </p:txBody>
      </p:sp>
      <p:sp>
        <p:nvSpPr>
          <p:cNvPr id="16" name="Text 14"/>
          <p:cNvSpPr txBox="1"/>
          <p:nvPr/>
        </p:nvSpPr>
        <p:spPr>
          <a:xfrm>
            <a:off x="1271016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существует?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941832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копий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4517136" y="3703320"/>
            <a:ext cx="694944" cy="0"/>
          </a:xfrm>
          <a:prstGeom prst="line">
            <a:avLst/>
          </a:prstGeom>
          <a:noFill/>
          <a:ln w="3048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08376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3824" y="3090672"/>
            <a:ext cx="256032" cy="256032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182112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30" dirty="0"/>
          </a:p>
        </p:txBody>
      </p:sp>
      <p:sp>
        <p:nvSpPr>
          <p:cNvPr id="22" name="Text 20"/>
          <p:cNvSpPr txBox="1"/>
          <p:nvPr/>
        </p:nvSpPr>
        <p:spPr>
          <a:xfrm>
            <a:off x="3493008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путь назад?</a:t>
            </a:r>
            <a:endParaRPr lang="en-US" sz="1210" dirty="0"/>
          </a:p>
        </p:txBody>
      </p:sp>
      <p:sp>
        <p:nvSpPr>
          <p:cNvPr id="23" name="Text 21"/>
          <p:cNvSpPr txBox="1"/>
          <p:nvPr/>
        </p:nvSpPr>
        <p:spPr>
          <a:xfrm>
            <a:off x="3163824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активные пробы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739128" y="3703320"/>
            <a:ext cx="694944" cy="0"/>
          </a:xfrm>
          <a:prstGeom prst="line">
            <a:avLst/>
          </a:prstGeom>
          <a:noFill/>
          <a:ln w="3048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30368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49B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85816" y="3090672"/>
            <a:ext cx="256032" cy="256032"/>
          </a:xfrm>
          <a:prstGeom prst="ellipse">
            <a:avLst/>
          </a:prstGeom>
          <a:solidFill>
            <a:srgbClr val="D49B4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04104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30" dirty="0"/>
          </a:p>
        </p:txBody>
      </p:sp>
      <p:sp>
        <p:nvSpPr>
          <p:cNvPr id="28" name="Text 26"/>
          <p:cNvSpPr txBox="1"/>
          <p:nvPr/>
        </p:nvSpPr>
        <p:spPr>
          <a:xfrm>
            <a:off x="5715000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удалить?</a:t>
            </a:r>
            <a:endParaRPr lang="en-US" sz="1210" dirty="0"/>
          </a:p>
        </p:txBody>
      </p:sp>
      <p:sp>
        <p:nvSpPr>
          <p:cNvPr id="29" name="Text 27"/>
          <p:cNvSpPr txBox="1"/>
          <p:nvPr/>
        </p:nvSpPr>
        <p:spPr>
          <a:xfrm>
            <a:off x="5385816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план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961120" y="3703320"/>
            <a:ext cx="694944" cy="0"/>
          </a:xfrm>
          <a:prstGeom prst="line">
            <a:avLst/>
          </a:prstGeom>
          <a:noFill/>
          <a:ln w="3048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52360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07808" y="3090672"/>
            <a:ext cx="256032" cy="256032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26096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30" dirty="0"/>
          </a:p>
        </p:txBody>
      </p:sp>
      <p:sp>
        <p:nvSpPr>
          <p:cNvPr id="34" name="Text 32"/>
          <p:cNvSpPr txBox="1"/>
          <p:nvPr/>
        </p:nvSpPr>
        <p:spPr>
          <a:xfrm>
            <a:off x="7936992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будет завтра?</a:t>
            </a:r>
            <a:endParaRPr lang="en-US" sz="1210" dirty="0"/>
          </a:p>
        </p:txBody>
      </p:sp>
      <p:sp>
        <p:nvSpPr>
          <p:cNvPr id="35" name="Text 33"/>
          <p:cNvSpPr txBox="1"/>
          <p:nvPr/>
        </p:nvSpPr>
        <p:spPr>
          <a:xfrm>
            <a:off x="7607808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во времени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9674352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7077D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29800" y="3090672"/>
            <a:ext cx="256032" cy="256032"/>
          </a:xfrm>
          <a:prstGeom prst="ellipse">
            <a:avLst/>
          </a:prstGeom>
          <a:solidFill>
            <a:srgbClr val="7077D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848088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30" dirty="0"/>
          </a:p>
        </p:txBody>
      </p:sp>
      <p:sp>
        <p:nvSpPr>
          <p:cNvPr id="39" name="Text 37"/>
          <p:cNvSpPr txBox="1"/>
          <p:nvPr/>
        </p:nvSpPr>
        <p:spPr>
          <a:xfrm>
            <a:off x="10158984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доказано?</a:t>
            </a:r>
            <a:endParaRPr lang="en-US" sz="1210" dirty="0"/>
          </a:p>
        </p:txBody>
      </p:sp>
      <p:sp>
        <p:nvSpPr>
          <p:cNvPr id="40" name="Text 38"/>
          <p:cNvSpPr txBox="1"/>
          <p:nvPr/>
        </p:nvSpPr>
        <p:spPr>
          <a:xfrm>
            <a:off x="9829800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1243584" y="4892040"/>
            <a:ext cx="9710928" cy="530352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481328" y="5056632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 →  поиск  →  минимум действий  →  проверка во времени  →  сертификат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97280" y="5779008"/>
            <a:ext cx="1001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одна процедура с пятью проверяемыми выходами — не набор несвязанных алгоритмов.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F5D2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ВЕРДИКТ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система умеет сказать: INCOMPLETE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путь ещё активен, EraSeMap не выдаёт ложную уверенность.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786384" y="2057400"/>
            <a:ext cx="3794760" cy="3474720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0704" y="2468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27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 путь восстановления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554480" y="4041648"/>
            <a:ext cx="914400" cy="0"/>
          </a:xfrm>
          <a:prstGeom prst="line">
            <a:avLst/>
          </a:prstGeom>
          <a:noFill/>
          <a:ln w="38100">
            <a:solidFill>
              <a:srgbClr val="E8795E">
                <a:alpha val="9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4041648"/>
            <a:ext cx="804672" cy="0"/>
          </a:xfrm>
          <a:prstGeom prst="line">
            <a:avLst/>
          </a:prstGeom>
          <a:noFill/>
          <a:ln w="38100">
            <a:solidFill>
              <a:srgbClr val="E8795E">
                <a:alpha val="9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98448" y="3913632"/>
            <a:ext cx="256032" cy="256032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8" name="Shape 16"/>
          <p:cNvSpPr/>
          <p:nvPr/>
        </p:nvSpPr>
        <p:spPr>
          <a:xfrm>
            <a:off x="3273552" y="3913632"/>
            <a:ext cx="256032" cy="256032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60704" y="4343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072384" y="43434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" y="484632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удаления ещё не закрыл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производный шаблон.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074920" y="2057400"/>
            <a:ext cx="6327648" cy="347472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0680" y="2468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только если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5559552" y="3054096"/>
            <a:ext cx="5349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∧  D  ∧  T</a:t>
            </a:r>
            <a:endParaRPr lang="en-US" sz="3700" dirty="0"/>
          </a:p>
        </p:txBody>
      </p:sp>
      <p:sp>
        <p:nvSpPr>
          <p:cNvPr id="25" name="Shape 23"/>
          <p:cNvSpPr/>
          <p:nvPr/>
        </p:nvSpPr>
        <p:spPr>
          <a:xfrm>
            <a:off x="5961888" y="3977640"/>
            <a:ext cx="310896" cy="310896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61888" y="4069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68112" y="4407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физическое</a:t>
            </a:r>
            <a:endParaRPr lang="en-US" sz="1030" dirty="0"/>
          </a:p>
        </p:txBody>
      </p:sp>
      <p:sp>
        <p:nvSpPr>
          <p:cNvPr id="28" name="Text 26"/>
          <p:cNvSpPr txBox="1"/>
          <p:nvPr/>
        </p:nvSpPr>
        <p:spPr>
          <a:xfrm>
            <a:off x="5468112" y="46908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пути закрыты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900416" y="3977640"/>
            <a:ext cx="310896" cy="310896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00416" y="4069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4407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производное</a:t>
            </a:r>
            <a:endParaRPr lang="en-US" sz="103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46908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шаблоны + индексы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838944" y="3977640"/>
            <a:ext cx="310896" cy="3108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838944" y="4069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345168" y="4407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временное</a:t>
            </a:r>
            <a:endParaRPr lang="en-US" sz="1030" dirty="0"/>
          </a:p>
        </p:txBody>
      </p:sp>
      <p:sp>
        <p:nvSpPr>
          <p:cNvPr id="36" name="Text 34"/>
          <p:cNvSpPr txBox="1"/>
          <p:nvPr/>
        </p:nvSpPr>
        <p:spPr>
          <a:xfrm>
            <a:off x="9345168" y="46908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 не вернёт данные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CBE4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ПРИМЕР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запрос: как EraSeMap проверяет удаление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просит удалить биометрический шаблон. Система проходит пять шагов, прежде чем сказать «готово».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2249424" y="3447288"/>
            <a:ext cx="804672" cy="0"/>
          </a:xfrm>
          <a:prstGeom prst="line">
            <a:avLst/>
          </a:prstGeom>
          <a:noFill/>
          <a:ln w="29210">
            <a:solidFill>
              <a:srgbClr val="C8D6CE">
                <a:alpha val="91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3584" y="2834640"/>
            <a:ext cx="749808" cy="749808"/>
          </a:xfrm>
          <a:prstGeom prst="ellipse">
            <a:avLst/>
          </a:prstGeom>
          <a:solidFill>
            <a:srgbClr val="2E9BD5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просит удалить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71416" y="3447288"/>
            <a:ext cx="804672" cy="0"/>
          </a:xfrm>
          <a:prstGeom prst="line">
            <a:avLst/>
          </a:prstGeom>
          <a:noFill/>
          <a:ln w="29210">
            <a:solidFill>
              <a:srgbClr val="C8D6CE">
                <a:alpha val="91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65576" y="2834640"/>
            <a:ext cx="749808" cy="749808"/>
          </a:xfrm>
          <a:prstGeom prst="ellipse">
            <a:avLst/>
          </a:prstGeom>
          <a:solidFill>
            <a:srgbClr val="079E94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63240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лежат копии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93408" y="3447288"/>
            <a:ext cx="804672" cy="0"/>
          </a:xfrm>
          <a:prstGeom prst="line">
            <a:avLst/>
          </a:prstGeom>
          <a:noFill/>
          <a:ln w="29210">
            <a:solidFill>
              <a:srgbClr val="C8D6CE">
                <a:alpha val="91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7568" y="2834640"/>
            <a:ext cx="749808" cy="749808"/>
          </a:xfrm>
          <a:prstGeom prst="ellipse">
            <a:avLst/>
          </a:prstGeom>
          <a:solidFill>
            <a:srgbClr val="D49B43"/>
          </a:solidFill>
          <a:ln w="12700">
            <a:solidFill>
              <a:srgbClr val="D49B4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85232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Закрытие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85232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закрываем нужные артефакты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15400" y="3447288"/>
            <a:ext cx="804672" cy="0"/>
          </a:xfrm>
          <a:prstGeom prst="line">
            <a:avLst/>
          </a:prstGeom>
          <a:noFill/>
          <a:ln w="29210">
            <a:solidFill>
              <a:srgbClr val="C8D6CE">
                <a:alpha val="91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9560" y="2834640"/>
            <a:ext cx="749808" cy="749808"/>
          </a:xfrm>
          <a:prstGeom prst="ellipse">
            <a:avLst/>
          </a:prstGeom>
          <a:solidFill>
            <a:srgbClr val="E8795E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07224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07224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проба + время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31552" y="2834640"/>
            <a:ext cx="749808" cy="749808"/>
          </a:xfrm>
          <a:prstGeom prst="ellipse">
            <a:avLst/>
          </a:prstGeom>
          <a:solidFill>
            <a:srgbClr val="7077D7"/>
          </a:solidFill>
          <a:ln w="12700">
            <a:solidFill>
              <a:srgbClr val="7077D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29216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729216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/ INCOMPLETE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88720" y="4882896"/>
            <a:ext cx="4370832" cy="59436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417320" y="50749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⇔ все известные пути закрыты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62472" y="4882896"/>
            <a:ext cx="4892040" cy="594360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09360" y="50749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= риск найден</a:t>
            </a:r>
            <a:endParaRPr lang="en-US" sz="1270" dirty="0"/>
          </a:p>
        </p:txBody>
      </p:sp>
      <p:sp>
        <p:nvSpPr>
          <p:cNvPr id="35" name="Text 33"/>
          <p:cNvSpPr txBox="1"/>
          <p:nvPr/>
        </p:nvSpPr>
        <p:spPr>
          <a:xfrm>
            <a:off x="1005840" y="5888736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путь неизвестен или риск найден — EraSeMap не говорит «готово».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F5D2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ДОКАЗАТЕЛЬСТВА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1 / ложное «ГОТОВО»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Безопасность: false-COMPLETE — система сказала «готово», хотя данные ещё можно восстановить. Ниже — лучше.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768096" y="1993392"/>
            <a:ext cx="8394192" cy="36758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121408"/>
            <a:ext cx="2423160" cy="246888"/>
          </a:xfrm>
          <a:prstGeom prst="roundRect">
            <a:avLst/>
          </a:prstGeom>
          <a:solidFill>
            <a:srgbClr val="173F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215798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 ·  НИЖЕ ЛУЧШЕ</a:t>
            </a:r>
            <a:endParaRPr lang="en-US" sz="820" dirty="0"/>
          </a:p>
        </p:txBody>
      </p:sp>
      <p:pic>
        <p:nvPicPr>
          <p:cNvPr id="16" name="Image 0" descr="Крупное сравнение false COMPLE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88468"/>
            <a:ext cx="8065008" cy="28960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491472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60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9491472" y="25603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перенос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9491472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75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9491472" y="35935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исходный протокол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491472" y="42793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9491472" y="46268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повторная проверка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9491472" y="5166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Ограниченный протокол;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заявление о внедрении.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CBE4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ДОКАЗАТЕЛЬСТВА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2 / эффективность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задача удаления: стоимость действий, время, байты и успешное завершение. Ниже — лучше.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768096" y="1993392"/>
            <a:ext cx="8650224" cy="365760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21408"/>
            <a:ext cx="2423160" cy="246888"/>
          </a:xfrm>
          <a:prstGeom prst="roundRect">
            <a:avLst/>
          </a:prstGeom>
          <a:solidFill>
            <a:srgbClr val="173F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15798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 ·  ВРЕМЯ  ·  БАЙТЫ  ·  НИЖЕ ЛУЧШЕ</a:t>
            </a:r>
            <a:endParaRPr lang="en-US" sz="820" dirty="0"/>
          </a:p>
        </p:txBody>
      </p:sp>
      <p:pic>
        <p:nvPicPr>
          <p:cNvPr id="15" name="Image 0" descr="Крупное сравнение стоимости, времени и байт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618463"/>
            <a:ext cx="8321040" cy="247146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674352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17.64×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674352" y="25603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полной пересборки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9674352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−94.62%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674352" y="35935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перезаписанные байты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9674352" y="42793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9674352" y="46268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стоимость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592056" y="5175504"/>
            <a:ext cx="2057400" cy="457200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710928" y="5285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safety,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потом оптимизация.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F5D2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ДОКАЗАТЕЛЬСТВА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3 / поиск скрытого пути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Активная проба сокращает пространство гипотез после каждого ответа системы восстановления.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768096" y="1993392"/>
            <a:ext cx="7571232" cy="36758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21408"/>
            <a:ext cx="2423160" cy="246888"/>
          </a:xfrm>
          <a:prstGeom prst="roundRect">
            <a:avLst/>
          </a:prstGeom>
          <a:solidFill>
            <a:srgbClr val="173F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15798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ПУТИ  ·  НИЖЕ ЛУЧШЕ</a:t>
            </a:r>
            <a:endParaRPr lang="en-US" sz="820" dirty="0"/>
          </a:p>
        </p:txBody>
      </p:sp>
      <p:pic>
        <p:nvPicPr>
          <p:cNvPr id="15" name="Image 0" descr="Крупное сравнение активных про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680657"/>
            <a:ext cx="7223760" cy="259396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577072" y="1993392"/>
            <a:ext cx="2834640" cy="36758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851392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887968" y="29626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555480" y="30358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887968" y="35295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9555480" y="36027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случайный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887968" y="40965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9555480" y="41696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перебор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851392" y="5266944"/>
            <a:ext cx="2286000" cy="365760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61120" y="5358384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50 новых семейств вне разработки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CBE4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ДОКАЗАТЕЛЬСТВА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4 / итог по критериям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независимых критерия — не единый сводный балл.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768096" y="1993392"/>
            <a:ext cx="7735824" cy="36758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EraSeMap лучше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97280" y="2670048"/>
            <a:ext cx="7086600" cy="65836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1872" y="2852928"/>
            <a:ext cx="256032" cy="256032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664208" y="27797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en-US" sz="1120" dirty="0"/>
          </a:p>
        </p:txBody>
      </p:sp>
      <p:sp>
        <p:nvSpPr>
          <p:cNvPr id="17" name="Text 15"/>
          <p:cNvSpPr txBox="1"/>
          <p:nvPr/>
        </p:nvSpPr>
        <p:spPr>
          <a:xfrm>
            <a:off x="1664208" y="301752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ложное «ГОТОВО» ↓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277977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</a:t>
            </a:r>
            <a:endParaRPr lang="en-US" sz="87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27432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100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97880" y="2999232"/>
            <a:ext cx="320040" cy="0"/>
          </a:xfrm>
          <a:prstGeom prst="line">
            <a:avLst/>
          </a:prstGeom>
          <a:noFill/>
          <a:ln w="17780">
            <a:solidFill>
              <a:srgbClr val="C8D6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36208" y="27797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чек-лист</a:t>
            </a:r>
            <a:endParaRPr lang="en-US" sz="87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2743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/ 100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97280" y="3383280"/>
            <a:ext cx="7086600" cy="65836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61872" y="356616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664208" y="3493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Будущая регенерация</a:t>
            </a:r>
            <a:endParaRPr lang="en-US" sz="1120" dirty="0"/>
          </a:p>
        </p:txBody>
      </p:sp>
      <p:sp>
        <p:nvSpPr>
          <p:cNvPr id="26" name="Text 24"/>
          <p:cNvSpPr txBox="1"/>
          <p:nvPr/>
        </p:nvSpPr>
        <p:spPr>
          <a:xfrm>
            <a:off x="1664208" y="373075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найденные риски ↑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349300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</a:t>
            </a:r>
            <a:endParaRPr lang="en-US" sz="870" dirty="0"/>
          </a:p>
        </p:txBody>
      </p:sp>
      <p:sp>
        <p:nvSpPr>
          <p:cNvPr id="28" name="Text 26"/>
          <p:cNvSpPr txBox="1"/>
          <p:nvPr/>
        </p:nvSpPr>
        <p:spPr>
          <a:xfrm>
            <a:off x="4901184" y="34564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897880" y="3712464"/>
            <a:ext cx="320040" cy="0"/>
          </a:xfrm>
          <a:prstGeom prst="line">
            <a:avLst/>
          </a:prstGeom>
          <a:noFill/>
          <a:ln w="17780">
            <a:solidFill>
              <a:srgbClr val="C8D6C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36208" y="3493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снимок</a:t>
            </a:r>
            <a:endParaRPr lang="en-US" sz="870" dirty="0"/>
          </a:p>
        </p:txBody>
      </p:sp>
      <p:sp>
        <p:nvSpPr>
          <p:cNvPr id="31" name="Text 29"/>
          <p:cNvSpPr txBox="1"/>
          <p:nvPr/>
        </p:nvSpPr>
        <p:spPr>
          <a:xfrm>
            <a:off x="7205472" y="345643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30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97280" y="4096512"/>
            <a:ext cx="7086600" cy="65836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61872" y="4279392"/>
            <a:ext cx="256032" cy="256032"/>
          </a:xfrm>
          <a:prstGeom prst="ellipse">
            <a:avLst/>
          </a:prstGeom>
          <a:solidFill>
            <a:srgbClr val="D49B4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664208" y="42062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действий</a:t>
            </a:r>
            <a:endParaRPr lang="en-US" sz="1120" dirty="0"/>
          </a:p>
        </p:txBody>
      </p:sp>
      <p:sp>
        <p:nvSpPr>
          <p:cNvPr id="35" name="Text 33"/>
          <p:cNvSpPr txBox="1"/>
          <p:nvPr/>
        </p:nvSpPr>
        <p:spPr>
          <a:xfrm>
            <a:off x="1664208" y="444398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стоимость ↓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3794760" y="420624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</a:t>
            </a:r>
            <a:endParaRPr lang="en-US" sz="870" dirty="0"/>
          </a:p>
        </p:txBody>
      </p:sp>
      <p:sp>
        <p:nvSpPr>
          <p:cNvPr id="37" name="Text 35"/>
          <p:cNvSpPr txBox="1"/>
          <p:nvPr/>
        </p:nvSpPr>
        <p:spPr>
          <a:xfrm>
            <a:off x="4901184" y="416966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897880" y="4425696"/>
            <a:ext cx="320040" cy="0"/>
          </a:xfrm>
          <a:prstGeom prst="line">
            <a:avLst/>
          </a:prstGeom>
          <a:noFill/>
          <a:ln w="17780">
            <a:solidFill>
              <a:srgbClr val="C8D6C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36208" y="4206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удалить всё</a:t>
            </a:r>
            <a:endParaRPr lang="en-US" sz="870" dirty="0"/>
          </a:p>
        </p:txBody>
      </p:sp>
      <p:sp>
        <p:nvSpPr>
          <p:cNvPr id="40" name="Text 38"/>
          <p:cNvSpPr txBox="1"/>
          <p:nvPr/>
        </p:nvSpPr>
        <p:spPr>
          <a:xfrm>
            <a:off x="7205472" y="416966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48.67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097280" y="4809744"/>
            <a:ext cx="7086600" cy="65836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61872" y="4992624"/>
            <a:ext cx="256032" cy="256032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664208" y="49194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задачи</a:t>
            </a:r>
            <a:endParaRPr lang="en-US" sz="1120" dirty="0"/>
          </a:p>
        </p:txBody>
      </p:sp>
      <p:sp>
        <p:nvSpPr>
          <p:cNvPr id="44" name="Text 42"/>
          <p:cNvSpPr txBox="1"/>
          <p:nvPr/>
        </p:nvSpPr>
        <p:spPr>
          <a:xfrm>
            <a:off x="1664208" y="51572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норм. время ↓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3794760" y="49194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</a:t>
            </a:r>
            <a:endParaRPr lang="en-US" sz="870" dirty="0"/>
          </a:p>
        </p:txBody>
      </p:sp>
      <p:sp>
        <p:nvSpPr>
          <p:cNvPr id="46" name="Text 44"/>
          <p:cNvSpPr txBox="1"/>
          <p:nvPr/>
        </p:nvSpPr>
        <p:spPr>
          <a:xfrm>
            <a:off x="4901184" y="48828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5.67%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897880" y="5138928"/>
            <a:ext cx="320040" cy="0"/>
          </a:xfrm>
          <a:prstGeom prst="line">
            <a:avLst/>
          </a:prstGeom>
          <a:noFill/>
          <a:ln w="17780">
            <a:solidFill>
              <a:srgbClr val="C8D6C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36208" y="49194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пересобрать всё</a:t>
            </a:r>
            <a:endParaRPr lang="en-US" sz="870" dirty="0"/>
          </a:p>
        </p:txBody>
      </p:sp>
      <p:sp>
        <p:nvSpPr>
          <p:cNvPr id="49" name="Text 47"/>
          <p:cNvSpPr txBox="1"/>
          <p:nvPr/>
        </p:nvSpPr>
        <p:spPr>
          <a:xfrm>
            <a:off x="7205472" y="488289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741664" y="1993392"/>
            <a:ext cx="2670048" cy="36758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961120" y="23317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не заявляем</a:t>
            </a:r>
            <a:endParaRPr lang="en-US" sz="1900" dirty="0"/>
          </a:p>
        </p:txBody>
      </p:sp>
      <p:sp>
        <p:nvSpPr>
          <p:cNvPr id="52" name="Text 50"/>
          <p:cNvSpPr txBox="1"/>
          <p:nvPr/>
        </p:nvSpPr>
        <p:spPr>
          <a:xfrm>
            <a:off x="8979408" y="2999232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 MUFAC не прошёл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полезности для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оставшихся пользователей.</a:t>
            </a:r>
            <a:endParaRPr lang="en-US" sz="1030" dirty="0"/>
          </a:p>
        </p:txBody>
      </p:sp>
      <p:sp>
        <p:nvSpPr>
          <p:cNvPr id="53" name="Shape 51"/>
          <p:cNvSpPr/>
          <p:nvPr/>
        </p:nvSpPr>
        <p:spPr>
          <a:xfrm>
            <a:off x="8979408" y="3703320"/>
            <a:ext cx="2176272" cy="384048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125712" y="3822192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· полезность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8869680" y="4389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Точная пересборка сохраняет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безопасность, но не ускоряет работу.</a:t>
            </a:r>
            <a:endParaRPr lang="en-US" sz="1020" dirty="0"/>
          </a:p>
        </p:txBody>
      </p:sp>
      <p:sp>
        <p:nvSpPr>
          <p:cNvPr id="56" name="Text 54"/>
          <p:cNvSpPr txBox="1"/>
          <p:nvPr/>
        </p:nvSpPr>
        <p:spPr>
          <a:xfrm>
            <a:off x="8942832" y="515721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взяты из отдельных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экспериментов с одним протоколом.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F5D2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ТЕОРИЯ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вердикта и три проверяемых условия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Короткая запись облегчает объяснение; мы проверяем совместную корректность условий.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1005840" y="1984248"/>
            <a:ext cx="10195560" cy="96012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2267712"/>
            <a:ext cx="9738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 ⇔  P  ∧  D  ∧  T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1005840" y="3429000"/>
            <a:ext cx="3054096" cy="1234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5296" y="3749040"/>
            <a:ext cx="402336" cy="402336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25296" y="3858768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755648" y="3657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физическое</a:t>
            </a:r>
            <a:endParaRPr lang="en-US" sz="1220" dirty="0"/>
          </a:p>
        </p:txBody>
      </p:sp>
      <p:sp>
        <p:nvSpPr>
          <p:cNvPr id="19" name="Text 17"/>
          <p:cNvSpPr txBox="1"/>
          <p:nvPr/>
        </p:nvSpPr>
        <p:spPr>
          <a:xfrm>
            <a:off x="1755648" y="395935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пути закрыты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462272" y="3429000"/>
            <a:ext cx="3054096" cy="1234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3749040"/>
            <a:ext cx="402336" cy="402336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81728" y="3858768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3657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производное</a:t>
            </a:r>
            <a:endParaRPr lang="en-US" sz="122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395935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шаблоны + индексы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918704" y="3429000"/>
            <a:ext cx="3054096" cy="1234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3749040"/>
            <a:ext cx="402336" cy="40233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38160" y="3858768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668512" y="3657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временное</a:t>
            </a:r>
            <a:endParaRPr lang="en-US" sz="1220" dirty="0"/>
          </a:p>
        </p:txBody>
      </p:sp>
      <p:sp>
        <p:nvSpPr>
          <p:cNvPr id="29" name="Text 27"/>
          <p:cNvSpPr txBox="1"/>
          <p:nvPr/>
        </p:nvSpPr>
        <p:spPr>
          <a:xfrm>
            <a:off x="8668512" y="395935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 не вернёт данные</a:t>
            </a:r>
            <a:endParaRPr lang="en-US" sz="94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518464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3 072 / 3 072 формальных проверок прошли в proof harness проекта.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5650992"/>
            <a:ext cx="10012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проверка соответствия протоколу, а не доказательство внедрения в production.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CBE4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ОГРАНИЧЕНИЕ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на модель — отдельный канал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unlearning проверяется отдельно и не заменяет физическое удаление.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768096" y="1993392"/>
            <a:ext cx="5074920" cy="3520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233172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проверяем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43000" y="2999232"/>
            <a:ext cx="274320" cy="274320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308152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1627632" y="30175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/ полезность для оставшихся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143000" y="3657600"/>
            <a:ext cx="274320" cy="274320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373989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1627632" y="36758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 точным переобучением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1143000" y="4315968"/>
            <a:ext cx="274320" cy="274320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3000" y="439826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43342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атака на приватность + порог качества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272784" y="1993392"/>
            <a:ext cx="5138928" cy="3520440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233172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результат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2999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 MUFAC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29400" y="3364992"/>
            <a:ext cx="2395728" cy="283464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48272" y="3447288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· порог полезности</a:t>
            </a:r>
            <a:endParaRPr lang="en-US" sz="81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142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Точное переобучение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29400" y="4507992"/>
            <a:ext cx="2304288" cy="283464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48272" y="4590288"/>
            <a:ext cx="2066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 безопасно / без ускорения</a:t>
            </a:r>
            <a:endParaRPr lang="en-US" sz="81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589788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Честная граница: приближённое переобучение не считается успешным без проверки полезности.</a:t>
            </a:r>
            <a:endParaRPr lang="en-US" sz="11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F5D2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ПОЗИЦИОНИРОВАНИЕ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Новизна — в составе доказательств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четыре разрозненных алгоритма, а одна процедура, закрывающая три риска.</a:t>
            </a:r>
            <a:endParaRPr lang="en-US" sz="133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отличительных объекта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96112" y="2679192"/>
            <a:ext cx="347472" cy="347472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44752" y="26974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восстановления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44752" y="297180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ищем, где запись может появиться снова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96112" y="3438144"/>
            <a:ext cx="347472" cy="347472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44752" y="34564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временное закрытие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373075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будущую регенерацию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96112" y="4197096"/>
            <a:ext cx="347472" cy="347472"/>
          </a:xfrm>
          <a:prstGeom prst="ellipse">
            <a:avLst/>
          </a:prstGeom>
          <a:solidFill>
            <a:srgbClr val="7077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444752" y="421538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 удаления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44752" y="448970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показываем границу неизвестности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559552" y="2011680"/>
            <a:ext cx="5843016" cy="358444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89320" y="23408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Лестница доказательств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016752" y="2962656"/>
            <a:ext cx="2011680" cy="237744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301294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01294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внедрения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016752" y="3374136"/>
            <a:ext cx="2011680" cy="237744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342442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42442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скрытая проверка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016752" y="3785616"/>
            <a:ext cx="3639312" cy="237744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383590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383590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семейства вне разработки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016752" y="4197096"/>
            <a:ext cx="3493008" cy="237744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424738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424738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скрытая выборка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016752" y="4608576"/>
            <a:ext cx="3346704" cy="237744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72200" y="465886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465886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воспроизводимая лаборатория</a:t>
            </a:r>
            <a:endParaRPr lang="en-US" sz="880" dirty="0"/>
          </a:p>
        </p:txBody>
      </p:sp>
      <p:sp>
        <p:nvSpPr>
          <p:cNvPr id="39" name="Text 37"/>
          <p:cNvSpPr txBox="1"/>
          <p:nvPr/>
        </p:nvSpPr>
        <p:spPr>
          <a:xfrm>
            <a:off x="5961888" y="5138928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Сейчас: сильная воспроизводимость и ограниченные внешние данные.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честный шаг — независимая скрытая проверка.</a:t>
            </a:r>
            <a:endParaRPr lang="en-US" sz="10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CBE4D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F5D2C8">
              <a:alpha val="6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4023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CONCLUSION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417320"/>
            <a:ext cx="5349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Проверять путь,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 обещание.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246120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превращает удаление из одной команды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проверяемый, устойчивый во времени вердикт.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86384" y="4443984"/>
            <a:ext cx="4526280" cy="530352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" y="4617720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эксперимент: независимая скрытая проверка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80960" y="2011680"/>
            <a:ext cx="1207008" cy="804672"/>
          </a:xfrm>
          <a:prstGeom prst="line">
            <a:avLst/>
          </a:prstGeom>
          <a:noFill/>
          <a:ln w="2921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87968" y="2816352"/>
            <a:ext cx="-566928" cy="1078992"/>
          </a:xfrm>
          <a:prstGeom prst="line">
            <a:avLst/>
          </a:prstGeom>
          <a:noFill/>
          <a:ln w="2921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3895344"/>
            <a:ext cx="1234440" cy="-640080"/>
          </a:xfrm>
          <a:prstGeom prst="line">
            <a:avLst/>
          </a:prstGeom>
          <a:noFill/>
          <a:ln w="2921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67728" y="1737360"/>
            <a:ext cx="1481328" cy="1481328"/>
          </a:xfrm>
          <a:prstGeom prst="ellipse">
            <a:avLst/>
          </a:prstGeom>
          <a:solidFill>
            <a:srgbClr val="CBE4D6">
              <a:alpha val="85000"/>
            </a:srgbClr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67728" y="233172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705088" y="2743200"/>
            <a:ext cx="1170432" cy="1170432"/>
          </a:xfrm>
          <a:prstGeom prst="ellipse">
            <a:avLst/>
          </a:prstGeom>
          <a:solidFill>
            <a:srgbClr val="F5D2C8">
              <a:alpha val="88000"/>
            </a:srgbClr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05088" y="32369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29400" y="4389120"/>
            <a:ext cx="960120" cy="960120"/>
          </a:xfrm>
          <a:prstGeom prst="ellipse">
            <a:avLst/>
          </a:prstGeom>
          <a:solidFill>
            <a:srgbClr val="E2F0E8">
              <a:alpha val="90000"/>
            </a:srgbClr>
          </a:solidFill>
          <a:ln w="12700">
            <a:solidFill>
              <a:srgbClr val="7077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47823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7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EraSeMap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EraSeMap — проверяемый путь удаления данных</dc:title>
  <dc:subject>Evidence-led deletion verification</dc:subject>
  <dc:creator>EraSeMap</dc:creator>
  <cp:lastModifiedBy>EraSeMap</cp:lastModifiedBy>
  <cp:revision>1</cp:revision>
  <dcterms:created xsi:type="dcterms:W3CDTF">2026-08-30T11:30:07Z</dcterms:created>
  <dcterms:modified xsi:type="dcterms:W3CDTF">2026-08-30T11:30:07Z</dcterms:modified>
</cp:coreProperties>
</file>