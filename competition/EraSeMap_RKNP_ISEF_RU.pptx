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702e1409eb4f87" /><Relationship Type="http://schemas.openxmlformats.org/officeDocument/2006/relationships/extended-properties" Target="/docProps/app.xml" Id="R9c00f3cb82434151" /><Relationship Type="http://schemas.openxmlformats.org/officeDocument/2006/relationships/officeDocument" Target="/ppt/presentation.xml" Id="R4d11f4412dff4c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5aafc08eb54ecd"/>
  </p:sldMasterIdLst>
  <p:notesMasterIdLst>
    <p:notesMasterId xmlns:r="http://schemas.openxmlformats.org/officeDocument/2006/relationships" r:id="Rbddc8c9aefc341f4"/>
  </p:notesMasterIdLst>
  <p:sldIdLst>
    <p:sldId xmlns:r="http://schemas.openxmlformats.org/officeDocument/2006/relationships" id="256" r:id="R6db87433dce84f2a"/>
    <p:sldId xmlns:r="http://schemas.openxmlformats.org/officeDocument/2006/relationships" id="257" r:id="Rb20862da28a44838"/>
    <p:sldId xmlns:r="http://schemas.openxmlformats.org/officeDocument/2006/relationships" id="258" r:id="R9f6034a3a18a4d20"/>
    <p:sldId xmlns:r="http://schemas.openxmlformats.org/officeDocument/2006/relationships" id="259" r:id="R26456f2a549c4748"/>
    <p:sldId xmlns:r="http://schemas.openxmlformats.org/officeDocument/2006/relationships" id="260" r:id="R73bf6ac8441946ad"/>
    <p:sldId xmlns:r="http://schemas.openxmlformats.org/officeDocument/2006/relationships" id="261" r:id="R53351380afa744ac"/>
    <p:sldId xmlns:r="http://schemas.openxmlformats.org/officeDocument/2006/relationships" id="262" r:id="R52787efed6e24a93"/>
    <p:sldId xmlns:r="http://schemas.openxmlformats.org/officeDocument/2006/relationships" id="263" r:id="Rbcde396cd01447a3"/>
    <p:sldId xmlns:r="http://schemas.openxmlformats.org/officeDocument/2006/relationships" id="264" r:id="Rc7d19d9c675f44b1"/>
    <p:sldId xmlns:r="http://schemas.openxmlformats.org/officeDocument/2006/relationships" id="265" r:id="Re789a5c2476a43ea"/>
    <p:sldId xmlns:r="http://schemas.openxmlformats.org/officeDocument/2006/relationships" id="266" r:id="R7d38e0bd71c84364"/>
    <p:sldId xmlns:r="http://schemas.openxmlformats.org/officeDocument/2006/relationships" id="267" r:id="R9ab2aa2cc5164490"/>
    <p:sldId xmlns:r="http://schemas.openxmlformats.org/officeDocument/2006/relationships" id="268" r:id="Re6f873d7a6f245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ef750ef6f74d2b" /><Relationship Type="http://schemas.openxmlformats.org/officeDocument/2006/relationships/slideMaster" Target="/ppt/slideMasters/slideMaster1.xml" Id="Rd65aafc08eb54ecd" /><Relationship Type="http://schemas.openxmlformats.org/officeDocument/2006/relationships/notesMaster" Target="/ppt/notesMasters/notesMaster1.xml" Id="Rbddc8c9aefc341f4" /><Relationship Type="http://schemas.openxmlformats.org/officeDocument/2006/relationships/presProps" Target="/ppt/presProps.xml" Id="R7fa08d398e494a67" /><Relationship Type="http://schemas.openxmlformats.org/officeDocument/2006/relationships/tableStyles" Target="/ppt/tableStyles.xml" Id="Rbb82d02fef5e4ba5" /><Relationship Type="http://schemas.openxmlformats.org/officeDocument/2006/relationships/slide" Target="/ppt/slides/slide1.xml" Id="R6db87433dce84f2a" /><Relationship Type="http://schemas.openxmlformats.org/officeDocument/2006/relationships/slide" Target="/ppt/slides/slide2.xml" Id="Rb20862da28a44838" /><Relationship Type="http://schemas.openxmlformats.org/officeDocument/2006/relationships/slide" Target="/ppt/slides/slide3.xml" Id="R9f6034a3a18a4d20" /><Relationship Type="http://schemas.openxmlformats.org/officeDocument/2006/relationships/slide" Target="/ppt/slides/slide4.xml" Id="R26456f2a549c4748" /><Relationship Type="http://schemas.openxmlformats.org/officeDocument/2006/relationships/slide" Target="/ppt/slides/slide5.xml" Id="R73bf6ac8441946ad" /><Relationship Type="http://schemas.openxmlformats.org/officeDocument/2006/relationships/slide" Target="/ppt/slides/slide6.xml" Id="R53351380afa744ac" /><Relationship Type="http://schemas.openxmlformats.org/officeDocument/2006/relationships/slide" Target="/ppt/slides/slide7.xml" Id="R52787efed6e24a93" /><Relationship Type="http://schemas.openxmlformats.org/officeDocument/2006/relationships/slide" Target="/ppt/slides/slide8.xml" Id="Rbcde396cd01447a3" /><Relationship Type="http://schemas.openxmlformats.org/officeDocument/2006/relationships/slide" Target="/ppt/slides/slide9.xml" Id="Rc7d19d9c675f44b1" /><Relationship Type="http://schemas.openxmlformats.org/officeDocument/2006/relationships/slide" Target="/ppt/slides/slide10.xml" Id="Re789a5c2476a43ea" /><Relationship Type="http://schemas.openxmlformats.org/officeDocument/2006/relationships/slide" Target="/ppt/slides/slide11.xml" Id="R7d38e0bd71c84364" /><Relationship Type="http://schemas.openxmlformats.org/officeDocument/2006/relationships/slide" Target="/ppt/slides/slide12.xml" Id="R9ab2aa2cc5164490" /><Relationship Type="http://schemas.openxmlformats.org/officeDocument/2006/relationships/slide" Target="/ppt/slides/slide13.xml" Id="Re6f873d7a6f245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aa88bd6cdd43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2a2af78ce04c16" /><Relationship Type="http://schemas.openxmlformats.org/officeDocument/2006/relationships/notesMaster" Target="/ppt/notesMasters/notesMaster1.xml" Id="Rc96aecb264f34b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103a03e08c406d" /><Relationship Type="http://schemas.openxmlformats.org/officeDocument/2006/relationships/notesMaster" Target="/ppt/notesMasters/notesMaster1.xml" Id="R0fc2102d221044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c428fc0b064c7a" /><Relationship Type="http://schemas.openxmlformats.org/officeDocument/2006/relationships/notesMaster" Target="/ppt/notesMasters/notesMaster1.xml" Id="R1a3fd5473e034f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3f8b8135af4a2b" /><Relationship Type="http://schemas.openxmlformats.org/officeDocument/2006/relationships/notesMaster" Target="/ppt/notesMasters/notesMaster1.xml" Id="R9a4aaec13f5d41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7e0de585ee4fbb" /><Relationship Type="http://schemas.openxmlformats.org/officeDocument/2006/relationships/notesMaster" Target="/ppt/notesMasters/notesMaster1.xml" Id="Reea7600a352045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9e61ca24fc45d1" /><Relationship Type="http://schemas.openxmlformats.org/officeDocument/2006/relationships/notesMaster" Target="/ppt/notesMasters/notesMaster1.xml" Id="R8f13d782153446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2dd66241f64b5a" /><Relationship Type="http://schemas.openxmlformats.org/officeDocument/2006/relationships/notesMaster" Target="/ppt/notesMasters/notesMaster1.xml" Id="Ra471b79c24f042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657399af6c40fc" /><Relationship Type="http://schemas.openxmlformats.org/officeDocument/2006/relationships/notesMaster" Target="/ppt/notesMasters/notesMaster1.xml" Id="R90e3a01da6ae4f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2367f00c964943" /><Relationship Type="http://schemas.openxmlformats.org/officeDocument/2006/relationships/notesMaster" Target="/ppt/notesMasters/notesMaster1.xml" Id="R7c4da76a201645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38c9a962cb450f" /><Relationship Type="http://schemas.openxmlformats.org/officeDocument/2006/relationships/notesMaster" Target="/ppt/notesMasters/notesMaster1.xml" Id="R4c04becfaf214e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826d140dc8f4662" /><Relationship Type="http://schemas.openxmlformats.org/officeDocument/2006/relationships/notesMaster" Target="/ppt/notesMasters/notesMaster1.xml" Id="R473d1ae08a0f43b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7e556eec214b0b" /><Relationship Type="http://schemas.openxmlformats.org/officeDocument/2006/relationships/notesMaster" Target="/ppt/notesMasters/notesMaster1.xml" Id="R1e79d49b1c244f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ab752fc5654770" /><Relationship Type="http://schemas.openxmlformats.org/officeDocument/2006/relationships/notesMaster" Target="/ppt/notesMasters/notesMaster1.xml" Id="R848cc03d95a342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Откройте с проблемы: запись может исчезнуть из основной базы, но человек всё ещё распознаётся по производным данным.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Спросите жюри: если source удалён, но template активен, завершён ли запрос? Ответ —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Покажите, что отрицательный и неопределённый результаты являются валидными результатами, а не ошибками программы.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механизмный stress test. Подчеркните ограничение: на source-locked holdout сильный typed baseline связал PCUG.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Lean доказывает условное утверждение. Явно назовите assumptions — это повышает научную честность.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 процессы PostgreSQL, Redis и Qdrant. Данные synthetic; это не production latency FaceID/eGov.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научную зрелость: первая быстрая candidate не прошла utility gate; safe policy выбрала exact retraining.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Frozen GhostGraph-T v1: 300/300 action-or-OOD, 50/50 family-held-out OOD, 0 false-confident, 1.28 mean probes versus 8.0 exhaustive. Global, one-step minimax и greedy tied; не заявлять превосходство между ними. Benchmark project-authored; external validation NOT_COLLECTED.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жюри спросит «где новизна», ответьте одной фразой из центральной колонки и сразу назовите prior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ключевой слайд честности. Скажите: технически путь к 9.5 готов, но фактическая независимость остаётся 7.8.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Завершите: ценность EraSeMap не в обещании идеального удаления, а в отказе объявлять успех без проверяемого основания.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325a13ba048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8a262e0b6c46c5" /><Relationship Type="http://schemas.openxmlformats.org/officeDocument/2006/relationships/slideLayout" Target="/ppt/slideLayouts/slideLayout1.xml" Id="R436a411d5a3547e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6a411d5a3547e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bec9c8a6a4a9e" /><Relationship Type="http://schemas.openxmlformats.org/officeDocument/2006/relationships/notesSlide" Target="/ppt/notesSlides/notesSlide1.xml" Id="R9557412eb54844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da8df15404c3d" /><Relationship Type="http://schemas.openxmlformats.org/officeDocument/2006/relationships/notesSlide" Target="/ppt/notesSlides/notesSlide2.xml" Id="R68f42809477140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0c392186747e0" /><Relationship Type="http://schemas.openxmlformats.org/officeDocument/2006/relationships/notesSlide" Target="/ppt/notesSlides/notesSlide3.xml" Id="R6c3eb36db3944c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a82f05e7e4128" /><Relationship Type="http://schemas.openxmlformats.org/officeDocument/2006/relationships/notesSlide" Target="/ppt/notesSlides/notesSlide4.xml" Id="R90b89360602548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f685f5e534042" /><Relationship Type="http://schemas.openxmlformats.org/officeDocument/2006/relationships/chart" Target="/ppt/slides/charts/chart1.xml" Id="Refc5340788304a13" /><Relationship Type="http://schemas.openxmlformats.org/officeDocument/2006/relationships/notesSlide" Target="/ppt/notesSlides/notesSlide5.xml" Id="R7cdc31a8668e47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5838ecaeb49ea" /><Relationship Type="http://schemas.openxmlformats.org/officeDocument/2006/relationships/notesSlide" Target="/ppt/notesSlides/notesSlide6.xml" Id="R107b0617849a4a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caf4569d841c4" /><Relationship Type="http://schemas.openxmlformats.org/officeDocument/2006/relationships/chart" Target="/ppt/slides/charts/chart2.xml" Id="Rd9218f53908b4c80" /><Relationship Type="http://schemas.openxmlformats.org/officeDocument/2006/relationships/notesSlide" Target="/ppt/notesSlides/notesSlide7.xml" Id="R6d3640a9c1174c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b7c3b6df84967" /><Relationship Type="http://schemas.openxmlformats.org/officeDocument/2006/relationships/image" Target="/ppt/media/image.png" Id="R3ba847c6e3ef42a4" /><Relationship Type="http://schemas.openxmlformats.org/officeDocument/2006/relationships/notesSlide" Target="/ppt/notesSlides/notesSlide8.xml" Id="R1d0c901601ab4d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5c7ab3882485d" /><Relationship Type="http://schemas.openxmlformats.org/officeDocument/2006/relationships/notesSlide" Target="/ppt/notesSlides/notesSlide9.xml" Id="Rf3953d0d55f34c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97e28bef64dd8" /><Relationship Type="http://schemas.openxmlformats.org/officeDocument/2006/relationships/chart" Target="/ppt/slides/charts/chart3.xml" Id="Rdabf555e6d4247ba" /><Relationship Type="http://schemas.openxmlformats.org/officeDocument/2006/relationships/notesSlide" Target="/ppt/notesSlides/notesSlide10.xml" Id="Rada8aaa1f9334a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55b33841b4df4" /><Relationship Type="http://schemas.openxmlformats.org/officeDocument/2006/relationships/notesSlide" Target="/ppt/notesSlides/notesSlide11.xml" Id="R791748c1d060470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bc0d7123948f4" /><Relationship Type="http://schemas.openxmlformats.org/officeDocument/2006/relationships/notesSlide" Target="/ppt/notesSlides/notesSlide12.xml" Id="R864e64783d6747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fae399fe24d60" /><Relationship Type="http://schemas.openxmlformats.org/officeDocument/2006/relationships/notesSlide" Target="/ppt/notesSlides/notesSlide13.xml" Id="R5743f167dbae410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False COMPLETE</c:v>
          </c:tx>
          <c:spPr>
            <a:solidFill xmlns:a="http://schemas.openxmlformats.org/drawingml/2006/main">
              <a:srgbClr val="FF6B35"/>
            </a:solidFill>
          </c:spPr>
          <c:cat>
            <c:strLit>
              <c:ptCount val="2"/>
              <c:pt idx="0">
                <c:v>PCUG</c:v>
              </c:pt>
              <c:pt idx="1">
                <c:v>Typed node</c:v>
              </c:pt>
            </c:strLit>
          </c:cat>
          <c:val>
            <c:numLit>
              <c:formatCode>General</c:formatCode>
              <c:ptCount val="2"/>
              <c:pt idx="0">
                <c:v>0</c:v>
              </c:pt>
              <c:pt idx="1">
                <c:v>75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Targeted CDC</c:v>
              </c:pt>
              <c:pt idx="1">
                <c:v>Rebuild all</c:v>
              </c:pt>
            </c:strLit>
          </c:cat>
          <c:val>
            <c:numLit>
              <c:formatCode>General</c:formatCode>
              <c:ptCount val="2"/>
              <c:pt idx="0">
                <c:v>5.38</c:v>
              </c:pt>
              <c:pt idx="1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Global action</c:v>
              </c:pt>
              <c:pt idx="1">
                <c:v>Exhaustive</c:v>
              </c:pt>
            </c:strLit>
          </c:cat>
          <c:val>
            <c:numLit>
              <c:formatCode>General</c:formatCode>
              <c:ptCount val="2"/>
              <c:pt idx="0">
                <c:v>1.28</c:v>
              </c:pt>
              <c:pt idx="1">
                <c:v>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85833A6-2F97-492D-AC53-7133BEBF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7DAE04-56F6-4386-AAFB-5153F82E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7905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B0D10"/>
                </a:solidFill>
              </a:defRPr>
            </a:pPr>
            <a:r>
              <a:t>Удалить запись
недостаточно.</a:t>
            </a:r>
          </a:p>
        </p:txBody>
      </p:sp>
      <p:sp>
        <p:nvSpPr>
          <p:cNvPr id="3" name="cover-band">
            <a:extLst xmlns:a="http://schemas.openxmlformats.org/drawingml/2006/main">
              <a:ext uri="{FF2B5EF4-FFF2-40B4-BE49-F238E27FC236}">
                <a16:creationId xmlns:a16="http://schemas.microsoft.com/office/drawing/2014/main" id="{4585B752-A303-4EDC-8E86-30DE511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57625"/>
            <a:ext cx="12192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over-method">
            <a:extLst xmlns:a="http://schemas.openxmlformats.org/drawingml/2006/main">
              <a:ext uri="{FF2B5EF4-FFF2-40B4-BE49-F238E27FC236}">
                <a16:creationId xmlns:a16="http://schemas.microsoft.com/office/drawing/2014/main" id="{07109068-6B38-4FCF-8FDB-6F5FD0E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Proof-Carrying Unlearning Graph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D698CF6-FC4B-4785-9892-3FAFA2B5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666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B63"/>
                </a:solidFill>
              </a:defRPr>
            </a:pPr>
            <a:r>
              <a:t>Проверяем остаточные копии, влияние на модель и минимальный путь к безопасному удалению.</a:t>
            </a:r>
          </a:p>
        </p:txBody>
      </p:sp>
      <p:sp>
        <p:nvSpPr>
          <p:cNvPr id="6" name="cover-mark-a">
            <a:extLst xmlns:a="http://schemas.openxmlformats.org/drawingml/2006/main">
              <a:ext uri="{FF2B5EF4-FFF2-40B4-BE49-F238E27FC236}">
                <a16:creationId xmlns:a16="http://schemas.microsoft.com/office/drawing/2014/main" id="{C32DCEF9-B6E0-4D49-9448-8000455C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cover-mark-b">
            <a:extLst xmlns:a="http://schemas.openxmlformats.org/drawingml/2006/main">
              <a:ext uri="{FF2B5EF4-FFF2-40B4-BE49-F238E27FC236}">
                <a16:creationId xmlns:a16="http://schemas.microsoft.com/office/drawing/2014/main" id="{FBF1DC4E-83BD-4877-B016-154B0AC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8" name="cover-event">
            <a:extLst xmlns:a="http://schemas.openxmlformats.org/drawingml/2006/main">
              <a:ext uri="{FF2B5EF4-FFF2-40B4-BE49-F238E27FC236}">
                <a16:creationId xmlns:a16="http://schemas.microsoft.com/office/drawing/2014/main" id="{2D4C3C95-846A-49F1-8905-E4DEDCE5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624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RKNP / ISEF</a:t>
            </a:r>
          </a:p>
        </p:txBody>
      </p:sp>
      <p:sp>
        <p:nvSpPr>
          <p:cNvPr id="9" name="cover-note">
            <a:extLst xmlns:a="http://schemas.openxmlformats.org/drawingml/2006/main">
              <a:ext uri="{FF2B5EF4-FFF2-40B4-BE49-F238E27FC236}">
                <a16:creationId xmlns:a16="http://schemas.microsoft.com/office/drawing/2014/main" id="{6CC82AB0-2C12-4611-A3B8-392AE1F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Evidence-led defense</a:t>
            </a:r>
          </a:p>
        </p:txBody>
      </p:sp>
      <p:sp>
        <p:nvSpPr>
          <p:cNvPr id="10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1DFA7F91-C9AC-4F85-87C0-D401874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18211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42-38">
            <a:extLst xmlns:a="http://schemas.openxmlformats.org/drawingml/2006/main">
              <a:ext uri="{FF2B5EF4-FFF2-40B4-BE49-F238E27FC236}">
                <a16:creationId xmlns:a16="http://schemas.microsoft.com/office/drawing/2014/main" id="{A83FB985-5B30-4365-9334-6C721B35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01  Проблема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17EA95F-83B3-45AA-9DB5-A9CFFD69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9625"/>
            <a:ext cx="1000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B0D10"/>
                </a:solidFill>
              </a:defRPr>
            </a:pPr>
            <a:r>
              <a:t>Удалить запись ≠ удалить данные человека</a:t>
            </a:r>
          </a:p>
        </p:txBody>
      </p:sp>
      <p:sp>
        <p:nvSpPr>
          <p:cNvPr id="3" name="problem-source">
            <a:extLst xmlns:a="http://schemas.openxmlformats.org/drawingml/2006/main">
              <a:ext uri="{FF2B5EF4-FFF2-40B4-BE49-F238E27FC236}">
                <a16:creationId xmlns:a16="http://schemas.microsoft.com/office/drawing/2014/main" id="{A331BFE7-5201-496E-86DC-96FE89D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problem-template">
            <a:extLst xmlns:a="http://schemas.openxmlformats.org/drawingml/2006/main">
              <a:ext uri="{FF2B5EF4-FFF2-40B4-BE49-F238E27FC236}">
                <a16:creationId xmlns:a16="http://schemas.microsoft.com/office/drawing/2014/main" id="{739540B1-01F9-4508-94CB-9E1D8BEF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problem-cache">
            <a:extLst xmlns:a="http://schemas.openxmlformats.org/drawingml/2006/main">
              <a:ext uri="{FF2B5EF4-FFF2-40B4-BE49-F238E27FC236}">
                <a16:creationId xmlns:a16="http://schemas.microsoft.com/office/drawing/2014/main" id="{45BE3538-88EE-43DF-A5D0-07A15BBC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problem-vector">
            <a:extLst xmlns:a="http://schemas.openxmlformats.org/drawingml/2006/main">
              <a:ext uri="{FF2B5EF4-FFF2-40B4-BE49-F238E27FC236}">
                <a16:creationId xmlns:a16="http://schemas.microsoft.com/office/drawing/2014/main" id="{4B2E66C3-0E6E-4EB2-9CA5-B8373BB7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problem-backup">
            <a:extLst xmlns:a="http://schemas.openxmlformats.org/drawingml/2006/main">
              <a:ext uri="{FF2B5EF4-FFF2-40B4-BE49-F238E27FC236}">
                <a16:creationId xmlns:a16="http://schemas.microsoft.com/office/drawing/2014/main" id="{0DBE5C32-234B-4836-83D5-66B23BB5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8" name="problem-model">
            <a:extLst xmlns:a="http://schemas.openxmlformats.org/drawingml/2006/main">
              <a:ext uri="{FF2B5EF4-FFF2-40B4-BE49-F238E27FC236}">
                <a16:creationId xmlns:a16="http://schemas.microsoft.com/office/drawing/2014/main" id="{08BC6BB9-9108-4161-84D3-A439701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edge-source-a">
            <a:extLst xmlns:a="http://schemas.openxmlformats.org/drawingml/2006/main">
              <a:ext uri="{FF2B5EF4-FFF2-40B4-BE49-F238E27FC236}">
                <a16:creationId xmlns:a16="http://schemas.microsoft.com/office/drawing/2014/main" id="{88CC756E-8B13-4186-9638-B8345EFA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000375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0" name="edge-a-b">
            <a:extLst xmlns:a="http://schemas.openxmlformats.org/drawingml/2006/main">
              <a:ext uri="{FF2B5EF4-FFF2-40B4-BE49-F238E27FC236}">
                <a16:creationId xmlns:a16="http://schemas.microsoft.com/office/drawing/2014/main" id="{DD901DF1-6DF9-4769-B905-44FB2136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1" name="edge-c-d">
            <a:extLst xmlns:a="http://schemas.openxmlformats.org/drawingml/2006/main">
              <a:ext uri="{FF2B5EF4-FFF2-40B4-BE49-F238E27FC236}">
                <a16:creationId xmlns:a16="http://schemas.microsoft.com/office/drawing/2014/main" id="{02E4D965-2C85-453B-A09B-1FE6CBE2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2" name="edge-b-model">
            <a:extLst xmlns:a="http://schemas.openxmlformats.org/drawingml/2006/main">
              <a:ext uri="{FF2B5EF4-FFF2-40B4-BE49-F238E27FC236}">
                <a16:creationId xmlns:a16="http://schemas.microsoft.com/office/drawing/2014/main" id="{72535351-4455-498C-B687-5500B063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3" name="text-96-305">
            <a:extLst xmlns:a="http://schemas.openxmlformats.org/drawingml/2006/main">
              <a:ext uri="{FF2B5EF4-FFF2-40B4-BE49-F238E27FC236}">
                <a16:creationId xmlns:a16="http://schemas.microsoft.com/office/drawing/2014/main" id="{934CB2F1-045A-48C1-B724-2418A13D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190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14" name="text-336-229">
            <a:extLst xmlns:a="http://schemas.openxmlformats.org/drawingml/2006/main">
              <a:ext uri="{FF2B5EF4-FFF2-40B4-BE49-F238E27FC236}">
                <a16:creationId xmlns:a16="http://schemas.microsoft.com/office/drawing/2014/main" id="{0F1750BD-C747-440E-9656-3D37832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FACE
TEMPLATE</a:t>
            </a:r>
          </a:p>
        </p:txBody>
      </p:sp>
      <p:sp>
        <p:nvSpPr>
          <p:cNvPr id="15" name="text-336-366">
            <a:extLst xmlns:a="http://schemas.openxmlformats.org/drawingml/2006/main">
              <a:ext uri="{FF2B5EF4-FFF2-40B4-BE49-F238E27FC236}">
                <a16:creationId xmlns:a16="http://schemas.microsoft.com/office/drawing/2014/main" id="{786C482F-4251-406A-B8ED-EF43050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CACHE</a:t>
            </a:r>
          </a:p>
        </p:txBody>
      </p:sp>
      <p:sp>
        <p:nvSpPr>
          <p:cNvPr id="16" name="text-583-229">
            <a:extLst xmlns:a="http://schemas.openxmlformats.org/drawingml/2006/main">
              <a:ext uri="{FF2B5EF4-FFF2-40B4-BE49-F238E27FC236}">
                <a16:creationId xmlns:a16="http://schemas.microsoft.com/office/drawing/2014/main" id="{9A0631BE-BC79-4945-B1B3-7EA3568B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VECTOR
INDEX</a:t>
            </a:r>
          </a:p>
        </p:txBody>
      </p:sp>
      <p:sp>
        <p:nvSpPr>
          <p:cNvPr id="17" name="text-583-366">
            <a:extLst xmlns:a="http://schemas.openxmlformats.org/drawingml/2006/main">
              <a:ext uri="{FF2B5EF4-FFF2-40B4-BE49-F238E27FC236}">
                <a16:creationId xmlns:a16="http://schemas.microsoft.com/office/drawing/2014/main" id="{9EFA18F5-A689-45E3-8954-8F8F642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BACKUP</a:t>
            </a:r>
          </a:p>
        </p:txBody>
      </p:sp>
      <p:sp>
        <p:nvSpPr>
          <p:cNvPr id="18" name="text-830-297">
            <a:extLst xmlns:a="http://schemas.openxmlformats.org/drawingml/2006/main">
              <a:ext uri="{FF2B5EF4-FFF2-40B4-BE49-F238E27FC236}">
                <a16:creationId xmlns:a16="http://schemas.microsoft.com/office/drawing/2014/main" id="{5AC56762-68BC-4FCA-B1D5-16D02DD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28925"/>
            <a:ext cx="12287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MODEL
INFLUENCE</a:t>
            </a:r>
          </a:p>
        </p:txBody>
      </p:sp>
      <p:sp>
        <p:nvSpPr>
          <p:cNvPr id="19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19E36B0E-383A-4687-97E9-98270F1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62150"/>
            <a:ext cx="6667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0" name="text-1060-208">
            <a:extLst xmlns:a="http://schemas.openxmlformats.org/drawingml/2006/main">
              <a:ext uri="{FF2B5EF4-FFF2-40B4-BE49-F238E27FC236}">
                <a16:creationId xmlns:a16="http://schemas.microsoft.com/office/drawing/2014/main" id="{E1317374-0C82-4779-994E-17848A0D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6B35"/>
                </a:solidFill>
              </a:defRPr>
            </a:pPr>
            <a:r>
              <a:t>Вопрос EraSeMap</a:t>
            </a:r>
          </a:p>
        </p:txBody>
      </p:sp>
      <p:sp>
        <p:nvSpPr>
          <p:cNvPr id="21" name="text-1060-264">
            <a:extLst xmlns:a="http://schemas.openxmlformats.org/drawingml/2006/main">
              <a:ext uri="{FF2B5EF4-FFF2-40B4-BE49-F238E27FC236}">
                <a16:creationId xmlns:a16="http://schemas.microsoft.com/office/drawing/2014/main" id="{EABBEEEB-A7AD-4F3A-8E3D-1E4E1398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1714500" cy="188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Какая копия или производная всё ещё может использовать данные?</a:t>
            </a:r>
          </a:p>
        </p:txBody>
      </p:sp>
      <p:sp>
        <p:nvSpPr>
          <p:cNvPr id="22" name="text-42-628">
            <a:extLst xmlns:a="http://schemas.openxmlformats.org/drawingml/2006/main">
              <a:ext uri="{FF2B5EF4-FFF2-40B4-BE49-F238E27FC236}">
                <a16:creationId xmlns:a16="http://schemas.microsoft.com/office/drawing/2014/main" id="{76941E5F-F414-4B58-88A3-8964494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Гарантия ограничена зарегистрированной инфраструктурой.</a:t>
            </a:r>
          </a:p>
        </p:txBody>
      </p:sp>
      <p:sp>
        <p:nvSpPr>
          <p:cNvPr id="2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BECD2125-91BC-4374-AEBA-4EA45F0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9836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2-38">
            <a:extLst xmlns:a="http://schemas.openxmlformats.org/drawingml/2006/main">
              <a:ext uri="{FF2B5EF4-FFF2-40B4-BE49-F238E27FC236}">
                <a16:creationId xmlns:a16="http://schemas.microsoft.com/office/drawing/2014/main" id="{0D7DED18-0C2B-4649-B257-841F1D29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02  Живая проверка</a:t>
            </a:r>
          </a:p>
        </p:txBody>
      </p:sp>
      <p:sp>
        <p:nvSpPr>
          <p:cNvPr id="2" name="live-verdict">
            <a:extLst xmlns:a="http://schemas.openxmlformats.org/drawingml/2006/main">
              <a:ext uri="{FF2B5EF4-FFF2-40B4-BE49-F238E27FC236}">
                <a16:creationId xmlns:a16="http://schemas.microsoft.com/office/drawing/2014/main" id="{8E73165E-0748-47DE-A7DC-4E1D41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66775"/>
            <a:ext cx="4762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3" name="text-42-208">
            <a:extLst xmlns:a="http://schemas.openxmlformats.org/drawingml/2006/main">
              <a:ext uri="{FF2B5EF4-FFF2-40B4-BE49-F238E27FC236}">
                <a16:creationId xmlns:a16="http://schemas.microsoft.com/office/drawing/2014/main" id="{0F617AD4-C6CB-473D-BA90-0E7634C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4572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B63"/>
                </a:solidFill>
              </a:defRPr>
            </a:pPr>
            <a:r>
              <a:t>Кратчайший остаточный путь</a:t>
            </a:r>
          </a:p>
        </p:txBody>
      </p:sp>
      <p:sp>
        <p:nvSpPr>
          <p:cNvPr id="4" name="live-path-band">
            <a:extLst xmlns:a="http://schemas.openxmlformats.org/drawingml/2006/main">
              <a:ext uri="{FF2B5EF4-FFF2-40B4-BE49-F238E27FC236}">
                <a16:creationId xmlns:a16="http://schemas.microsoft.com/office/drawing/2014/main" id="{E6839879-A82B-4E6B-9A15-5D8CF4A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066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5" name="text-85-332">
            <a:extLst xmlns:a="http://schemas.openxmlformats.org/drawingml/2006/main">
              <a:ext uri="{FF2B5EF4-FFF2-40B4-BE49-F238E27FC236}">
                <a16:creationId xmlns:a16="http://schemas.microsoft.com/office/drawing/2014/main" id="{27B6A5FF-1F5F-486C-8656-171824C1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62300"/>
            <a:ext cx="2000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6" name="text-330-324">
            <a:extLst xmlns:a="http://schemas.openxmlformats.org/drawingml/2006/main">
              <a:ext uri="{FF2B5EF4-FFF2-40B4-BE49-F238E27FC236}">
                <a16:creationId xmlns:a16="http://schemas.microsoft.com/office/drawing/2014/main" id="{1B5F0450-3771-474D-B6ED-59CEBA4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861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text-440-332">
            <a:extLst xmlns:a="http://schemas.openxmlformats.org/drawingml/2006/main">
              <a:ext uri="{FF2B5EF4-FFF2-40B4-BE49-F238E27FC236}">
                <a16:creationId xmlns:a16="http://schemas.microsoft.com/office/drawing/2014/main" id="{38E2B88E-79AE-4B0D-87E9-60FFA8F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62300"/>
            <a:ext cx="238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template</a:t>
            </a:r>
          </a:p>
        </p:txBody>
      </p:sp>
      <p:sp>
        <p:nvSpPr>
          <p:cNvPr id="8" name="text-85-470">
            <a:extLst xmlns:a="http://schemas.openxmlformats.org/drawingml/2006/main">
              <a:ext uri="{FF2B5EF4-FFF2-40B4-BE49-F238E27FC236}">
                <a16:creationId xmlns:a16="http://schemas.microsoft.com/office/drawing/2014/main" id="{4E41F52F-B04E-4BC6-ACDB-CEC2AC33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555B63"/>
                </a:solidFill>
              </a:defRPr>
            </a:pPr>
            <a:r>
              <a:t>Основная запись удалена</a:t>
            </a:r>
          </a:p>
        </p:txBody>
      </p:sp>
      <p:sp>
        <p:nvSpPr>
          <p:cNvPr id="9" name="text-430-470">
            <a:extLst xmlns:a="http://schemas.openxmlformats.org/drawingml/2006/main">
              <a:ext uri="{FF2B5EF4-FFF2-40B4-BE49-F238E27FC236}">
                <a16:creationId xmlns:a16="http://schemas.microsoft.com/office/drawing/2014/main" id="{E8AAC4AC-6722-4ADF-AF7E-D3825B7B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6B35"/>
                </a:solidFill>
              </a:defRPr>
            </a:pPr>
            <a:r>
              <a:t>Активный шаблон остаётся</a:t>
            </a:r>
          </a:p>
        </p:txBody>
      </p:sp>
      <p:sp>
        <p:nvSpPr>
          <p:cNvPr id="10" name="text-824-104">
            <a:extLst xmlns:a="http://schemas.openxmlformats.org/drawingml/2006/main">
              <a:ext uri="{FF2B5EF4-FFF2-40B4-BE49-F238E27FC236}">
                <a16:creationId xmlns:a16="http://schemas.microsoft.com/office/drawing/2014/main" id="{78A8FEF7-9D28-4011-9764-E32115F0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90600"/>
            <a:ext cx="3333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</a:defRPr>
            </a:pPr>
            <a:r>
              <a:t>Не скрывает неизвестное</a:t>
            </a:r>
          </a:p>
        </p:txBody>
      </p:sp>
      <p:sp>
        <p:nvSpPr>
          <p:cNvPr id="11" name="text-824-190">
            <a:extLst xmlns:a="http://schemas.openxmlformats.org/drawingml/2006/main">
              <a:ext uri="{FF2B5EF4-FFF2-40B4-BE49-F238E27FC236}">
                <a16:creationId xmlns:a16="http://schemas.microsoft.com/office/drawing/2014/main" id="{6C1F9233-6AC7-4344-9E98-954CCD6F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7F5B"/>
                </a:solidFill>
              </a:defRPr>
            </a:pPr>
            <a:r>
              <a:t>COMPLETE</a:t>
            </a:r>
          </a:p>
        </p:txBody>
      </p:sp>
      <p:sp>
        <p:nvSpPr>
          <p:cNvPr id="12" name="text-824-226">
            <a:extLst xmlns:a="http://schemas.openxmlformats.org/drawingml/2006/main">
              <a:ext uri="{FF2B5EF4-FFF2-40B4-BE49-F238E27FC236}">
                <a16:creationId xmlns:a16="http://schemas.microsoft.com/office/drawing/2014/main" id="{87A73241-6CF1-46A5-B184-D5355C48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все пути закрыты</a:t>
            </a:r>
          </a:p>
        </p:txBody>
      </p:sp>
      <p:sp>
        <p:nvSpPr>
          <p:cNvPr id="13" name="text-824-290">
            <a:extLst xmlns:a="http://schemas.openxmlformats.org/drawingml/2006/main">
              <a:ext uri="{FF2B5EF4-FFF2-40B4-BE49-F238E27FC236}">
                <a16:creationId xmlns:a16="http://schemas.microsoft.com/office/drawing/2014/main" id="{128090B1-CA7E-4F74-A99A-47218ED5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14" name="text-824-326">
            <a:extLst xmlns:a="http://schemas.openxmlformats.org/drawingml/2006/main">
              <a:ext uri="{FF2B5EF4-FFF2-40B4-BE49-F238E27FC236}">
                <a16:creationId xmlns:a16="http://schemas.microsoft.com/office/drawing/2014/main" id="{DB057B2B-4DE8-4090-87DC-50900EA2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остаток найден</a:t>
            </a:r>
          </a:p>
        </p:txBody>
      </p:sp>
      <p:sp>
        <p:nvSpPr>
          <p:cNvPr id="15" name="text-824-390">
            <a:extLst xmlns:a="http://schemas.openxmlformats.org/drawingml/2006/main">
              <a:ext uri="{FF2B5EF4-FFF2-40B4-BE49-F238E27FC236}">
                <a16:creationId xmlns:a16="http://schemas.microsoft.com/office/drawing/2014/main" id="{9B422F86-928C-417E-A887-B4057D1C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UNVERIFIED</a:t>
            </a:r>
          </a:p>
        </p:txBody>
      </p:sp>
      <p:sp>
        <p:nvSpPr>
          <p:cNvPr id="16" name="text-824-426">
            <a:extLst xmlns:a="http://schemas.openxmlformats.org/drawingml/2006/main">
              <a:ext uri="{FF2B5EF4-FFF2-40B4-BE49-F238E27FC236}">
                <a16:creationId xmlns:a16="http://schemas.microsoft.com/office/drawing/2014/main" id="{59174965-FB0E-418D-8C96-23E8461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доказательств недостаточно</a:t>
            </a:r>
          </a:p>
        </p:txBody>
      </p:sp>
      <p:sp>
        <p:nvSpPr>
          <p:cNvPr id="17" name="text-42-607">
            <a:extLst xmlns:a="http://schemas.openxmlformats.org/drawingml/2006/main">
              <a:ext uri="{FF2B5EF4-FFF2-40B4-BE49-F238E27FC236}">
                <a16:creationId xmlns:a16="http://schemas.microsoft.com/office/drawing/2014/main" id="{F59DA9AD-69C4-4872-9C6F-6DFF1C06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81675"/>
            <a:ext cx="723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Команда: erasemap showcase --repo-root .</a:t>
            </a:r>
          </a:p>
        </p:txBody>
      </p:sp>
      <p:sp>
        <p:nvSpPr>
          <p:cNvPr id="18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4E7C9E0F-08B0-46EE-9704-480E7699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4188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03  Метод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Один fail-closed контракт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PCUG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Физические копии + request-scoped model influence + обязательные verifier-каналы.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Proof bundle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Commitments, raw evidence, replay, signature и independently recomputed verdict.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Exact CDC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Минимальная по стоимости разрешённая remediation, закрывающая представленные пути.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Не отдельный unlearning algorithm — системный слой принятия и проверки решения.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EADD696A-192F-4799-80C7-1E81FED9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04  Зачем PCUG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AD57C52E-A627-4C0E-A7DD-C35974C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Node-state audit пропускает взаимодействия</a:t>
            </a:r>
          </a:p>
        </p:txBody>
      </p:sp>
      <p:sp>
        <p:nvSpPr>
          <p:cNvPr id="3" name="stress-chart-frame">
            <a:extLst xmlns:a="http://schemas.openxmlformats.org/drawingml/2006/main">
              <a:ext uri="{FF2B5EF4-FFF2-40B4-BE49-F238E27FC236}">
                <a16:creationId xmlns:a16="http://schemas.microsoft.com/office/drawing/2014/main" id="{F5404C2A-78A5-4B84-9D48-5F0B0F86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62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24-224">
            <a:extLst xmlns:a="http://schemas.openxmlformats.org/drawingml/2006/main">
              <a:ext uri="{FF2B5EF4-FFF2-40B4-BE49-F238E27FC236}">
                <a16:creationId xmlns:a16="http://schemas.microsoft.com/office/drawing/2014/main" id="{858A50F0-65A9-406A-B1C3-295632E0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87F5B"/>
                </a:solidFill>
              </a:defRPr>
            </a:pPr>
            <a:r>
              <a:t>0 / 75</a:t>
            </a:r>
          </a:p>
        </p:txBody>
      </p:sp>
      <p:sp>
        <p:nvSpPr>
          <p:cNvPr id="5" name="text-824-316">
            <a:extLst xmlns:a="http://schemas.openxmlformats.org/drawingml/2006/main">
              <a:ext uri="{FF2B5EF4-FFF2-40B4-BE49-F238E27FC236}">
                <a16:creationId xmlns:a16="http://schemas.microsoft.com/office/drawing/2014/main" id="{45742C1C-A638-42D0-BD4A-643B6CF8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099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ложных COMPLETE у PCUG</a:t>
            </a:r>
          </a:p>
        </p:txBody>
      </p:sp>
      <p:sp>
        <p:nvSpPr>
          <p:cNvPr id="6" name="text-824-410">
            <a:extLst xmlns:a="http://schemas.openxmlformats.org/drawingml/2006/main">
              <a:ext uri="{FF2B5EF4-FFF2-40B4-BE49-F238E27FC236}">
                <a16:creationId xmlns:a16="http://schemas.microsoft.com/office/drawing/2014/main" id="{F6F78289-E1E1-4422-97C8-8379DED0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75 / 75</a:t>
            </a:r>
          </a:p>
        </p:txBody>
      </p:sp>
      <p:sp>
        <p:nvSpPr>
          <p:cNvPr id="7" name="text-824-502">
            <a:extLst xmlns:a="http://schemas.openxmlformats.org/drawingml/2006/main">
              <a:ext uri="{FF2B5EF4-FFF2-40B4-BE49-F238E27FC236}">
                <a16:creationId xmlns:a16="http://schemas.microsoft.com/office/drawing/2014/main" id="{5340DAAA-E0C0-4AC4-8844-9488337E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815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у node-only typed audit</a:t>
            </a:r>
          </a:p>
        </p:txBody>
      </p:sp>
      <p:sp>
        <p:nvSpPr>
          <p:cNvPr id="8" name="text-824-588">
            <a:extLst xmlns:a="http://schemas.openxmlformats.org/drawingml/2006/main">
              <a:ext uri="{FF2B5EF4-FFF2-40B4-BE49-F238E27FC236}">
                <a16:creationId xmlns:a16="http://schemas.microsoft.com/office/drawing/2014/main" id="{DCBB79CC-5D42-4D56-917B-9378A402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00700"/>
            <a:ext cx="3429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3"/>
                </a:solidFill>
              </a:defRPr>
            </a:pPr>
            <a:r>
              <a:t>Project-authored mechanism stress test — не внешний holdout.</a:t>
            </a:r>
          </a:p>
        </p:txBody>
      </p:sp>
      <p:sp>
        <p:nvSpPr>
          <p:cNvPr id="9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E6BA1C7A-5CCC-43E0-8498-73C0EC11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05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809625" y="2238375"/>
          <a:ext xmlns:a="http://schemas.openxmlformats.org/drawingml/2006/main" cx="5905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c5340788304a13"/>
          </a:graphicData>
        </a:graphic>
      </p:graphicFrame>
    </p:spTree>
    <p:extLst>
      <p:ext uri="{BB962C8B-B14F-4D97-AF65-F5344CB8AC3E}">
        <p14:creationId xmlns:p14="http://schemas.microsoft.com/office/powerpoint/2010/main" val="1607358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42-38">
            <a:extLst xmlns:a="http://schemas.openxmlformats.org/drawingml/2006/main">
              <a:ext uri="{FF2B5EF4-FFF2-40B4-BE49-F238E27FC236}">
                <a16:creationId xmlns:a16="http://schemas.microsoft.com/office/drawing/2014/main" id="{47F52038-FD36-43B8-AE96-32D11D2F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05  Формальная часть</a:t>
            </a:r>
          </a:p>
        </p:txBody>
      </p:sp>
      <p:sp>
        <p:nvSpPr>
          <p:cNvPr id="2" name="text-42-104">
            <a:extLst xmlns:a="http://schemas.openxmlformats.org/drawingml/2006/main">
              <a:ext uri="{FF2B5EF4-FFF2-40B4-BE49-F238E27FC236}">
                <a16:creationId xmlns:a16="http://schemas.microsoft.com/office/drawing/2014/main" id="{3FFC32B1-F7CF-4243-A4D3-BAF6BF9F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6572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0B0D10"/>
                </a:solidFill>
              </a:defRPr>
            </a:pPr>
            <a:r>
              <a:t>3 072 / 3 072</a:t>
            </a:r>
          </a:p>
        </p:txBody>
      </p:sp>
      <p:sp>
        <p:nvSpPr>
          <p:cNvPr id="3" name="text-42-226">
            <a:extLst xmlns:a="http://schemas.openxmlformats.org/drawingml/2006/main">
              <a:ext uri="{FF2B5EF4-FFF2-40B4-BE49-F238E27FC236}">
                <a16:creationId xmlns:a16="http://schemas.microsoft.com/office/drawing/2014/main" id="{B6FFA2C5-6AB4-45B2-A300-A084BEA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6858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55B63"/>
                </a:solidFill>
              </a:defRPr>
            </a:pPr>
            <a:r>
              <a:t>production exact CDC = exhaustive oracle</a:t>
            </a:r>
          </a:p>
        </p:txBody>
      </p:sp>
      <p:sp>
        <p:nvSpPr>
          <p:cNvPr id="4" name="formal-soundness">
            <a:extLst xmlns:a="http://schemas.openxmlformats.org/drawingml/2006/main">
              <a:ext uri="{FF2B5EF4-FFF2-40B4-BE49-F238E27FC236}">
                <a16:creationId xmlns:a16="http://schemas.microsoft.com/office/drawing/2014/main" id="{5C74AB40-C941-4C76-AB47-5DACAA7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formal-optimality">
            <a:extLst xmlns:a="http://schemas.openxmlformats.org/drawingml/2006/main">
              <a:ext uri="{FF2B5EF4-FFF2-40B4-BE49-F238E27FC236}">
                <a16:creationId xmlns:a16="http://schemas.microsoft.com/office/drawing/2014/main" id="{C350FFB6-32F3-4520-BC2A-08C1859A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formal-boundary">
            <a:extLst xmlns:a="http://schemas.openxmlformats.org/drawingml/2006/main">
              <a:ext uri="{FF2B5EF4-FFF2-40B4-BE49-F238E27FC236}">
                <a16:creationId xmlns:a16="http://schemas.microsoft.com/office/drawing/2014/main" id="{54090CA8-4865-4FEA-8D1B-D56C0FA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text-70-372">
            <a:extLst xmlns:a="http://schemas.openxmlformats.org/drawingml/2006/main">
              <a:ext uri="{FF2B5EF4-FFF2-40B4-BE49-F238E27FC236}">
                <a16:creationId xmlns:a16="http://schemas.microsoft.com/office/drawing/2014/main" id="{F2777B8A-BC9F-471E-9D79-E5C67A9E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Soundness</a:t>
            </a:r>
          </a:p>
        </p:txBody>
      </p:sp>
      <p:sp>
        <p:nvSpPr>
          <p:cNvPr id="8" name="text-70-432">
            <a:extLst xmlns:a="http://schemas.openxmlformats.org/drawingml/2006/main">
              <a:ext uri="{FF2B5EF4-FFF2-40B4-BE49-F238E27FC236}">
                <a16:creationId xmlns:a16="http://schemas.microsoft.com/office/drawing/2014/main" id="{955EA2F1-4893-4FE7-9C30-FEFF15A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Replayed COMPLETE закрывает представленные реальные residual paths и mandatory channels.</a:t>
            </a:r>
          </a:p>
        </p:txBody>
      </p:sp>
      <p:sp>
        <p:nvSpPr>
          <p:cNvPr id="9" name="text-485-372">
            <a:extLst xmlns:a="http://schemas.openxmlformats.org/drawingml/2006/main">
              <a:ext uri="{FF2B5EF4-FFF2-40B4-BE49-F238E27FC236}">
                <a16:creationId xmlns:a16="http://schemas.microsoft.com/office/drawing/2014/main" id="{6A5E3E7A-78A8-4EBD-9C68-FCAD9A7C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Optimality</a:t>
            </a:r>
          </a:p>
        </p:txBody>
      </p:sp>
      <p:sp>
        <p:nvSpPr>
          <p:cNvPr id="10" name="text-485-432">
            <a:extLst xmlns:a="http://schemas.openxmlformats.org/drawingml/2006/main">
              <a:ext uri="{FF2B5EF4-FFF2-40B4-BE49-F238E27FC236}">
                <a16:creationId xmlns:a16="http://schemas.microsoft.com/office/drawing/2014/main" id="{FFFEBFE3-28DD-419E-99B1-4C7807F0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Finite exact selector возвращает feasible candidate с глобально минимальной стоимостью.</a:t>
            </a:r>
          </a:p>
        </p:txBody>
      </p:sp>
      <p:sp>
        <p:nvSpPr>
          <p:cNvPr id="11" name="text-900-372">
            <a:extLst xmlns:a="http://schemas.openxmlformats.org/drawingml/2006/main">
              <a:ext uri="{FF2B5EF4-FFF2-40B4-BE49-F238E27FC236}">
                <a16:creationId xmlns:a16="http://schemas.microsoft.com/office/drawing/2014/main" id="{3FD10252-1EF6-4400-BCE5-2F2F135B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6B35"/>
                </a:solidFill>
              </a:defRPr>
            </a:pPr>
            <a:r>
              <a:t>Boundary</a:t>
            </a:r>
          </a:p>
        </p:txBody>
      </p:sp>
      <p:sp>
        <p:nvSpPr>
          <p:cNvPr id="12" name="text-900-432">
            <a:extLst xmlns:a="http://schemas.openxmlformats.org/drawingml/2006/main">
              <a:ext uri="{FF2B5EF4-FFF2-40B4-BE49-F238E27FC236}">
                <a16:creationId xmlns:a16="http://schemas.microsoft.com/office/drawing/2014/main" id="{1D2398CD-75BF-433D-9437-40C2D38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Требуются complete registered topology и sound local verifiers.</a:t>
            </a:r>
          </a:p>
        </p:txBody>
      </p:sp>
      <p:sp>
        <p:nvSpPr>
          <p:cNvPr id="13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59A0A9C-21AF-4CFD-B3D6-8A25593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3"/>
                </a:solidFill>
              </a:defRPr>
            </a:pPr>
            <a:r>
              <a:t>Lean 4 · no sorry/admit · axiom allowlist audited</a:t>
            </a:r>
          </a:p>
        </p:txBody>
      </p:sp>
      <p:sp>
        <p:nvSpPr>
          <p:cNvPr id="14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EE802AA7-CA8A-4282-AEF2-D778B370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6751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06  Real-process experiment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Меньше работы — тот же verified COMPLETE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17.64×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speedup; 95% CI 16.39–18.98×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94.62%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меньше declared application/filesystem bytes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20 paired holdout seeds · 100% completion · 0 retained-data loss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07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218f53908b4c80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42-38">
            <a:extLst xmlns:a="http://schemas.openxmlformats.org/drawingml/2006/main">
              <a:ext uri="{FF2B5EF4-FFF2-40B4-BE49-F238E27FC236}">
                <a16:creationId xmlns:a16="http://schemas.microsoft.com/office/drawing/2014/main" id="{B03E683F-658A-4460-BBF5-B8ED30E7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07  Model layer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6C975742-700B-44DB-9F8B-0733D49B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9525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MUFAC FAIL → sequential PASS</a:t>
            </a:r>
          </a:p>
        </p:txBody>
      </p:sp>
      <p:sp>
        <p:nvSpPr>
          <p:cNvPr id="3" name="ml-image-frame">
            <a:extLst xmlns:a="http://schemas.openxmlformats.org/drawingml/2006/main">
              <a:ext uri="{FF2B5EF4-FFF2-40B4-BE49-F238E27FC236}">
                <a16:creationId xmlns:a16="http://schemas.microsoft.com/office/drawing/2014/main" id="{2D60B0CB-6C09-4F57-815E-D41373A5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6762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00-205">
            <a:extLst xmlns:a="http://schemas.openxmlformats.org/drawingml/2006/main">
              <a:ext uri="{FF2B5EF4-FFF2-40B4-BE49-F238E27FC236}">
                <a16:creationId xmlns:a16="http://schemas.microsoft.com/office/drawing/2014/main" id="{764999E0-C742-4374-BC99-5C5239EC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MUFAC v3</a:t>
            </a:r>
          </a:p>
        </p:txBody>
      </p:sp>
      <p:sp>
        <p:nvSpPr>
          <p:cNvPr id="5" name="text-800-258">
            <a:extLst xmlns:a="http://schemas.openxmlformats.org/drawingml/2006/main">
              <a:ext uri="{FF2B5EF4-FFF2-40B4-BE49-F238E27FC236}">
                <a16:creationId xmlns:a16="http://schemas.microsoft.com/office/drawing/2014/main" id="{62DD916F-25C4-4B9E-9CDD-F436B853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381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6B35"/>
                </a:solidFill>
              </a:defRPr>
            </a:pPr>
            <a:r>
              <a:t>FAIL</a:t>
            </a:r>
          </a:p>
        </p:txBody>
      </p:sp>
      <p:sp>
        <p:nvSpPr>
          <p:cNvPr id="6" name="text-800-326">
            <a:extLst xmlns:a="http://schemas.openxmlformats.org/drawingml/2006/main">
              <a:ext uri="{FF2B5EF4-FFF2-40B4-BE49-F238E27FC236}">
                <a16:creationId xmlns:a16="http://schemas.microsoft.com/office/drawing/2014/main" id="{41D76DBC-0EC4-4498-A43A-3818374E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retained utility gate</a:t>
            </a:r>
          </a:p>
        </p:txBody>
      </p:sp>
      <p:sp>
        <p:nvSpPr>
          <p:cNvPr id="7" name="text-800-406">
            <a:extLst xmlns:a="http://schemas.openxmlformats.org/drawingml/2006/main">
              <a:ext uri="{FF2B5EF4-FFF2-40B4-BE49-F238E27FC236}">
                <a16:creationId xmlns:a16="http://schemas.microsoft.com/office/drawing/2014/main" id="{444358FC-EB81-4FCA-B465-60BEF73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Sequential v1</a:t>
            </a:r>
          </a:p>
        </p:txBody>
      </p:sp>
      <p:sp>
        <p:nvSpPr>
          <p:cNvPr id="8" name="text-800-459">
            <a:extLst xmlns:a="http://schemas.openxmlformats.org/drawingml/2006/main">
              <a:ext uri="{FF2B5EF4-FFF2-40B4-BE49-F238E27FC236}">
                <a16:creationId xmlns:a16="http://schemas.microsoft.com/office/drawing/2014/main" id="{2272A3D5-ACE3-4036-BAFB-97BFD3D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71975"/>
            <a:ext cx="3429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87F5B"/>
                </a:solidFill>
              </a:defRPr>
            </a:pPr>
            <a:r>
              <a:t>PASS · 25/25</a:t>
            </a:r>
          </a:p>
        </p:txBody>
      </p:sp>
      <p:sp>
        <p:nvSpPr>
          <p:cNvPr id="9" name="text-800-540">
            <a:extLst xmlns:a="http://schemas.openxmlformats.org/drawingml/2006/main">
              <a:ext uri="{FF2B5EF4-FFF2-40B4-BE49-F238E27FC236}">
                <a16:creationId xmlns:a16="http://schemas.microsoft.com/office/drawing/2014/main" id="{2EB57D6D-D9FC-4780-8B5F-7B43819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43500"/>
            <a:ext cx="37147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privacy upper CI 0.00624 · first-run, project-authored.</a:t>
            </a:r>
          </a:p>
        </p:txBody>
      </p:sp>
      <p:sp>
        <p:nvSpPr>
          <p:cNvPr id="10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2684AD69-9CC6-440F-90C9-FE32F95F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08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47c6e3ef42a4"/>
          <a:stretch xmlns:a="http://schemas.openxmlformats.org/drawingml/2006/main"/>
        </p:blipFill>
        <p:spPr>
          <a:xfrm xmlns:a="http://schemas.openxmlformats.org/drawingml/2006/main">
            <a:off x="628650" y="2376805"/>
            <a:ext cx="6305550" cy="294259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938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08  GhostGraph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Ищем неизвестный путь — не верим карте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Version space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Frozen-каталог возможных deletion-regeneration графов и полный evidence contract.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Active probe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Minimax выбирает intervention, сильнее всего сужающий оставшиеся графы.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Fail-closed repair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Exact graph / path class, либо OUT / UNVERIFIED; затем exact control и replay.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Finite catalogue · synthetic subjects · без claim об arbitrary hidden infrastructure.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09  GhostGraph-T result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Достаточное действие — даже когда точный граф неразличим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300 / 300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correct action или OOD · 0 false confident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50 / 50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family-held-out retry-replay распознан как OOD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1.28 probes vs 8.0 exhaustive · policies tie · external: NOT_COLLECTED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10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bf555e6d4247ba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88149F28-389D-4D06-9718-A82BEBB3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57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10  Новизна без преувеличения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BE6D6434-59FB-440F-980D-9D9148C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Новый вклад — active discovery + fail-closed repair</a:t>
            </a:r>
          </a:p>
        </p:txBody>
      </p:sp>
      <p:sp>
        <p:nvSpPr>
          <p:cNvPr id="3" name="novel-known">
            <a:extLst xmlns:a="http://schemas.openxmlformats.org/drawingml/2006/main">
              <a:ext uri="{FF2B5EF4-FFF2-40B4-BE49-F238E27FC236}">
                <a16:creationId xmlns:a16="http://schemas.microsoft.com/office/drawing/2014/main" id="{6CB3F883-8645-4CCF-8509-0192D3B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novel-contribution">
            <a:extLst xmlns:a="http://schemas.openxmlformats.org/drawingml/2006/main">
              <a:ext uri="{FF2B5EF4-FFF2-40B4-BE49-F238E27FC236}">
                <a16:creationId xmlns:a16="http://schemas.microsoft.com/office/drawing/2014/main" id="{0F183184-76A7-4A8B-82E1-ADD6C44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novel-no-claim">
            <a:extLst xmlns:a="http://schemas.openxmlformats.org/drawingml/2006/main">
              <a:ext uri="{FF2B5EF4-FFF2-40B4-BE49-F238E27FC236}">
                <a16:creationId xmlns:a16="http://schemas.microsoft.com/office/drawing/2014/main" id="{421AC173-16AB-4CD8-8662-E7865CC9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4">
            <a:extLst xmlns:a="http://schemas.openxmlformats.org/drawingml/2006/main">
              <a:ext uri="{FF2B5EF4-FFF2-40B4-BE49-F238E27FC236}">
                <a16:creationId xmlns:a16="http://schemas.microsoft.com/office/drawing/2014/main" id="{53B2EB09-807B-4592-850A-C8BD7C8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Уже существовало</a:t>
            </a:r>
          </a:p>
        </p:txBody>
      </p:sp>
      <p:sp>
        <p:nvSpPr>
          <p:cNvPr id="7" name="text-69-306">
            <a:extLst xmlns:a="http://schemas.openxmlformats.org/drawingml/2006/main">
              <a:ext uri="{FF2B5EF4-FFF2-40B4-BE49-F238E27FC236}">
                <a16:creationId xmlns:a16="http://schemas.microsoft.com/office/drawing/2014/main" id="{7E3BDE59-9D49-4288-AE30-F43FCFF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14650"/>
            <a:ext cx="2714625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Network tomography
Active diagnosis
Data lineage
Group testing
Temporal erasure</a:t>
            </a:r>
          </a:p>
        </p:txBody>
      </p:sp>
      <p:sp>
        <p:nvSpPr>
          <p:cNvPr id="8" name="text-489-234">
            <a:extLst xmlns:a="http://schemas.openxmlformats.org/drawingml/2006/main">
              <a:ext uri="{FF2B5EF4-FFF2-40B4-BE49-F238E27FC236}">
                <a16:creationId xmlns:a16="http://schemas.microsoft.com/office/drawing/2014/main" id="{CF9CC74A-DC0A-4E7D-9EA5-5B88C37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</a:defRPr>
            </a:pPr>
            <a:r>
              <a:t>Узкий вклад</a:t>
            </a:r>
          </a:p>
        </p:txBody>
      </p:sp>
      <p:sp>
        <p:nvSpPr>
          <p:cNvPr id="9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60FE33EA-F371-4DE4-963E-62261E17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14625" cy="2305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D10"/>
                </a:solidFill>
              </a:defRPr>
            </a:pPr>
            <a:r>
              <a:t>Subject interventions → exact version-space update → OUT / UNVERIFIED → path class → exact control + replay.</a:t>
            </a:r>
          </a:p>
        </p:txBody>
      </p:sp>
      <p:sp>
        <p:nvSpPr>
          <p:cNvPr id="10" name="text-909-234">
            <a:extLst xmlns:a="http://schemas.openxmlformats.org/drawingml/2006/main">
              <a:ext uri="{FF2B5EF4-FFF2-40B4-BE49-F238E27FC236}">
                <a16:creationId xmlns:a16="http://schemas.microsoft.com/office/drawing/2014/main" id="{6A719E17-299D-4604-A94A-7D1B99FC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Не заявляется</a:t>
            </a:r>
          </a:p>
        </p:txBody>
      </p:sp>
      <p:sp>
        <p:nvSpPr>
          <p:cNvPr id="11" name="text-909-306">
            <a:extLst xmlns:a="http://schemas.openxmlformats.org/drawingml/2006/main">
              <a:ext uri="{FF2B5EF4-FFF2-40B4-BE49-F238E27FC236}">
                <a16:creationId xmlns:a16="http://schemas.microsoft.com/office/drawing/2014/main" id="{2B397DEB-3D92-40C6-BD80-7A6966FF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14650"/>
            <a:ext cx="2714625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«Первый в мире»
Arbitrary topology discovery
Global optimal decision tree
FaceID/eGov production</a:t>
            </a:r>
          </a:p>
        </p:txBody>
      </p:sp>
      <p:sp>
        <p:nvSpPr>
          <p:cNvPr id="12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8CD57D6-2C17-458D-B599-633D0A28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858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Greedy baseline tied at 7 probes: novelty is the auditable fail-closed composition, not universal query optimality.</a:t>
            </a:r>
          </a:p>
        </p:txBody>
      </p:sp>
      <p:sp>
        <p:nvSpPr>
          <p:cNvPr id="1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B8861551-D27A-4601-8815-837B0ABF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377059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096D2445-227C-4447-8399-FA96923F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90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11  Доказательная лестница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19E14A2B-DF73-4819-96D1-9B256F98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287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Readiness нельзя выдавать за independence</a:t>
            </a:r>
          </a:p>
        </p:txBody>
      </p:sp>
      <p:sp>
        <p:nvSpPr>
          <p:cNvPr id="3" name="evidence-current">
            <a:extLst xmlns:a="http://schemas.openxmlformats.org/drawingml/2006/main">
              <a:ext uri="{FF2B5EF4-FFF2-40B4-BE49-F238E27FC236}">
                <a16:creationId xmlns:a16="http://schemas.microsoft.com/office/drawing/2014/main" id="{4522758C-10EC-47AA-9A7F-E7FA866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38137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evidence-next">
            <a:extLst xmlns:a="http://schemas.openxmlformats.org/drawingml/2006/main">
              <a:ext uri="{FF2B5EF4-FFF2-40B4-BE49-F238E27FC236}">
                <a16:creationId xmlns:a16="http://schemas.microsoft.com/office/drawing/2014/main" id="{1A91BD7B-A987-424E-8056-4C3A1BC0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573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evidence-org">
            <a:extLst xmlns:a="http://schemas.openxmlformats.org/drawingml/2006/main">
              <a:ext uri="{FF2B5EF4-FFF2-40B4-BE49-F238E27FC236}">
                <a16:creationId xmlns:a16="http://schemas.microsoft.com/office/drawing/2014/main" id="{03EF12D5-9E7E-43A9-8496-B2924530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200150"/>
            <a:ext cx="33813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54">
            <a:extLst xmlns:a="http://schemas.openxmlformats.org/drawingml/2006/main">
              <a:ext uri="{FF2B5EF4-FFF2-40B4-BE49-F238E27FC236}">
                <a16:creationId xmlns:a16="http://schemas.microsoft.com/office/drawing/2014/main" id="{FEBA4D97-4910-4EC8-9008-1CC8E344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193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7.8</a:t>
            </a:r>
          </a:p>
        </p:txBody>
      </p:sp>
      <p:sp>
        <p:nvSpPr>
          <p:cNvPr id="7" name="text-69-354">
            <a:extLst xmlns:a="http://schemas.openxmlformats.org/drawingml/2006/main">
              <a:ext uri="{FF2B5EF4-FFF2-40B4-BE49-F238E27FC236}">
                <a16:creationId xmlns:a16="http://schemas.microsoft.com/office/drawing/2014/main" id="{B2C5A188-5587-4A4A-927A-A54D89F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71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69-418">
            <a:extLst xmlns:a="http://schemas.openxmlformats.org/drawingml/2006/main">
              <a:ext uri="{FF2B5EF4-FFF2-40B4-BE49-F238E27FC236}">
                <a16:creationId xmlns:a16="http://schemas.microsoft.com/office/drawing/2014/main" id="{EAA35A75-54EE-4FE0-93D1-1DB9FDE2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81450"/>
            <a:ext cx="2714625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Frozen v2 + live four-service PASS. External submission: NOT_COLLECTED.</a:t>
            </a:r>
          </a:p>
        </p:txBody>
      </p:sp>
      <p:sp>
        <p:nvSpPr>
          <p:cNvPr id="9" name="text-489-206">
            <a:extLst xmlns:a="http://schemas.openxmlformats.org/drawingml/2006/main">
              <a:ext uri="{FF2B5EF4-FFF2-40B4-BE49-F238E27FC236}">
                <a16:creationId xmlns:a16="http://schemas.microsoft.com/office/drawing/2014/main" id="{B5431607-40D5-4ADF-8839-50FDE7F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621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9.5</a:t>
            </a:r>
          </a:p>
        </p:txBody>
      </p:sp>
      <p:sp>
        <p:nvSpPr>
          <p:cNvPr id="10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0AAA1054-1482-4898-9013-7CEC14E2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External blind v2 PASS</a:t>
            </a:r>
          </a:p>
        </p:txBody>
      </p:sp>
      <p:sp>
        <p:nvSpPr>
          <p:cNvPr id="11" name="text-489-370">
            <a:extLst xmlns:a="http://schemas.openxmlformats.org/drawingml/2006/main">
              <a:ext uri="{FF2B5EF4-FFF2-40B4-BE49-F238E27FC236}">
                <a16:creationId xmlns:a16="http://schemas.microsoft.com/office/drawing/2014/main" id="{6612D925-5A26-4E5F-AD81-B792370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242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Outside author: hidden graphs, clean commit, source hashes, one-shot reveal, Ed25519 signature.</a:t>
            </a:r>
          </a:p>
        </p:txBody>
      </p:sp>
      <p:sp>
        <p:nvSpPr>
          <p:cNvPr id="12" name="text-909-158">
            <a:extLst xmlns:a="http://schemas.openxmlformats.org/drawingml/2006/main">
              <a:ext uri="{FF2B5EF4-FFF2-40B4-BE49-F238E27FC236}">
                <a16:creationId xmlns:a16="http://schemas.microsoft.com/office/drawing/2014/main" id="{E6887C07-1C69-4285-8D09-01C9C9E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5049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9.8</a:t>
            </a:r>
          </a:p>
        </p:txBody>
      </p:sp>
      <p:sp>
        <p:nvSpPr>
          <p:cNvPr id="13" name="text-909-258">
            <a:extLst xmlns:a="http://schemas.openxmlformats.org/drawingml/2006/main">
              <a:ext uri="{FF2B5EF4-FFF2-40B4-BE49-F238E27FC236}">
                <a16:creationId xmlns:a16="http://schemas.microsoft.com/office/drawing/2014/main" id="{CC51D3AE-A8A3-47B0-93A7-F47E75A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4574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Репликация</a:t>
            </a:r>
          </a:p>
        </p:txBody>
      </p:sp>
      <p:sp>
        <p:nvSpPr>
          <p:cNvPr id="14" name="text-909-322">
            <a:extLst xmlns:a="http://schemas.openxmlformats.org/drawingml/2006/main">
              <a:ext uri="{FF2B5EF4-FFF2-40B4-BE49-F238E27FC236}">
                <a16:creationId xmlns:a16="http://schemas.microsoft.com/office/drawing/2014/main" id="{BD2231AD-8BC9-45FD-9C19-8F3F5902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0670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Два независимых evaluator или одна authorized organization на materially different systems.</a:t>
            </a:r>
          </a:p>
        </p:txBody>
      </p:sp>
      <p:sp>
        <p:nvSpPr>
          <p:cNvPr id="15" name="text-42-625">
            <a:extLst xmlns:a="http://schemas.openxmlformats.org/drawingml/2006/main">
              <a:ext uri="{FF2B5EF4-FFF2-40B4-BE49-F238E27FC236}">
                <a16:creationId xmlns:a16="http://schemas.microsoft.com/office/drawing/2014/main" id="{9E1F4E86-6ACB-42E1-A881-42F5336F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B35"/>
                </a:solidFill>
              </a:defRPr>
            </a:pPr>
            <a:r>
              <a:t>Только external authorship двигает independence; local work повышает readiness.</a:t>
            </a:r>
          </a:p>
        </p:txBody>
      </p:sp>
      <p:sp>
        <p:nvSpPr>
          <p:cNvPr id="16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1330B4F0-6E7D-4086-B860-39A5CC3E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2920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41BD4B4C-46C1-4BDC-AFF3-8DEEE76E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text-42-108">
            <a:extLst xmlns:a="http://schemas.openxmlformats.org/drawingml/2006/main">
              <a:ext uri="{FF2B5EF4-FFF2-40B4-BE49-F238E27FC236}">
                <a16:creationId xmlns:a16="http://schemas.microsoft.com/office/drawing/2014/main" id="{B1D005B7-0087-421B-8F8D-3A18FC64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10001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B0D10"/>
                </a:solidFill>
              </a:defRPr>
            </a:pPr>
            <a:r>
              <a:t>Не верить слову «удалено».
Проверять путь.</a:t>
            </a:r>
          </a:p>
        </p:txBody>
      </p:sp>
      <p:sp>
        <p:nvSpPr>
          <p:cNvPr id="3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59CB3E5E-BF79-4238-8FFD-701D47B7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33800"/>
            <a:ext cx="121920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losing-a">
            <a:extLst xmlns:a="http://schemas.openxmlformats.org/drawingml/2006/main">
              <a:ext uri="{FF2B5EF4-FFF2-40B4-BE49-F238E27FC236}">
                <a16:creationId xmlns:a16="http://schemas.microsoft.com/office/drawing/2014/main" id="{06BD7832-8D47-4326-94B6-2F83CC4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5" name="closing-b">
            <a:extLst xmlns:a="http://schemas.openxmlformats.org/drawingml/2006/main">
              <a:ext uri="{FF2B5EF4-FFF2-40B4-BE49-F238E27FC236}">
                <a16:creationId xmlns:a16="http://schemas.microsoft.com/office/drawing/2014/main" id="{DD2342EE-35D1-40FF-9536-104AF479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6" name="closing-c">
            <a:extLst xmlns:a="http://schemas.openxmlformats.org/drawingml/2006/main">
              <a:ext uri="{FF2B5EF4-FFF2-40B4-BE49-F238E27FC236}">
                <a16:creationId xmlns:a16="http://schemas.microsoft.com/office/drawing/2014/main" id="{70F276BE-00EA-400E-A96D-1717456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-42-510">
            <a:extLst xmlns:a="http://schemas.openxmlformats.org/drawingml/2006/main">
              <a:ext uri="{FF2B5EF4-FFF2-40B4-BE49-F238E27FC236}">
                <a16:creationId xmlns:a16="http://schemas.microsoft.com/office/drawing/2014/main" id="{C92543EA-8D79-467D-9BA3-9039A2C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42-560">
            <a:extLst xmlns:a="http://schemas.openxmlformats.org/drawingml/2006/main">
              <a:ext uri="{FF2B5EF4-FFF2-40B4-BE49-F238E27FC236}">
                <a16:creationId xmlns:a16="http://schemas.microsoft.com/office/drawing/2014/main" id="{AB50936D-BACD-42E2-8E01-8F167A1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3143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Formal + measured systems + GhostGraph live + jury demo</a:t>
            </a:r>
          </a:p>
        </p:txBody>
      </p:sp>
      <p:sp>
        <p:nvSpPr>
          <p:cNvPr id="9" name="text-452-510">
            <a:extLst xmlns:a="http://schemas.openxmlformats.org/drawingml/2006/main">
              <a:ext uri="{FF2B5EF4-FFF2-40B4-BE49-F238E27FC236}">
                <a16:creationId xmlns:a16="http://schemas.microsoft.com/office/drawing/2014/main" id="{A0361ED0-BAA0-4B0C-854E-CDC2812A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3333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Следующий результат</a:t>
            </a:r>
          </a:p>
        </p:txBody>
      </p:sp>
      <p:sp>
        <p:nvSpPr>
          <p:cNvPr id="10" name="text-452-560">
            <a:extLst xmlns:a="http://schemas.openxmlformats.org/drawingml/2006/main">
              <a:ext uri="{FF2B5EF4-FFF2-40B4-BE49-F238E27FC236}">
                <a16:creationId xmlns:a16="http://schemas.microsoft.com/office/drawing/2014/main" id="{EB730CB5-C3C2-4A55-AEBB-CAE95B4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Blind v2 evaluator-authored challenge; algorithm frozen</a:t>
            </a:r>
          </a:p>
        </p:txBody>
      </p:sp>
      <p:sp>
        <p:nvSpPr>
          <p:cNvPr id="11" name="text-862-510">
            <a:extLst xmlns:a="http://schemas.openxmlformats.org/drawingml/2006/main">
              <a:ext uri="{FF2B5EF4-FFF2-40B4-BE49-F238E27FC236}">
                <a16:creationId xmlns:a16="http://schemas.microsoft.com/office/drawing/2014/main" id="{5F39B2F2-2D03-4BAC-8B93-7634026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6B35"/>
                </a:solidFill>
              </a:defRPr>
            </a:pPr>
            <a:r>
              <a:t>Цель</a:t>
            </a:r>
          </a:p>
        </p:txBody>
      </p:sp>
      <p:sp>
        <p:nvSpPr>
          <p:cNvPr id="12" name="text-862-560">
            <a:extLst xmlns:a="http://schemas.openxmlformats.org/drawingml/2006/main">
              <a:ext uri="{FF2B5EF4-FFF2-40B4-BE49-F238E27FC236}">
                <a16:creationId xmlns:a16="http://schemas.microsoft.com/office/drawing/2014/main" id="{2204460B-51AE-49A8-9C0C-F9AAE8CE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Доказать COMPLETE на чужих скрытых системах — или честно показать failure.</a:t>
            </a:r>
          </a:p>
        </p:txBody>
      </p:sp>
      <p:sp>
        <p:nvSpPr>
          <p:cNvPr id="13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2BF76438-7308-4827-A3A9-47044D19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451162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2026-08-25T09:05:22.4310000Z</dcterms:created>
  <dcterms:modified xsi:type="dcterms:W3CDTF">2026-08-25T09:05:22.4310000Z</dcterms:modified>
</coreProperties>
</file>