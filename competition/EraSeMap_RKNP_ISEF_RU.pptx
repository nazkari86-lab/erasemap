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e131830c4f4dda" /><Relationship Type="http://schemas.openxmlformats.org/officeDocument/2006/relationships/extended-properties" Target="/docProps/app.xml" Id="Rdbe58dca95f040b1" /><Relationship Type="http://schemas.openxmlformats.org/officeDocument/2006/relationships/officeDocument" Target="/ppt/presentation.xml" Id="Rfee15e1c873244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de7a2425524122"/>
  </p:sldMasterIdLst>
  <p:notesMasterIdLst>
    <p:notesMasterId xmlns:r="http://schemas.openxmlformats.org/officeDocument/2006/relationships" r:id="Rec10f22a63464104"/>
  </p:notesMasterIdLst>
  <p:sldIdLst>
    <p:sldId xmlns:r="http://schemas.openxmlformats.org/officeDocument/2006/relationships" id="256" r:id="R2840dbba117c4876"/>
    <p:sldId xmlns:r="http://schemas.openxmlformats.org/officeDocument/2006/relationships" id="257" r:id="R203324b9fc864075"/>
    <p:sldId xmlns:r="http://schemas.openxmlformats.org/officeDocument/2006/relationships" id="258" r:id="R7443bdc2adfe47ef"/>
    <p:sldId xmlns:r="http://schemas.openxmlformats.org/officeDocument/2006/relationships" id="259" r:id="Rd86579aa35dc4d10"/>
    <p:sldId xmlns:r="http://schemas.openxmlformats.org/officeDocument/2006/relationships" id="260" r:id="R41fd46827d80495f"/>
    <p:sldId xmlns:r="http://schemas.openxmlformats.org/officeDocument/2006/relationships" id="261" r:id="Re6b29d0ba7db458c"/>
    <p:sldId xmlns:r="http://schemas.openxmlformats.org/officeDocument/2006/relationships" id="262" r:id="R95671ee7dc0d4bf4"/>
    <p:sldId xmlns:r="http://schemas.openxmlformats.org/officeDocument/2006/relationships" id="263" r:id="R8cb0b53f953e4468"/>
    <p:sldId xmlns:r="http://schemas.openxmlformats.org/officeDocument/2006/relationships" id="264" r:id="R8a50f8d56f344320"/>
    <p:sldId xmlns:r="http://schemas.openxmlformats.org/officeDocument/2006/relationships" id="265" r:id="Re1c66ca2238b4160"/>
    <p:sldId xmlns:r="http://schemas.openxmlformats.org/officeDocument/2006/relationships" id="266" r:id="Rea01174606204e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acbbc65cf548fd" /><Relationship Type="http://schemas.openxmlformats.org/officeDocument/2006/relationships/slideMaster" Target="/ppt/slideMasters/slideMaster1.xml" Id="Rd4de7a2425524122" /><Relationship Type="http://schemas.openxmlformats.org/officeDocument/2006/relationships/notesMaster" Target="/ppt/notesMasters/notesMaster1.xml" Id="Rec10f22a63464104" /><Relationship Type="http://schemas.openxmlformats.org/officeDocument/2006/relationships/presProps" Target="/ppt/presProps.xml" Id="R068fc58d8694497d" /><Relationship Type="http://schemas.openxmlformats.org/officeDocument/2006/relationships/tableStyles" Target="/ppt/tableStyles.xml" Id="Rdfbd283873164976" /><Relationship Type="http://schemas.openxmlformats.org/officeDocument/2006/relationships/slide" Target="/ppt/slides/slide1.xml" Id="R2840dbba117c4876" /><Relationship Type="http://schemas.openxmlformats.org/officeDocument/2006/relationships/slide" Target="/ppt/slides/slide2.xml" Id="R203324b9fc864075" /><Relationship Type="http://schemas.openxmlformats.org/officeDocument/2006/relationships/slide" Target="/ppt/slides/slide3.xml" Id="R7443bdc2adfe47ef" /><Relationship Type="http://schemas.openxmlformats.org/officeDocument/2006/relationships/slide" Target="/ppt/slides/slide4.xml" Id="Rd86579aa35dc4d10" /><Relationship Type="http://schemas.openxmlformats.org/officeDocument/2006/relationships/slide" Target="/ppt/slides/slide5.xml" Id="R41fd46827d80495f" /><Relationship Type="http://schemas.openxmlformats.org/officeDocument/2006/relationships/slide" Target="/ppt/slides/slide6.xml" Id="Re6b29d0ba7db458c" /><Relationship Type="http://schemas.openxmlformats.org/officeDocument/2006/relationships/slide" Target="/ppt/slides/slide7.xml" Id="R95671ee7dc0d4bf4" /><Relationship Type="http://schemas.openxmlformats.org/officeDocument/2006/relationships/slide" Target="/ppt/slides/slide8.xml" Id="R8cb0b53f953e4468" /><Relationship Type="http://schemas.openxmlformats.org/officeDocument/2006/relationships/slide" Target="/ppt/slides/slide9.xml" Id="R8a50f8d56f344320" /><Relationship Type="http://schemas.openxmlformats.org/officeDocument/2006/relationships/slide" Target="/ppt/slides/slide10.xml" Id="Re1c66ca2238b4160" /><Relationship Type="http://schemas.openxmlformats.org/officeDocument/2006/relationships/slide" Target="/ppt/slides/slide11.xml" Id="Rea01174606204e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71e6ef564948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368aa40af843cc" /><Relationship Type="http://schemas.openxmlformats.org/officeDocument/2006/relationships/notesMaster" Target="/ppt/notesMasters/notesMaster1.xml" Id="R0fc54704ea904f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6d960838c74e4c" /><Relationship Type="http://schemas.openxmlformats.org/officeDocument/2006/relationships/notesMaster" Target="/ppt/notesMasters/notesMaster1.xml" Id="R35a238c7d2e84e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125694cb184077" /><Relationship Type="http://schemas.openxmlformats.org/officeDocument/2006/relationships/notesMaster" Target="/ppt/notesMasters/notesMaster1.xml" Id="Rf110b03c59f447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724f338df44f6a" /><Relationship Type="http://schemas.openxmlformats.org/officeDocument/2006/relationships/notesMaster" Target="/ppt/notesMasters/notesMaster1.xml" Id="R3f5a275a2d5645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fd8881e3ff4b5d" /><Relationship Type="http://schemas.openxmlformats.org/officeDocument/2006/relationships/notesMaster" Target="/ppt/notesMasters/notesMaster1.xml" Id="R3c4d7db2b39949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98803909f14691" /><Relationship Type="http://schemas.openxmlformats.org/officeDocument/2006/relationships/notesMaster" Target="/ppt/notesMasters/notesMaster1.xml" Id="R95b3d02b6b8848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bdf637a2f24175" /><Relationship Type="http://schemas.openxmlformats.org/officeDocument/2006/relationships/notesMaster" Target="/ppt/notesMasters/notesMaster1.xml" Id="R6d5234b9556640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a69e6177fa4896" /><Relationship Type="http://schemas.openxmlformats.org/officeDocument/2006/relationships/notesMaster" Target="/ppt/notesMasters/notesMaster1.xml" Id="R5af8bb712a2943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d5f9c1570a4c60" /><Relationship Type="http://schemas.openxmlformats.org/officeDocument/2006/relationships/notesMaster" Target="/ppt/notesMasters/notesMaster1.xml" Id="Rd79b54269ad944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ed006c027e4afb" /><Relationship Type="http://schemas.openxmlformats.org/officeDocument/2006/relationships/notesMaster" Target="/ppt/notesMasters/notesMaster1.xml" Id="R672ed675e8ac47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b82e6952f04d87" /><Relationship Type="http://schemas.openxmlformats.org/officeDocument/2006/relationships/notesMaster" Target="/ppt/notesMasters/notesMaster1.xml" Id="R7e54f14840994f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Откройте с проблемы: запись может исчезнуть из основной базы, но человек всё ещё распознаётся по производным данным.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Спросите жюри: если source удалён, но template активен, завершён ли запрос? Ответ —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отрицательный и неопределённый результаты являются валидными результатами, а не ошибками программы.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механизмный stress test. Подчеркните ограничение: на source-locked holdout сильный typed baseline связал PCUG.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 доказывает условное утверждение. Явно назовите assumptions — это повышает научную честность.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научную зрелость: первая быстрая candidate не прошла utility gate; safe policy выбрала exact retraining.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жюри спросит «где новизна», ответьте одной фразой из центральной колонки и сразу назовите prior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ключевой слайд честности. Скажите: технически путь к 9.5 готов, но фактическая независимость остаётся 7.8.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Завершите: ценность EraSeMap не в обещании идеального удаления, а в отказе объявлять успех без проверяемого основания.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d2553598564b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429e4ab8574f7f" /><Relationship Type="http://schemas.openxmlformats.org/officeDocument/2006/relationships/slideLayout" Target="/ppt/slideLayouts/slideLayout1.xml" Id="Ra49ef039077b48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9ef039077b48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95e8a326640e9" /><Relationship Type="http://schemas.openxmlformats.org/officeDocument/2006/relationships/notesSlide" Target="/ppt/notesSlides/notesSlide1.xml" Id="R91b26b4fa29847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cebc107fb42c0" /><Relationship Type="http://schemas.openxmlformats.org/officeDocument/2006/relationships/notesSlide" Target="/ppt/notesSlides/notesSlide2.xml" Id="R60b433a4e0794c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4f9d2be394fa3" /><Relationship Type="http://schemas.openxmlformats.org/officeDocument/2006/relationships/notesSlide" Target="/ppt/notesSlides/notesSlide3.xml" Id="R39e55862594541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51fcc5b904d5c" /><Relationship Type="http://schemas.openxmlformats.org/officeDocument/2006/relationships/notesSlide" Target="/ppt/notesSlides/notesSlide4.xml" Id="R95570cd9042143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276146a0e4456" /><Relationship Type="http://schemas.openxmlformats.org/officeDocument/2006/relationships/chart" Target="/ppt/slides/charts/chart1.xml" Id="R9db5b09cc759422a" /><Relationship Type="http://schemas.openxmlformats.org/officeDocument/2006/relationships/notesSlide" Target="/ppt/notesSlides/notesSlide5.xml" Id="Rfd8fc4ad589f4e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f634067204be3" /><Relationship Type="http://schemas.openxmlformats.org/officeDocument/2006/relationships/notesSlide" Target="/ppt/notesSlides/notesSlide6.xml" Id="R54950844bf7046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1b95bed6a4adc" /><Relationship Type="http://schemas.openxmlformats.org/officeDocument/2006/relationships/chart" Target="/ppt/slides/charts/chart2.xml" Id="R46e9ffa63a29446e" /><Relationship Type="http://schemas.openxmlformats.org/officeDocument/2006/relationships/notesSlide" Target="/ppt/notesSlides/notesSlide7.xml" Id="R220e786b8da042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535b32e5c4c75" /><Relationship Type="http://schemas.openxmlformats.org/officeDocument/2006/relationships/image" Target="/ppt/media/image.png" Id="Rea0c3beaf0d94010" /><Relationship Type="http://schemas.openxmlformats.org/officeDocument/2006/relationships/notesSlide" Target="/ppt/notesSlides/notesSlide8.xml" Id="Re8095d8ac2a548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a2041355547fa" /><Relationship Type="http://schemas.openxmlformats.org/officeDocument/2006/relationships/notesSlide" Target="/ppt/notesSlides/notesSlide9.xml" Id="Ra19d99e8269349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a256be0fb4a01" /><Relationship Type="http://schemas.openxmlformats.org/officeDocument/2006/relationships/notesSlide" Target="/ppt/notesSlides/notesSlide10.xml" Id="Rc2dcc5e2a1ba47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7af51aed64086" /><Relationship Type="http://schemas.openxmlformats.org/officeDocument/2006/relationships/notesSlide" Target="/ppt/notesSlides/notesSlide11.xml" Id="R83ecf0f23f9e486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False COMPLETE</c:v>
          </c:tx>
          <c:spPr>
            <a:solidFill xmlns:a="http://schemas.openxmlformats.org/drawingml/2006/main">
              <a:srgbClr val="FF6B35"/>
            </a:solidFill>
          </c:spPr>
          <c:cat>
            <c:strLit>
              <c:ptCount val="2"/>
              <c:pt idx="0">
                <c:v>PCUG</c:v>
              </c:pt>
              <c:pt idx="1">
                <c:v>Typed node</c:v>
              </c:pt>
            </c:strLit>
          </c:cat>
          <c:val>
            <c:numLit>
              <c:formatCode>General</c:formatCode>
              <c:ptCount val="2"/>
              <c:pt idx="0">
                <c:v>0</c:v>
              </c:pt>
              <c:pt idx="1">
                <c:v>75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Targeted CDC</c:v>
              </c:pt>
              <c:pt idx="1">
                <c:v>Rebuild all</c:v>
              </c:pt>
            </c:strLit>
          </c:cat>
          <c:val>
            <c:numLit>
              <c:formatCode>General</c:formatCode>
              <c:ptCount val="2"/>
              <c:pt idx="0">
                <c:v>5.38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5833A6-2F97-492D-AC53-7133BEBF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7DAE04-56F6-4386-AAFB-5153F82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7905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B0D10"/>
                </a:solidFill>
              </a:defRPr>
            </a:pPr>
            <a:r>
              <a:t>Удалить запись
недостаточно.</a:t>
            </a:r>
          </a:p>
        </p:txBody>
      </p:sp>
      <p:sp>
        <p:nvSpPr>
          <p:cNvPr id="3" name="cover-band">
            <a:extLst xmlns:a="http://schemas.openxmlformats.org/drawingml/2006/main">
              <a:ext uri="{FF2B5EF4-FFF2-40B4-BE49-F238E27FC236}">
                <a16:creationId xmlns:a16="http://schemas.microsoft.com/office/drawing/2014/main" id="{4585B752-A303-4EDC-8E86-30DE511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7625"/>
            <a:ext cx="12192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over-method">
            <a:extLst xmlns:a="http://schemas.openxmlformats.org/drawingml/2006/main">
              <a:ext uri="{FF2B5EF4-FFF2-40B4-BE49-F238E27FC236}">
                <a16:creationId xmlns:a16="http://schemas.microsoft.com/office/drawing/2014/main" id="{07109068-6B38-4FCF-8FDB-6F5FD0E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0D10"/>
                </a:solidFill>
              </a:defRPr>
            </a:pPr>
            <a:r>
              <a:t>Proof-Carrying Unlearning Graph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D698CF6-FC4B-4785-9892-3FAFA2B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666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B63"/>
                </a:solidFill>
              </a:defRPr>
            </a:pPr>
            <a:r>
              <a:t>Проверяем остаточные копии, влияние на модель и минимальный путь к безопасному удалению.</a:t>
            </a:r>
          </a:p>
        </p:txBody>
      </p:sp>
      <p:sp>
        <p:nvSpPr>
          <p:cNvPr id="6" name="cover-mark-a">
            <a:extLst xmlns:a="http://schemas.openxmlformats.org/drawingml/2006/main">
              <a:ext uri="{FF2B5EF4-FFF2-40B4-BE49-F238E27FC236}">
                <a16:creationId xmlns:a16="http://schemas.microsoft.com/office/drawing/2014/main" id="{C32DCEF9-B6E0-4D49-9448-8000455C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cover-mark-b">
            <a:extLst xmlns:a="http://schemas.openxmlformats.org/drawingml/2006/main">
              <a:ext uri="{FF2B5EF4-FFF2-40B4-BE49-F238E27FC236}">
                <a16:creationId xmlns:a16="http://schemas.microsoft.com/office/drawing/2014/main" id="{FBF1DC4E-83BD-4877-B016-154B0AC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8" name="cover-event">
            <a:extLst xmlns:a="http://schemas.openxmlformats.org/drawingml/2006/main">
              <a:ext uri="{FF2B5EF4-FFF2-40B4-BE49-F238E27FC236}">
                <a16:creationId xmlns:a16="http://schemas.microsoft.com/office/drawing/2014/main" id="{2D4C3C95-846A-49F1-8905-E4DEDCE5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624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0"/>
                </a:solidFill>
              </a:defRPr>
            </a:pPr>
            <a:r>
              <a:t>RKNP / ISEF</a:t>
            </a:r>
          </a:p>
        </p:txBody>
      </p:sp>
      <p:sp>
        <p:nvSpPr>
          <p:cNvPr id="9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C82AB0-2C12-4611-A3B8-392AE1F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3"/>
                </a:solidFill>
              </a:defRPr>
            </a:pPr>
            <a:r>
              <a:t>Evidence-led defense</a:t>
            </a:r>
          </a:p>
        </p:txBody>
      </p:sp>
      <p:sp>
        <p:nvSpPr>
          <p:cNvPr id="10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DFA7F91-C9AC-4F85-87C0-D401874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8211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42-38">
            <a:extLst xmlns:a="http://schemas.openxmlformats.org/drawingml/2006/main">
              <a:ext uri="{FF2B5EF4-FFF2-40B4-BE49-F238E27FC236}">
                <a16:creationId xmlns:a16="http://schemas.microsoft.com/office/drawing/2014/main" id="{A83FB985-5B30-4365-9334-6C721B3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01  Проблема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17EA95F-83B3-45AA-9DB5-A9CFFD6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9625"/>
            <a:ext cx="1000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B0D10"/>
                </a:solidFill>
              </a:defRPr>
            </a:pPr>
            <a:r>
              <a:t>Удалить запись ≠ удалить данные человека</a:t>
            </a:r>
          </a:p>
        </p:txBody>
      </p:sp>
      <p:sp>
        <p:nvSpPr>
          <p:cNvPr id="3" name="problem-source">
            <a:extLst xmlns:a="http://schemas.openxmlformats.org/drawingml/2006/main">
              <a:ext uri="{FF2B5EF4-FFF2-40B4-BE49-F238E27FC236}">
                <a16:creationId xmlns:a16="http://schemas.microsoft.com/office/drawing/2014/main" id="{A331BFE7-5201-496E-86DC-96FE89D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problem-template">
            <a:extLst xmlns:a="http://schemas.openxmlformats.org/drawingml/2006/main">
              <a:ext uri="{FF2B5EF4-FFF2-40B4-BE49-F238E27FC236}">
                <a16:creationId xmlns:a16="http://schemas.microsoft.com/office/drawing/2014/main" id="{739540B1-01F9-4508-94CB-9E1D8BEF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problem-cache">
            <a:extLst xmlns:a="http://schemas.openxmlformats.org/drawingml/2006/main">
              <a:ext uri="{FF2B5EF4-FFF2-40B4-BE49-F238E27FC236}">
                <a16:creationId xmlns:a16="http://schemas.microsoft.com/office/drawing/2014/main" id="{45BE3538-88EE-43DF-A5D0-07A15BB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problem-vector">
            <a:extLst xmlns:a="http://schemas.openxmlformats.org/drawingml/2006/main">
              <a:ext uri="{FF2B5EF4-FFF2-40B4-BE49-F238E27FC236}">
                <a16:creationId xmlns:a16="http://schemas.microsoft.com/office/drawing/2014/main" id="{4B2E66C3-0E6E-4EB2-9CA5-B8373BB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problem-backup">
            <a:extLst xmlns:a="http://schemas.openxmlformats.org/drawingml/2006/main">
              <a:ext uri="{FF2B5EF4-FFF2-40B4-BE49-F238E27FC236}">
                <a16:creationId xmlns:a16="http://schemas.microsoft.com/office/drawing/2014/main" id="{0DBE5C32-234B-4836-83D5-66B23BB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problem-model">
            <a:extLst xmlns:a="http://schemas.openxmlformats.org/drawingml/2006/main">
              <a:ext uri="{FF2B5EF4-FFF2-40B4-BE49-F238E27FC236}">
                <a16:creationId xmlns:a16="http://schemas.microsoft.com/office/drawing/2014/main" id="{08BC6BB9-9108-4161-84D3-A439701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edge-source-a">
            <a:extLst xmlns:a="http://schemas.openxmlformats.org/drawingml/2006/main">
              <a:ext uri="{FF2B5EF4-FFF2-40B4-BE49-F238E27FC236}">
                <a16:creationId xmlns:a16="http://schemas.microsoft.com/office/drawing/2014/main" id="{88CC756E-8B13-4186-9638-B8345EFA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edge-a-b">
            <a:extLst xmlns:a="http://schemas.openxmlformats.org/drawingml/2006/main">
              <a:ext uri="{FF2B5EF4-FFF2-40B4-BE49-F238E27FC236}">
                <a16:creationId xmlns:a16="http://schemas.microsoft.com/office/drawing/2014/main" id="{DD901DF1-6DF9-4769-B905-44FB2136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edge-c-d">
            <a:extLst xmlns:a="http://schemas.openxmlformats.org/drawingml/2006/main">
              <a:ext uri="{FF2B5EF4-FFF2-40B4-BE49-F238E27FC236}">
                <a16:creationId xmlns:a16="http://schemas.microsoft.com/office/drawing/2014/main" id="{02E4D965-2C85-453B-A09B-1FE6CBE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edge-b-model">
            <a:extLst xmlns:a="http://schemas.openxmlformats.org/drawingml/2006/main">
              <a:ext uri="{FF2B5EF4-FFF2-40B4-BE49-F238E27FC236}">
                <a16:creationId xmlns:a16="http://schemas.microsoft.com/office/drawing/2014/main" id="{72535351-4455-498C-B687-5500B06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text-96-305">
            <a:extLst xmlns:a="http://schemas.openxmlformats.org/drawingml/2006/main">
              <a:ext uri="{FF2B5EF4-FFF2-40B4-BE49-F238E27FC236}">
                <a16:creationId xmlns:a16="http://schemas.microsoft.com/office/drawing/2014/main" id="{934CB2F1-045A-48C1-B724-2418A13D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190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14" name="text-336-229">
            <a:extLst xmlns:a="http://schemas.openxmlformats.org/drawingml/2006/main">
              <a:ext uri="{FF2B5EF4-FFF2-40B4-BE49-F238E27FC236}">
                <a16:creationId xmlns:a16="http://schemas.microsoft.com/office/drawing/2014/main" id="{0F1750BD-C747-440E-9656-3D37832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D10"/>
                </a:solidFill>
              </a:defRPr>
            </a:pPr>
            <a:r>
              <a:t>FACE
TEMPLATE</a:t>
            </a:r>
          </a:p>
        </p:txBody>
      </p:sp>
      <p:sp>
        <p:nvSpPr>
          <p:cNvPr id="15" name="text-336-366">
            <a:extLst xmlns:a="http://schemas.openxmlformats.org/drawingml/2006/main">
              <a:ext uri="{FF2B5EF4-FFF2-40B4-BE49-F238E27FC236}">
                <a16:creationId xmlns:a16="http://schemas.microsoft.com/office/drawing/2014/main" id="{786C482F-4251-406A-B8ED-EF4305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D10"/>
                </a:solidFill>
              </a:defRPr>
            </a:pPr>
            <a:r>
              <a:t>CACHE</a:t>
            </a:r>
          </a:p>
        </p:txBody>
      </p:sp>
      <p:sp>
        <p:nvSpPr>
          <p:cNvPr id="16" name="text-583-229">
            <a:extLst xmlns:a="http://schemas.openxmlformats.org/drawingml/2006/main">
              <a:ext uri="{FF2B5EF4-FFF2-40B4-BE49-F238E27FC236}">
                <a16:creationId xmlns:a16="http://schemas.microsoft.com/office/drawing/2014/main" id="{9A0631BE-BC79-4945-B1B3-7EA3568B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D10"/>
                </a:solidFill>
              </a:defRPr>
            </a:pPr>
            <a:r>
              <a:t>VECTOR
INDEX</a:t>
            </a:r>
          </a:p>
        </p:txBody>
      </p:sp>
      <p:sp>
        <p:nvSpPr>
          <p:cNvPr id="17" name="text-583-366">
            <a:extLst xmlns:a="http://schemas.openxmlformats.org/drawingml/2006/main">
              <a:ext uri="{FF2B5EF4-FFF2-40B4-BE49-F238E27FC236}">
                <a16:creationId xmlns:a16="http://schemas.microsoft.com/office/drawing/2014/main" id="{9EFA18F5-A689-45E3-8954-8F8F642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D10"/>
                </a:solidFill>
              </a:defRPr>
            </a:pPr>
            <a:r>
              <a:t>BACKUP</a:t>
            </a:r>
          </a:p>
        </p:txBody>
      </p:sp>
      <p:sp>
        <p:nvSpPr>
          <p:cNvPr id="18" name="text-830-297">
            <a:extLst xmlns:a="http://schemas.openxmlformats.org/drawingml/2006/main">
              <a:ext uri="{FF2B5EF4-FFF2-40B4-BE49-F238E27FC236}">
                <a16:creationId xmlns:a16="http://schemas.microsoft.com/office/drawing/2014/main" id="{5AC56762-68BC-4FCA-B1D5-16D02D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28925"/>
            <a:ext cx="12287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0D10"/>
                </a:solidFill>
              </a:defRPr>
            </a:pPr>
            <a:r>
              <a:t>MODEL
INFLUENCE</a:t>
            </a:r>
          </a:p>
        </p:txBody>
      </p:sp>
      <p:sp>
        <p:nvSpPr>
          <p:cNvPr id="19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19E36B0E-383A-4687-97E9-98270F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666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0" name="text-1060-208">
            <a:extLst xmlns:a="http://schemas.openxmlformats.org/drawingml/2006/main">
              <a:ext uri="{FF2B5EF4-FFF2-40B4-BE49-F238E27FC236}">
                <a16:creationId xmlns:a16="http://schemas.microsoft.com/office/drawing/2014/main" id="{E1317374-0C82-4779-994E-17848A0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35"/>
                </a:solidFill>
              </a:defRPr>
            </a:pPr>
            <a:r>
              <a:t>Вопрос EraSeMap</a:t>
            </a:r>
          </a:p>
        </p:txBody>
      </p:sp>
      <p:sp>
        <p:nvSpPr>
          <p:cNvPr id="21" name="text-1060-264">
            <a:extLst xmlns:a="http://schemas.openxmlformats.org/drawingml/2006/main">
              <a:ext uri="{FF2B5EF4-FFF2-40B4-BE49-F238E27FC236}">
                <a16:creationId xmlns:a16="http://schemas.microsoft.com/office/drawing/2014/main" id="{EABBEEEB-A7AD-4F3A-8E3D-1E4E1398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714500" cy="188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0"/>
                </a:solidFill>
              </a:defRPr>
            </a:pPr>
            <a:r>
              <a:t>Какая копия или производная всё ещё может использовать данные?</a:t>
            </a:r>
          </a:p>
        </p:txBody>
      </p:sp>
      <p:sp>
        <p:nvSpPr>
          <p:cNvPr id="22" name="text-42-628">
            <a:extLst xmlns:a="http://schemas.openxmlformats.org/drawingml/2006/main">
              <a:ext uri="{FF2B5EF4-FFF2-40B4-BE49-F238E27FC236}">
                <a16:creationId xmlns:a16="http://schemas.microsoft.com/office/drawing/2014/main" id="{76941E5F-F414-4B58-88A3-8964494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Гарантия ограничена зарегистрированной инфраструктурой.</a:t>
            </a:r>
          </a:p>
        </p:txBody>
      </p:sp>
      <p:sp>
        <p:nvSpPr>
          <p:cNvPr id="2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BECD2125-91BC-4374-AEBA-4EA45F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9836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2-38">
            <a:extLst xmlns:a="http://schemas.openxmlformats.org/drawingml/2006/main">
              <a:ext uri="{FF2B5EF4-FFF2-40B4-BE49-F238E27FC236}">
                <a16:creationId xmlns:a16="http://schemas.microsoft.com/office/drawing/2014/main" id="{0D7DED18-0C2B-4649-B257-841F1D29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02  Живая проверка</a:t>
            </a:r>
          </a:p>
        </p:txBody>
      </p:sp>
      <p:sp>
        <p:nvSpPr>
          <p:cNvPr id="2" name="live-verdict">
            <a:extLst xmlns:a="http://schemas.openxmlformats.org/drawingml/2006/main">
              <a:ext uri="{FF2B5EF4-FFF2-40B4-BE49-F238E27FC236}">
                <a16:creationId xmlns:a16="http://schemas.microsoft.com/office/drawing/2014/main" id="{8E73165E-0748-47DE-A7DC-4E1D41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66775"/>
            <a:ext cx="4762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3" name="text-42-208">
            <a:extLst xmlns:a="http://schemas.openxmlformats.org/drawingml/2006/main">
              <a:ext uri="{FF2B5EF4-FFF2-40B4-BE49-F238E27FC236}">
                <a16:creationId xmlns:a16="http://schemas.microsoft.com/office/drawing/2014/main" id="{0F617AD4-C6CB-473D-BA90-0E7634C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B63"/>
                </a:solidFill>
              </a:defRPr>
            </a:pPr>
            <a:r>
              <a:t>Кратчайший остаточный путь</a:t>
            </a:r>
          </a:p>
        </p:txBody>
      </p:sp>
      <p:sp>
        <p:nvSpPr>
          <p:cNvPr id="4" name="live-path-band">
            <a:extLst xmlns:a="http://schemas.openxmlformats.org/drawingml/2006/main">
              <a:ext uri="{FF2B5EF4-FFF2-40B4-BE49-F238E27FC236}">
                <a16:creationId xmlns:a16="http://schemas.microsoft.com/office/drawing/2014/main" id="{E6839879-A82B-4E6B-9A15-5D8CF4A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5" name="text-85-332">
            <a:extLst xmlns:a="http://schemas.openxmlformats.org/drawingml/2006/main">
              <a:ext uri="{FF2B5EF4-FFF2-40B4-BE49-F238E27FC236}">
                <a16:creationId xmlns:a16="http://schemas.microsoft.com/office/drawing/2014/main" id="{27B6A5FF-1F5F-486C-8656-171824C1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62300"/>
            <a:ext cx="2000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6" name="text-330-324">
            <a:extLst xmlns:a="http://schemas.openxmlformats.org/drawingml/2006/main">
              <a:ext uri="{FF2B5EF4-FFF2-40B4-BE49-F238E27FC236}">
                <a16:creationId xmlns:a16="http://schemas.microsoft.com/office/drawing/2014/main" id="{1B5F0450-3771-474D-B6ED-59CEBA4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861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text-440-332">
            <a:extLst xmlns:a="http://schemas.openxmlformats.org/drawingml/2006/main">
              <a:ext uri="{FF2B5EF4-FFF2-40B4-BE49-F238E27FC236}">
                <a16:creationId xmlns:a16="http://schemas.microsoft.com/office/drawing/2014/main" id="{38E2B88E-79AE-4B0D-87E9-60FFA8F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623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B0D10"/>
                </a:solidFill>
              </a:defRPr>
            </a:pPr>
            <a:r>
              <a:t>template</a:t>
            </a:r>
          </a:p>
        </p:txBody>
      </p:sp>
      <p:sp>
        <p:nvSpPr>
          <p:cNvPr id="8" name="text-85-470">
            <a:extLst xmlns:a="http://schemas.openxmlformats.org/drawingml/2006/main">
              <a:ext uri="{FF2B5EF4-FFF2-40B4-BE49-F238E27FC236}">
                <a16:creationId xmlns:a16="http://schemas.microsoft.com/office/drawing/2014/main" id="{4E41F52F-B04E-4BC6-ACDB-CEC2AC33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55B63"/>
                </a:solidFill>
              </a:defRPr>
            </a:pPr>
            <a:r>
              <a:t>Основная запись удалена</a:t>
            </a:r>
          </a:p>
        </p:txBody>
      </p:sp>
      <p:sp>
        <p:nvSpPr>
          <p:cNvPr id="9" name="text-430-470">
            <a:extLst xmlns:a="http://schemas.openxmlformats.org/drawingml/2006/main">
              <a:ext uri="{FF2B5EF4-FFF2-40B4-BE49-F238E27FC236}">
                <a16:creationId xmlns:a16="http://schemas.microsoft.com/office/drawing/2014/main" id="{E8AAC4AC-6722-4ADF-AF7E-D3825B7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6B35"/>
                </a:solidFill>
              </a:defRPr>
            </a:pPr>
            <a:r>
              <a:t>Активный шаблон остаётся</a:t>
            </a:r>
          </a:p>
        </p:txBody>
      </p:sp>
      <p:sp>
        <p:nvSpPr>
          <p:cNvPr id="10" name="text-824-104">
            <a:extLst xmlns:a="http://schemas.openxmlformats.org/drawingml/2006/main">
              <a:ext uri="{FF2B5EF4-FFF2-40B4-BE49-F238E27FC236}">
                <a16:creationId xmlns:a16="http://schemas.microsoft.com/office/drawing/2014/main" id="{78A8FEF7-9D28-4011-9764-E32115F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906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0D10"/>
                </a:solidFill>
              </a:defRPr>
            </a:pPr>
            <a:r>
              <a:t>Не скрывает неизвестное</a:t>
            </a:r>
          </a:p>
        </p:txBody>
      </p:sp>
      <p:sp>
        <p:nvSpPr>
          <p:cNvPr id="11" name="text-824-190">
            <a:extLst xmlns:a="http://schemas.openxmlformats.org/drawingml/2006/main">
              <a:ext uri="{FF2B5EF4-FFF2-40B4-BE49-F238E27FC236}">
                <a16:creationId xmlns:a16="http://schemas.microsoft.com/office/drawing/2014/main" id="{6C1F9233-6AC7-4344-9E98-954CCD6F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F5B"/>
                </a:solidFill>
              </a:defRPr>
            </a:pPr>
            <a:r>
              <a:t>COMPLETE</a:t>
            </a:r>
          </a:p>
        </p:txBody>
      </p:sp>
      <p:sp>
        <p:nvSpPr>
          <p:cNvPr id="12" name="text-824-226">
            <a:extLst xmlns:a="http://schemas.openxmlformats.org/drawingml/2006/main">
              <a:ext uri="{FF2B5EF4-FFF2-40B4-BE49-F238E27FC236}">
                <a16:creationId xmlns:a16="http://schemas.microsoft.com/office/drawing/2014/main" id="{87A73241-6CF1-46A5-B184-D5355C4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все пути закрыты</a:t>
            </a:r>
          </a:p>
        </p:txBody>
      </p:sp>
      <p:sp>
        <p:nvSpPr>
          <p:cNvPr id="13" name="text-824-290">
            <a:extLst xmlns:a="http://schemas.openxmlformats.org/drawingml/2006/main">
              <a:ext uri="{FF2B5EF4-FFF2-40B4-BE49-F238E27FC236}">
                <a16:creationId xmlns:a16="http://schemas.microsoft.com/office/drawing/2014/main" id="{128090B1-CA7E-4F74-A99A-47218ED5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14" name="text-824-326">
            <a:extLst xmlns:a="http://schemas.openxmlformats.org/drawingml/2006/main">
              <a:ext uri="{FF2B5EF4-FFF2-40B4-BE49-F238E27FC236}">
                <a16:creationId xmlns:a16="http://schemas.microsoft.com/office/drawing/2014/main" id="{DB057B2B-4DE8-4090-87DC-50900EA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остаток найден</a:t>
            </a:r>
          </a:p>
        </p:txBody>
      </p:sp>
      <p:sp>
        <p:nvSpPr>
          <p:cNvPr id="15" name="text-824-390">
            <a:extLst xmlns:a="http://schemas.openxmlformats.org/drawingml/2006/main">
              <a:ext uri="{FF2B5EF4-FFF2-40B4-BE49-F238E27FC236}">
                <a16:creationId xmlns:a16="http://schemas.microsoft.com/office/drawing/2014/main" id="{9B422F86-928C-417E-A887-B4057D1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0"/>
                </a:solidFill>
              </a:defRPr>
            </a:pPr>
            <a:r>
              <a:t>UNVERIFIED</a:t>
            </a:r>
          </a:p>
        </p:txBody>
      </p:sp>
      <p:sp>
        <p:nvSpPr>
          <p:cNvPr id="16" name="text-824-426">
            <a:extLst xmlns:a="http://schemas.openxmlformats.org/drawingml/2006/main">
              <a:ext uri="{FF2B5EF4-FFF2-40B4-BE49-F238E27FC236}">
                <a16:creationId xmlns:a16="http://schemas.microsoft.com/office/drawing/2014/main" id="{59174965-FB0E-418D-8C96-23E846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доказательств недостаточно</a:t>
            </a:r>
          </a:p>
        </p:txBody>
      </p:sp>
      <p:sp>
        <p:nvSpPr>
          <p:cNvPr id="17" name="text-42-607">
            <a:extLst xmlns:a="http://schemas.openxmlformats.org/drawingml/2006/main">
              <a:ext uri="{FF2B5EF4-FFF2-40B4-BE49-F238E27FC236}">
                <a16:creationId xmlns:a16="http://schemas.microsoft.com/office/drawing/2014/main" id="{F59DA9AD-69C4-4872-9C6F-6DFF1C0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723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0D10"/>
                </a:solidFill>
              </a:defRPr>
            </a:pPr>
            <a:r>
              <a:t>Команда: erasemap showcase --repo-root .</a:t>
            </a:r>
          </a:p>
        </p:txBody>
      </p:sp>
      <p:sp>
        <p:nvSpPr>
          <p:cNvPr id="18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4E7C9E0F-08B0-46EE-9704-480E769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188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03  Метод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0"/>
                </a:solidFill>
              </a:defRPr>
            </a:pPr>
            <a:r>
              <a:t>Один fail-closed контракт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0D10"/>
                </a:solidFill>
              </a:defRPr>
            </a:pPr>
            <a:r>
              <a:t>PCUG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0D10"/>
                </a:solidFill>
              </a:defRPr>
            </a:pPr>
            <a:r>
              <a:t>Физические копии + request-scoped model influence + обязательные verifier-каналы.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0D10"/>
                </a:solidFill>
              </a:defRPr>
            </a:pPr>
            <a:r>
              <a:t>Proof bundle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0D10"/>
                </a:solidFill>
              </a:defRPr>
            </a:pPr>
            <a:r>
              <a:t>Commitments, raw evidence, replay, signature и independently recomputed verdict.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0D10"/>
                </a:solidFill>
              </a:defRPr>
            </a:pPr>
            <a:r>
              <a:t>Exact CDC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0D10"/>
                </a:solidFill>
              </a:defRPr>
            </a:pPr>
            <a:r>
              <a:t>Минимальная по стоимости разрешённая remediation, закрывающая представленные пути.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3"/>
                </a:solidFill>
              </a:defRPr>
            </a:pPr>
            <a:r>
              <a:t>Не отдельный unlearning algorithm — системный слой принятия и проверки решения.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EADD696A-192F-4799-80C7-1E81FED9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04  Зачем PCUG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AD57C52E-A627-4C0E-A7DD-C35974C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B0D10"/>
                </a:solidFill>
              </a:defRPr>
            </a:pPr>
            <a:r>
              <a:t>Node-state audit пропускает взаимодействия</a:t>
            </a:r>
          </a:p>
        </p:txBody>
      </p:sp>
      <p:sp>
        <p:nvSpPr>
          <p:cNvPr id="3" name="stress-chart-frame">
            <a:extLst xmlns:a="http://schemas.openxmlformats.org/drawingml/2006/main">
              <a:ext uri="{FF2B5EF4-FFF2-40B4-BE49-F238E27FC236}">
                <a16:creationId xmlns:a16="http://schemas.microsoft.com/office/drawing/2014/main" id="{F5404C2A-78A5-4B84-9D48-5F0B0F86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62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24-224">
            <a:extLst xmlns:a="http://schemas.openxmlformats.org/drawingml/2006/main">
              <a:ext uri="{FF2B5EF4-FFF2-40B4-BE49-F238E27FC236}">
                <a16:creationId xmlns:a16="http://schemas.microsoft.com/office/drawing/2014/main" id="{858A50F0-65A9-406A-B1C3-295632E0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87F5B"/>
                </a:solidFill>
              </a:defRPr>
            </a:pPr>
            <a:r>
              <a:t>0 / 75</a:t>
            </a:r>
          </a:p>
        </p:txBody>
      </p:sp>
      <p:sp>
        <p:nvSpPr>
          <p:cNvPr id="5" name="text-824-316">
            <a:extLst xmlns:a="http://schemas.openxmlformats.org/drawingml/2006/main">
              <a:ext uri="{FF2B5EF4-FFF2-40B4-BE49-F238E27FC236}">
                <a16:creationId xmlns:a16="http://schemas.microsoft.com/office/drawing/2014/main" id="{45742C1C-A638-42D0-BD4A-643B6CF8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099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0"/>
                </a:solidFill>
              </a:defRPr>
            </a:pPr>
            <a:r>
              <a:t>ложных COMPLETE у PCUG</a:t>
            </a:r>
          </a:p>
        </p:txBody>
      </p:sp>
      <p:sp>
        <p:nvSpPr>
          <p:cNvPr id="6" name="text-824-410">
            <a:extLst xmlns:a="http://schemas.openxmlformats.org/drawingml/2006/main">
              <a:ext uri="{FF2B5EF4-FFF2-40B4-BE49-F238E27FC236}">
                <a16:creationId xmlns:a16="http://schemas.microsoft.com/office/drawing/2014/main" id="{F6F78289-E1E1-4422-97C8-8379DE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6B35"/>
                </a:solidFill>
              </a:defRPr>
            </a:pPr>
            <a:r>
              <a:t>75 / 75</a:t>
            </a:r>
          </a:p>
        </p:txBody>
      </p:sp>
      <p:sp>
        <p:nvSpPr>
          <p:cNvPr id="7" name="text-824-502">
            <a:extLst xmlns:a="http://schemas.openxmlformats.org/drawingml/2006/main">
              <a:ext uri="{FF2B5EF4-FFF2-40B4-BE49-F238E27FC236}">
                <a16:creationId xmlns:a16="http://schemas.microsoft.com/office/drawing/2014/main" id="{5340DAAA-E0C0-4AC4-8844-9488337E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815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0"/>
                </a:solidFill>
              </a:defRPr>
            </a:pPr>
            <a:r>
              <a:t>у node-only typed audit</a:t>
            </a:r>
          </a:p>
        </p:txBody>
      </p:sp>
      <p:sp>
        <p:nvSpPr>
          <p:cNvPr id="8" name="text-824-588">
            <a:extLst xmlns:a="http://schemas.openxmlformats.org/drawingml/2006/main">
              <a:ext uri="{FF2B5EF4-FFF2-40B4-BE49-F238E27FC236}">
                <a16:creationId xmlns:a16="http://schemas.microsoft.com/office/drawing/2014/main" id="{DCBB79CC-5D42-4D56-917B-9378A40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00700"/>
            <a:ext cx="3429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3"/>
                </a:solidFill>
              </a:defRPr>
            </a:pPr>
            <a:r>
              <a:t>Project-authored mechanism stress test — не внешний holdout.</a:t>
            </a:r>
          </a:p>
        </p:txBody>
      </p:sp>
      <p:sp>
        <p:nvSpPr>
          <p:cNvPr id="9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E6BA1C7A-5CCC-43E0-8498-73C0EC1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05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809625" y="2238375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b5b09cc759422a"/>
          </a:graphicData>
        </a:graphic>
      </p:graphicFrame>
    </p:spTree>
    <p:extLst>
      <p:ext uri="{BB962C8B-B14F-4D97-AF65-F5344CB8AC3E}">
        <p14:creationId xmlns:p14="http://schemas.microsoft.com/office/powerpoint/2010/main" val="160735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42-38">
            <a:extLst xmlns:a="http://schemas.openxmlformats.org/drawingml/2006/main">
              <a:ext uri="{FF2B5EF4-FFF2-40B4-BE49-F238E27FC236}">
                <a16:creationId xmlns:a16="http://schemas.microsoft.com/office/drawing/2014/main" id="{47F52038-FD36-43B8-AE96-32D11D2F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05  Формальная часть</a:t>
            </a:r>
          </a:p>
        </p:txBody>
      </p:sp>
      <p:sp>
        <p:nvSpPr>
          <p:cNvPr id="2" name="text-42-104">
            <a:extLst xmlns:a="http://schemas.openxmlformats.org/drawingml/2006/main">
              <a:ext uri="{FF2B5EF4-FFF2-40B4-BE49-F238E27FC236}">
                <a16:creationId xmlns:a16="http://schemas.microsoft.com/office/drawing/2014/main" id="{3FFC32B1-F7CF-4243-A4D3-BAF6BF9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657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0B0D10"/>
                </a:solidFill>
              </a:defRPr>
            </a:pPr>
            <a:r>
              <a:t>3 072 / 3 072</a:t>
            </a:r>
          </a:p>
        </p:txBody>
      </p:sp>
      <p:sp>
        <p:nvSpPr>
          <p:cNvPr id="3" name="text-42-226">
            <a:extLst xmlns:a="http://schemas.openxmlformats.org/drawingml/2006/main">
              <a:ext uri="{FF2B5EF4-FFF2-40B4-BE49-F238E27FC236}">
                <a16:creationId xmlns:a16="http://schemas.microsoft.com/office/drawing/2014/main" id="{B6FFA2C5-6AB4-45B2-A300-A084BEA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685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55B63"/>
                </a:solidFill>
              </a:defRPr>
            </a:pPr>
            <a:r>
              <a:t>production exact CDC = exhaustive oracle</a:t>
            </a:r>
          </a:p>
        </p:txBody>
      </p:sp>
      <p:sp>
        <p:nvSpPr>
          <p:cNvPr id="4" name="formal-soundness">
            <a:extLst xmlns:a="http://schemas.openxmlformats.org/drawingml/2006/main">
              <a:ext uri="{FF2B5EF4-FFF2-40B4-BE49-F238E27FC236}">
                <a16:creationId xmlns:a16="http://schemas.microsoft.com/office/drawing/2014/main" id="{5C74AB40-C941-4C76-AB47-5DACAA7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formal-optimality">
            <a:extLst xmlns:a="http://schemas.openxmlformats.org/drawingml/2006/main">
              <a:ext uri="{FF2B5EF4-FFF2-40B4-BE49-F238E27FC236}">
                <a16:creationId xmlns:a16="http://schemas.microsoft.com/office/drawing/2014/main" id="{C350FFB6-32F3-4520-BC2A-08C1859A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formal-boundary">
            <a:extLst xmlns:a="http://schemas.openxmlformats.org/drawingml/2006/main">
              <a:ext uri="{FF2B5EF4-FFF2-40B4-BE49-F238E27FC236}">
                <a16:creationId xmlns:a16="http://schemas.microsoft.com/office/drawing/2014/main" id="{54090CA8-4865-4FEA-8D1B-D56C0FA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text-70-372">
            <a:extLst xmlns:a="http://schemas.openxmlformats.org/drawingml/2006/main">
              <a:ext uri="{FF2B5EF4-FFF2-40B4-BE49-F238E27FC236}">
                <a16:creationId xmlns:a16="http://schemas.microsoft.com/office/drawing/2014/main" id="{F2777B8A-BC9F-471E-9D79-E5C67A9E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0D10"/>
                </a:solidFill>
              </a:defRPr>
            </a:pPr>
            <a:r>
              <a:t>Soundness</a:t>
            </a:r>
          </a:p>
        </p:txBody>
      </p:sp>
      <p:sp>
        <p:nvSpPr>
          <p:cNvPr id="8" name="text-70-432">
            <a:extLst xmlns:a="http://schemas.openxmlformats.org/drawingml/2006/main">
              <a:ext uri="{FF2B5EF4-FFF2-40B4-BE49-F238E27FC236}">
                <a16:creationId xmlns:a16="http://schemas.microsoft.com/office/drawing/2014/main" id="{955EA2F1-4893-4FE7-9C30-FEFF15A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0D10"/>
                </a:solidFill>
              </a:defRPr>
            </a:pPr>
            <a:r>
              <a:t>Replayed COMPLETE закрывает представленные реальные residual paths и mandatory channels.</a:t>
            </a:r>
          </a:p>
        </p:txBody>
      </p:sp>
      <p:sp>
        <p:nvSpPr>
          <p:cNvPr id="9" name="text-485-372">
            <a:extLst xmlns:a="http://schemas.openxmlformats.org/drawingml/2006/main">
              <a:ext uri="{FF2B5EF4-FFF2-40B4-BE49-F238E27FC236}">
                <a16:creationId xmlns:a16="http://schemas.microsoft.com/office/drawing/2014/main" id="{6A5E3E7A-78A8-4EBD-9C68-FCAD9A7C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0D10"/>
                </a:solidFill>
              </a:defRPr>
            </a:pPr>
            <a:r>
              <a:t>Optimality</a:t>
            </a:r>
          </a:p>
        </p:txBody>
      </p:sp>
      <p:sp>
        <p:nvSpPr>
          <p:cNvPr id="10" name="text-485-432">
            <a:extLst xmlns:a="http://schemas.openxmlformats.org/drawingml/2006/main">
              <a:ext uri="{FF2B5EF4-FFF2-40B4-BE49-F238E27FC236}">
                <a16:creationId xmlns:a16="http://schemas.microsoft.com/office/drawing/2014/main" id="{FFFEBFE3-28DD-419E-99B1-4C7807F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0D10"/>
                </a:solidFill>
              </a:defRPr>
            </a:pPr>
            <a:r>
              <a:t>Finite exact selector возвращает feasible candidate с глобально минимальной стоимостью.</a:t>
            </a:r>
          </a:p>
        </p:txBody>
      </p:sp>
      <p:sp>
        <p:nvSpPr>
          <p:cNvPr id="11" name="text-900-372">
            <a:extLst xmlns:a="http://schemas.openxmlformats.org/drawingml/2006/main">
              <a:ext uri="{FF2B5EF4-FFF2-40B4-BE49-F238E27FC236}">
                <a16:creationId xmlns:a16="http://schemas.microsoft.com/office/drawing/2014/main" id="{3FD10252-1EF6-4400-BCE5-2F2F135B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35"/>
                </a:solidFill>
              </a:defRPr>
            </a:pPr>
            <a:r>
              <a:t>Boundary</a:t>
            </a:r>
          </a:p>
        </p:txBody>
      </p:sp>
      <p:sp>
        <p:nvSpPr>
          <p:cNvPr id="12" name="text-900-432">
            <a:extLst xmlns:a="http://schemas.openxmlformats.org/drawingml/2006/main">
              <a:ext uri="{FF2B5EF4-FFF2-40B4-BE49-F238E27FC236}">
                <a16:creationId xmlns:a16="http://schemas.microsoft.com/office/drawing/2014/main" id="{1D2398CD-75BF-433D-9437-40C2D38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0D10"/>
                </a:solidFill>
              </a:defRPr>
            </a:pPr>
            <a:r>
              <a:t>Требуются complete registered topology и sound local verifiers.</a:t>
            </a:r>
          </a:p>
        </p:txBody>
      </p:sp>
      <p:sp>
        <p:nvSpPr>
          <p:cNvPr id="13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59A0A9C-21AF-4CFD-B3D6-8A25593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B63"/>
                </a:solidFill>
              </a:defRPr>
            </a:pPr>
            <a:r>
              <a:t>Lean 4 · no sorry/admit · axiom allowlist audited</a:t>
            </a:r>
          </a:p>
        </p:txBody>
      </p:sp>
      <p:sp>
        <p:nvSpPr>
          <p:cNvPr id="14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EE802AA7-CA8A-4282-AEF2-D778B370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06  Real-process experiment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B0D10"/>
                </a:solidFill>
              </a:defRPr>
            </a:pPr>
            <a:r>
              <a:t>Меньше работы — тот же verified COMPLETE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6B35"/>
                </a:solidFill>
              </a:defRPr>
            </a:pPr>
            <a:r>
              <a:t>17.64×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B63"/>
                </a:solidFill>
              </a:defRPr>
            </a:pPr>
            <a:r>
              <a:t>speedup; 95% CI 16.39–18.98×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B0D10"/>
                </a:solidFill>
              </a:defRPr>
            </a:pPr>
            <a:r>
              <a:t>94.62%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B63"/>
                </a:solidFill>
              </a:defRPr>
            </a:pPr>
            <a:r>
              <a:t>меньше declared application/filesystem bytes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0D10"/>
                </a:solidFill>
              </a:defRPr>
            </a:pPr>
            <a:r>
              <a:t>20 paired holdout seeds · 100% completion · 0 retained-data loss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07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e9ffa63a29446e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42-38">
            <a:extLst xmlns:a="http://schemas.openxmlformats.org/drawingml/2006/main">
              <a:ext uri="{FF2B5EF4-FFF2-40B4-BE49-F238E27FC236}">
                <a16:creationId xmlns:a16="http://schemas.microsoft.com/office/drawing/2014/main" id="{B03E683F-658A-4460-BBF5-B8ED30E7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07  Model layer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6C975742-700B-44DB-9F8B-0733D49B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9525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B0D10"/>
                </a:solidFill>
              </a:defRPr>
            </a:pPr>
            <a:r>
              <a:t>Негативный результат не был скрыт</a:t>
            </a:r>
          </a:p>
        </p:txBody>
      </p:sp>
      <p:sp>
        <p:nvSpPr>
          <p:cNvPr id="3" name="ml-image-frame">
            <a:extLst xmlns:a="http://schemas.openxmlformats.org/drawingml/2006/main">
              <a:ext uri="{FF2B5EF4-FFF2-40B4-BE49-F238E27FC236}">
                <a16:creationId xmlns:a16="http://schemas.microsoft.com/office/drawing/2014/main" id="{2D60B0CB-6C09-4F57-815E-D41373A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6762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00-205">
            <a:extLst xmlns:a="http://schemas.openxmlformats.org/drawingml/2006/main">
              <a:ext uri="{FF2B5EF4-FFF2-40B4-BE49-F238E27FC236}">
                <a16:creationId xmlns:a16="http://schemas.microsoft.com/office/drawing/2014/main" id="{764999E0-C742-4374-BC99-5C5239E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0D10"/>
                </a:solidFill>
              </a:defRPr>
            </a:pPr>
            <a:r>
              <a:t>MUFAC v3</a:t>
            </a:r>
          </a:p>
        </p:txBody>
      </p:sp>
      <p:sp>
        <p:nvSpPr>
          <p:cNvPr id="5" name="text-800-258">
            <a:extLst xmlns:a="http://schemas.openxmlformats.org/drawingml/2006/main">
              <a:ext uri="{FF2B5EF4-FFF2-40B4-BE49-F238E27FC236}">
                <a16:creationId xmlns:a16="http://schemas.microsoft.com/office/drawing/2014/main" id="{62DD916F-25C4-4B9E-9CDD-F436B853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381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6B35"/>
                </a:solidFill>
              </a:defRPr>
            </a:pPr>
            <a:r>
              <a:t>FAIL</a:t>
            </a:r>
          </a:p>
        </p:txBody>
      </p:sp>
      <p:sp>
        <p:nvSpPr>
          <p:cNvPr id="6" name="text-800-326">
            <a:extLst xmlns:a="http://schemas.openxmlformats.org/drawingml/2006/main">
              <a:ext uri="{FF2B5EF4-FFF2-40B4-BE49-F238E27FC236}">
                <a16:creationId xmlns:a16="http://schemas.microsoft.com/office/drawing/2014/main" id="{41D76DBC-0EC4-4498-A43A-3818374E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3"/>
                </a:solidFill>
              </a:defRPr>
            </a:pPr>
            <a:r>
              <a:t>retained utility gate</a:t>
            </a:r>
          </a:p>
        </p:txBody>
      </p:sp>
      <p:sp>
        <p:nvSpPr>
          <p:cNvPr id="7" name="text-800-406">
            <a:extLst xmlns:a="http://schemas.openxmlformats.org/drawingml/2006/main">
              <a:ext uri="{FF2B5EF4-FFF2-40B4-BE49-F238E27FC236}">
                <a16:creationId xmlns:a16="http://schemas.microsoft.com/office/drawing/2014/main" id="{444358FC-EB81-4FCA-B465-60BEF73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0D10"/>
                </a:solidFill>
              </a:defRPr>
            </a:pPr>
            <a:r>
              <a:t>Adaptive v3.2</a:t>
            </a:r>
          </a:p>
        </p:txBody>
      </p:sp>
      <p:sp>
        <p:nvSpPr>
          <p:cNvPr id="8" name="text-800-459">
            <a:extLst xmlns:a="http://schemas.openxmlformats.org/drawingml/2006/main">
              <a:ext uri="{FF2B5EF4-FFF2-40B4-BE49-F238E27FC236}">
                <a16:creationId xmlns:a16="http://schemas.microsoft.com/office/drawing/2014/main" id="{2272A3D5-ACE3-4036-BAFB-97BFD3D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71975"/>
            <a:ext cx="3429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87F5B"/>
                </a:solidFill>
              </a:defRPr>
            </a:pPr>
            <a:r>
              <a:t>PASS · 1.59×</a:t>
            </a:r>
          </a:p>
        </p:txBody>
      </p:sp>
      <p:sp>
        <p:nvSpPr>
          <p:cNvPr id="9" name="text-800-540">
            <a:extLst xmlns:a="http://schemas.openxmlformats.org/drawingml/2006/main">
              <a:ext uri="{FF2B5EF4-FFF2-40B4-BE49-F238E27FC236}">
                <a16:creationId xmlns:a16="http://schemas.microsoft.com/office/drawing/2014/main" id="{2EB57D6D-D9FC-4780-8B5F-7B43819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7147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Post-exposure method improvement, не независимое подтверждение.</a:t>
            </a:r>
          </a:p>
        </p:txBody>
      </p:sp>
      <p:sp>
        <p:nvSpPr>
          <p:cNvPr id="10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2684AD69-9CC6-440F-90C9-FE32F95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08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c3beaf0d94010"/>
          <a:stretch xmlns:a="http://schemas.openxmlformats.org/drawingml/2006/main"/>
        </p:blipFill>
        <p:spPr>
          <a:xfrm xmlns:a="http://schemas.openxmlformats.org/drawingml/2006/main">
            <a:off x="628650" y="2376805"/>
            <a:ext cx="6305550" cy="29425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93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88149F28-389D-4D06-9718-A82BEBB3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08  Новизна без преувеличения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BE6D6434-59FB-440F-980D-9D9148C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B0D10"/>
                </a:solidFill>
              </a:defRPr>
            </a:pPr>
            <a:r>
              <a:t>Композиция — вклад. Компоненты — prior art.</a:t>
            </a:r>
          </a:p>
        </p:txBody>
      </p:sp>
      <p:sp>
        <p:nvSpPr>
          <p:cNvPr id="3" name="novel-known">
            <a:extLst xmlns:a="http://schemas.openxmlformats.org/drawingml/2006/main">
              <a:ext uri="{FF2B5EF4-FFF2-40B4-BE49-F238E27FC236}">
                <a16:creationId xmlns:a16="http://schemas.microsoft.com/office/drawing/2014/main" id="{6CB3F883-8645-4CCF-8509-0192D3B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novel-contribution">
            <a:extLst xmlns:a="http://schemas.openxmlformats.org/drawingml/2006/main">
              <a:ext uri="{FF2B5EF4-FFF2-40B4-BE49-F238E27FC236}">
                <a16:creationId xmlns:a16="http://schemas.microsoft.com/office/drawing/2014/main" id="{0F183184-76A7-4A8B-82E1-ADD6C44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novel-no-claim">
            <a:extLst xmlns:a="http://schemas.openxmlformats.org/drawingml/2006/main">
              <a:ext uri="{FF2B5EF4-FFF2-40B4-BE49-F238E27FC236}">
                <a16:creationId xmlns:a16="http://schemas.microsoft.com/office/drawing/2014/main" id="{421AC173-16AB-4CD8-8662-E7865CC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4">
            <a:extLst xmlns:a="http://schemas.openxmlformats.org/drawingml/2006/main">
              <a:ext uri="{FF2B5EF4-FFF2-40B4-BE49-F238E27FC236}">
                <a16:creationId xmlns:a16="http://schemas.microsoft.com/office/drawing/2014/main" id="{53B2EB09-807B-4592-850A-C8BD7C8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t>Уже существовало</a:t>
            </a:r>
          </a:p>
        </p:txBody>
      </p:sp>
      <p:sp>
        <p:nvSpPr>
          <p:cNvPr id="7" name="text-69-306">
            <a:extLst xmlns:a="http://schemas.openxmlformats.org/drawingml/2006/main">
              <a:ext uri="{FF2B5EF4-FFF2-40B4-BE49-F238E27FC236}">
                <a16:creationId xmlns:a16="http://schemas.microsoft.com/office/drawing/2014/main" id="{7E3BDE59-9D49-4288-AE30-F43FCFF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14650"/>
            <a:ext cx="2714625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0D10"/>
                </a:solidFill>
              </a:defRPr>
            </a:pPr>
            <a:r>
              <a:t>Data lineage
Machine unlearning
Proof of deletion
Min-cut / set cover
Signed provenance</a:t>
            </a:r>
          </a:p>
        </p:txBody>
      </p:sp>
      <p:sp>
        <p:nvSpPr>
          <p:cNvPr id="8" name="text-489-234">
            <a:extLst xmlns:a="http://schemas.openxmlformats.org/drawingml/2006/main">
              <a:ext uri="{FF2B5EF4-FFF2-40B4-BE49-F238E27FC236}">
                <a16:creationId xmlns:a16="http://schemas.microsoft.com/office/drawing/2014/main" id="{CF9CC74A-DC0A-4E7D-9EA5-5B88C37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35"/>
                </a:solidFill>
              </a:defRPr>
            </a:pPr>
            <a:r>
              <a:t>Узкий вклад</a:t>
            </a:r>
          </a:p>
        </p:txBody>
      </p:sp>
      <p:sp>
        <p:nvSpPr>
          <p:cNvPr id="9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60FE33EA-F371-4DE4-963E-62261E17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14625" cy="2305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D10"/>
                </a:solidFill>
              </a:defRPr>
            </a:pPr>
            <a:r>
              <a:t>Единый subject-scoped fail-closed residual-path contract: physical artifacts + model influence + mandatory channels + replay + counterexample + minimum CDC.</a:t>
            </a:r>
          </a:p>
        </p:txBody>
      </p:sp>
      <p:sp>
        <p:nvSpPr>
          <p:cNvPr id="10" name="text-909-234">
            <a:extLst xmlns:a="http://schemas.openxmlformats.org/drawingml/2006/main">
              <a:ext uri="{FF2B5EF4-FFF2-40B4-BE49-F238E27FC236}">
                <a16:creationId xmlns:a16="http://schemas.microsoft.com/office/drawing/2014/main" id="{6A719E17-299D-4604-A94A-7D1B99FC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t>Не заявляется</a:t>
            </a:r>
          </a:p>
        </p:txBody>
      </p:sp>
      <p:sp>
        <p:nvSpPr>
          <p:cNvPr id="11" name="text-909-306">
            <a:extLst xmlns:a="http://schemas.openxmlformats.org/drawingml/2006/main">
              <a:ext uri="{FF2B5EF4-FFF2-40B4-BE49-F238E27FC236}">
                <a16:creationId xmlns:a16="http://schemas.microsoft.com/office/drawing/2014/main" id="{2B397DEB-3D92-40C6-BD80-7A6966F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14650"/>
            <a:ext cx="2714625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0D10"/>
                </a:solidFill>
              </a:defRPr>
            </a:pPr>
            <a:r>
              <a:t>«Первый proof of unlearning»
Глобальное физическое стирание
Внедрение FaceID/eGov
Юридическая compliance guarantee</a:t>
            </a:r>
          </a:p>
        </p:txBody>
      </p:sp>
      <p:sp>
        <p:nvSpPr>
          <p:cNvPr id="12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8CD57D6-2C17-458D-B599-633D0A28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858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3"/>
                </a:solidFill>
              </a:defRPr>
            </a:pPr>
            <a:r>
              <a:t>Добавлен близкий патент US12456052B2: staged unlearning DAG + cryptographic verification + deployment checks.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B8861551-D27A-4601-8815-837B0AB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77059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096D2445-227C-4447-8399-FA96923F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90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09  Доказательная лестница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19E14A2B-DF73-4819-96D1-9B256F98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287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B0D10"/>
                </a:solidFill>
              </a:defRPr>
            </a:pPr>
            <a:r>
              <a:t>Readiness нельзя выдавать за independence</a:t>
            </a:r>
          </a:p>
        </p:txBody>
      </p:sp>
      <p:sp>
        <p:nvSpPr>
          <p:cNvPr id="3" name="evidence-current">
            <a:extLst xmlns:a="http://schemas.openxmlformats.org/drawingml/2006/main">
              <a:ext uri="{FF2B5EF4-FFF2-40B4-BE49-F238E27FC236}">
                <a16:creationId xmlns:a16="http://schemas.microsoft.com/office/drawing/2014/main" id="{4522758C-10EC-47AA-9A7F-E7FA866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38137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evidence-next">
            <a:extLst xmlns:a="http://schemas.openxmlformats.org/drawingml/2006/main">
              <a:ext uri="{FF2B5EF4-FFF2-40B4-BE49-F238E27FC236}">
                <a16:creationId xmlns:a16="http://schemas.microsoft.com/office/drawing/2014/main" id="{1A91BD7B-A987-424E-8056-4C3A1BC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evidence-org">
            <a:extLst xmlns:a="http://schemas.openxmlformats.org/drawingml/2006/main">
              <a:ext uri="{FF2B5EF4-FFF2-40B4-BE49-F238E27FC236}">
                <a16:creationId xmlns:a16="http://schemas.microsoft.com/office/drawing/2014/main" id="{03EF12D5-9E7E-43A9-8496-B2924530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200150"/>
            <a:ext cx="33813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54">
            <a:extLst xmlns:a="http://schemas.openxmlformats.org/drawingml/2006/main">
              <a:ext uri="{FF2B5EF4-FFF2-40B4-BE49-F238E27FC236}">
                <a16:creationId xmlns:a16="http://schemas.microsoft.com/office/drawing/2014/main" id="{FEBA4D97-4910-4EC8-9008-1CC8E344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0D10"/>
                </a:solidFill>
              </a:defRPr>
            </a:pPr>
            <a:r>
              <a:t>7.8</a:t>
            </a:r>
          </a:p>
        </p:txBody>
      </p:sp>
      <p:sp>
        <p:nvSpPr>
          <p:cNvPr id="7" name="text-69-354">
            <a:extLst xmlns:a="http://schemas.openxmlformats.org/drawingml/2006/main">
              <a:ext uri="{FF2B5EF4-FFF2-40B4-BE49-F238E27FC236}">
                <a16:creationId xmlns:a16="http://schemas.microsoft.com/office/drawing/2014/main" id="{B2C5A188-5587-4A4A-927A-A54D89F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71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69-418">
            <a:extLst xmlns:a="http://schemas.openxmlformats.org/drawingml/2006/main">
              <a:ext uri="{FF2B5EF4-FFF2-40B4-BE49-F238E27FC236}">
                <a16:creationId xmlns:a16="http://schemas.microsoft.com/office/drawing/2014/main" id="{EAA35A75-54EE-4FE0-93D1-1DB9FDE2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2714625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0D10"/>
                </a:solidFill>
              </a:defRPr>
            </a:pPr>
            <a:r>
              <a:t>Протокол, подпись, CI. Внешнего submission пока нет.</a:t>
            </a:r>
          </a:p>
        </p:txBody>
      </p:sp>
      <p:sp>
        <p:nvSpPr>
          <p:cNvPr id="9" name="text-489-206">
            <a:extLst xmlns:a="http://schemas.openxmlformats.org/drawingml/2006/main">
              <a:ext uri="{FF2B5EF4-FFF2-40B4-BE49-F238E27FC236}">
                <a16:creationId xmlns:a16="http://schemas.microsoft.com/office/drawing/2014/main" id="{B5431607-40D5-4ADF-8839-50FDE7F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621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6B35"/>
                </a:solidFill>
              </a:defRPr>
            </a:pPr>
            <a:r>
              <a:t>9.5</a:t>
            </a:r>
          </a:p>
        </p:txBody>
      </p:sp>
      <p:sp>
        <p:nvSpPr>
          <p:cNvPr id="10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0AAA1054-1482-4898-9013-7CEC14E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t>Один external PASS</a:t>
            </a:r>
          </a:p>
        </p:txBody>
      </p:sp>
      <p:sp>
        <p:nvSpPr>
          <p:cNvPr id="11" name="text-489-370">
            <a:extLst xmlns:a="http://schemas.openxmlformats.org/drawingml/2006/main">
              <a:ext uri="{FF2B5EF4-FFF2-40B4-BE49-F238E27FC236}">
                <a16:creationId xmlns:a16="http://schemas.microsoft.com/office/drawing/2014/main" id="{6612D925-5A26-4E5F-AD81-B792370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0D10"/>
                </a:solidFill>
              </a:defRPr>
            </a:pPr>
            <a:r>
              <a:t>≥4 independently authored families, ≥120 cases, one-shot freeze, reveal, provenance, signature.</a:t>
            </a:r>
          </a:p>
        </p:txBody>
      </p:sp>
      <p:sp>
        <p:nvSpPr>
          <p:cNvPr id="12" name="text-909-158">
            <a:extLst xmlns:a="http://schemas.openxmlformats.org/drawingml/2006/main">
              <a:ext uri="{FF2B5EF4-FFF2-40B4-BE49-F238E27FC236}">
                <a16:creationId xmlns:a16="http://schemas.microsoft.com/office/drawing/2014/main" id="{E6887C07-1C69-4285-8D09-01C9C9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5049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0D10"/>
                </a:solidFill>
              </a:defRPr>
            </a:pPr>
            <a:r>
              <a:t>9.8</a:t>
            </a:r>
          </a:p>
        </p:txBody>
      </p:sp>
      <p:sp>
        <p:nvSpPr>
          <p:cNvPr id="13" name="text-909-258">
            <a:extLst xmlns:a="http://schemas.openxmlformats.org/drawingml/2006/main">
              <a:ext uri="{FF2B5EF4-FFF2-40B4-BE49-F238E27FC236}">
                <a16:creationId xmlns:a16="http://schemas.microsoft.com/office/drawing/2014/main" id="{CC51D3AE-A8A3-47B0-93A7-F47E75A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4574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0D10"/>
                </a:solidFill>
              </a:defRPr>
            </a:pPr>
            <a:r>
              <a:t>Репликация</a:t>
            </a:r>
          </a:p>
        </p:txBody>
      </p:sp>
      <p:sp>
        <p:nvSpPr>
          <p:cNvPr id="14" name="text-909-322">
            <a:extLst xmlns:a="http://schemas.openxmlformats.org/drawingml/2006/main">
              <a:ext uri="{FF2B5EF4-FFF2-40B4-BE49-F238E27FC236}">
                <a16:creationId xmlns:a16="http://schemas.microsoft.com/office/drawing/2014/main" id="{BD2231AD-8BC9-45FD-9C19-8F3F590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670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0D10"/>
                </a:solidFill>
              </a:defRPr>
            </a:pPr>
            <a:r>
              <a:t>Два независимых evaluator или одна authorized organization на materially different systems.</a:t>
            </a:r>
          </a:p>
        </p:txBody>
      </p:sp>
      <p:sp>
        <p:nvSpPr>
          <p:cNvPr id="15" name="text-42-625">
            <a:extLst xmlns:a="http://schemas.openxmlformats.org/drawingml/2006/main">
              <a:ext uri="{FF2B5EF4-FFF2-40B4-BE49-F238E27FC236}">
                <a16:creationId xmlns:a16="http://schemas.microsoft.com/office/drawing/2014/main" id="{9E1F4E86-6ACB-42E1-A881-42F5336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t>Новые внутренние тесты не двигают 7.8.</a:t>
            </a:r>
          </a:p>
        </p:txBody>
      </p:sp>
      <p:sp>
        <p:nvSpPr>
          <p:cNvPr id="16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330B4F0-6E7D-4086-B860-39A5CC3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2920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41BD4B4C-46C1-4BDC-AFF3-8DEEE76E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text-42-108">
            <a:extLst xmlns:a="http://schemas.openxmlformats.org/drawingml/2006/main">
              <a:ext uri="{FF2B5EF4-FFF2-40B4-BE49-F238E27FC236}">
                <a16:creationId xmlns:a16="http://schemas.microsoft.com/office/drawing/2014/main" id="{B1D005B7-0087-421B-8F8D-3A18FC64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B0D10"/>
                </a:solidFill>
              </a:defRPr>
            </a:pPr>
            <a:r>
              <a:t>Не верить слову «удалено».
Проверять путь.</a:t>
            </a:r>
          </a:p>
        </p:txBody>
      </p:sp>
      <p:sp>
        <p:nvSpPr>
          <p:cNvPr id="3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59CB3E5E-BF79-4238-8FFD-701D47B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losing-a">
            <a:extLst xmlns:a="http://schemas.openxmlformats.org/drawingml/2006/main">
              <a:ext uri="{FF2B5EF4-FFF2-40B4-BE49-F238E27FC236}">
                <a16:creationId xmlns:a16="http://schemas.microsoft.com/office/drawing/2014/main" id="{06BD7832-8D47-4326-94B6-2F83CC4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5" name="closing-b">
            <a:extLst xmlns:a="http://schemas.openxmlformats.org/drawingml/2006/main">
              <a:ext uri="{FF2B5EF4-FFF2-40B4-BE49-F238E27FC236}">
                <a16:creationId xmlns:a16="http://schemas.microsoft.com/office/drawing/2014/main" id="{DD2342EE-35D1-40FF-9536-104AF47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6" name="closing-c">
            <a:extLst xmlns:a="http://schemas.openxmlformats.org/drawingml/2006/main">
              <a:ext uri="{FF2B5EF4-FFF2-40B4-BE49-F238E27FC236}">
                <a16:creationId xmlns:a16="http://schemas.microsoft.com/office/drawing/2014/main" id="{70F276BE-00EA-400E-A96D-1717456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-42-510">
            <a:extLst xmlns:a="http://schemas.openxmlformats.org/drawingml/2006/main">
              <a:ext uri="{FF2B5EF4-FFF2-40B4-BE49-F238E27FC236}">
                <a16:creationId xmlns:a16="http://schemas.microsoft.com/office/drawing/2014/main" id="{C92543EA-8D79-467D-9BA3-9039A2C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42-560">
            <a:extLst xmlns:a="http://schemas.openxmlformats.org/drawingml/2006/main">
              <a:ext uri="{FF2B5EF4-FFF2-40B4-BE49-F238E27FC236}">
                <a16:creationId xmlns:a16="http://schemas.microsoft.com/office/drawing/2014/main" id="{AB50936D-BACD-42E2-8E01-8F167A1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3143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0D10"/>
                </a:solidFill>
              </a:defRPr>
            </a:pPr>
            <a:r>
              <a:t>Formal + measured systems + reproducible jury demo</a:t>
            </a:r>
          </a:p>
        </p:txBody>
      </p:sp>
      <p:sp>
        <p:nvSpPr>
          <p:cNvPr id="9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A0361ED0-BAA0-4B0C-854E-CDC2812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3333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0D10"/>
                </a:solidFill>
              </a:defRPr>
            </a:pPr>
            <a:r>
              <a:t>Следующий результат</a:t>
            </a:r>
          </a:p>
        </p:txBody>
      </p:sp>
      <p:sp>
        <p:nvSpPr>
          <p:cNvPr id="10" name="text-452-560">
            <a:extLst xmlns:a="http://schemas.openxmlformats.org/drawingml/2006/main">
              <a:ext uri="{FF2B5EF4-FFF2-40B4-BE49-F238E27FC236}">
                <a16:creationId xmlns:a16="http://schemas.microsoft.com/office/drawing/2014/main" id="{EB730CB5-C3C2-4A55-AEBB-CAE95B4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0D10"/>
                </a:solidFill>
              </a:defRPr>
            </a:pPr>
            <a:r>
              <a:t>Независимый hidden challenge без изменения алгоритма</a:t>
            </a:r>
          </a:p>
        </p:txBody>
      </p:sp>
      <p:sp>
        <p:nvSpPr>
          <p:cNvPr id="11" name="text-862-510">
            <a:extLst xmlns:a="http://schemas.openxmlformats.org/drawingml/2006/main">
              <a:ext uri="{FF2B5EF4-FFF2-40B4-BE49-F238E27FC236}">
                <a16:creationId xmlns:a16="http://schemas.microsoft.com/office/drawing/2014/main" id="{5F39B2F2-2D03-4BAC-8B93-7634026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6B35"/>
                </a:solidFill>
              </a:defRPr>
            </a:pPr>
            <a:r>
              <a:t>Цель</a:t>
            </a:r>
          </a:p>
        </p:txBody>
      </p:sp>
      <p:sp>
        <p:nvSpPr>
          <p:cNvPr id="12" name="text-862-560">
            <a:extLst xmlns:a="http://schemas.openxmlformats.org/drawingml/2006/main">
              <a:ext uri="{FF2B5EF4-FFF2-40B4-BE49-F238E27FC236}">
                <a16:creationId xmlns:a16="http://schemas.microsoft.com/office/drawing/2014/main" id="{2204460B-51AE-49A8-9C0C-F9AAE8CE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0D10"/>
                </a:solidFill>
              </a:defRPr>
            </a:pPr>
            <a:r>
              <a:t>Доказать COMPLETE на чужих скрытых системах — или честно показать failure.</a:t>
            </a:r>
          </a:p>
        </p:txBody>
      </p:sp>
      <p:sp>
        <p:nvSpPr>
          <p:cNvPr id="1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2BF76438-7308-4827-A3A9-47044D19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B63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451162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2026-08-22T10:48:32.0840000Z</dcterms:created>
  <dcterms:modified xsi:type="dcterms:W3CDTF">2026-08-22T10:48:32.0850000Z</dcterms:modified>
</coreProperties>
</file>