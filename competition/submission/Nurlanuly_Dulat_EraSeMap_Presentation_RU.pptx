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f75eab461c4b27" /><Relationship Type="http://schemas.openxmlformats.org/officeDocument/2006/relationships/extended-properties" Target="/docProps/app.xml" Id="Re38a53722e1348d0" /><Relationship Type="http://schemas.openxmlformats.org/officeDocument/2006/relationships/officeDocument" Target="/ppt/presentation.xml" Id="Rd2fd4aa08a654d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7d28921cd741fe"/>
  </p:sldMasterIdLst>
  <p:notesMasterIdLst>
    <p:notesMasterId xmlns:r="http://schemas.openxmlformats.org/officeDocument/2006/relationships" r:id="R7e1984f1e44544c9"/>
  </p:notesMasterIdLst>
  <p:sldIdLst>
    <p:sldId xmlns:r="http://schemas.openxmlformats.org/officeDocument/2006/relationships" id="256" r:id="Re754d99599144b40"/>
    <p:sldId xmlns:r="http://schemas.openxmlformats.org/officeDocument/2006/relationships" id="257" r:id="R3453b43815434c05"/>
    <p:sldId xmlns:r="http://schemas.openxmlformats.org/officeDocument/2006/relationships" id="258" r:id="R6fce159c920b417c"/>
    <p:sldId xmlns:r="http://schemas.openxmlformats.org/officeDocument/2006/relationships" id="259" r:id="Rd17ebceb6aeb4d5c"/>
    <p:sldId xmlns:r="http://schemas.openxmlformats.org/officeDocument/2006/relationships" id="260" r:id="R3158f07c6b6a4c2c"/>
    <p:sldId xmlns:r="http://schemas.openxmlformats.org/officeDocument/2006/relationships" id="261" r:id="Re1daf6d331cf468f"/>
    <p:sldId xmlns:r="http://schemas.openxmlformats.org/officeDocument/2006/relationships" id="262" r:id="R5c1e14a9700d44f0"/>
    <p:sldId xmlns:r="http://schemas.openxmlformats.org/officeDocument/2006/relationships" id="263" r:id="R4d1c4827789143d3"/>
    <p:sldId xmlns:r="http://schemas.openxmlformats.org/officeDocument/2006/relationships" id="264" r:id="R3da9175ac65f4645"/>
    <p:sldId xmlns:r="http://schemas.openxmlformats.org/officeDocument/2006/relationships" id="265" r:id="R0465337841684ff3"/>
    <p:sldId xmlns:r="http://schemas.openxmlformats.org/officeDocument/2006/relationships" id="266" r:id="Ra8c691c39a5449bf"/>
    <p:sldId xmlns:r="http://schemas.openxmlformats.org/officeDocument/2006/relationships" id="267" r:id="Rcaef401aa5d547ff"/>
    <p:sldId xmlns:r="http://schemas.openxmlformats.org/officeDocument/2006/relationships" id="268" r:id="R52acec56dfbc4901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1a140037bb4dc8" /><Relationship Type="http://schemas.openxmlformats.org/officeDocument/2006/relationships/slideMaster" Target="/ppt/slideMasters/slideMaster1.xml" Id="R387d28921cd741fe" /><Relationship Type="http://schemas.openxmlformats.org/officeDocument/2006/relationships/notesMaster" Target="/ppt/notesMasters/notesMaster1.xml" Id="R7e1984f1e44544c9" /><Relationship Type="http://schemas.openxmlformats.org/officeDocument/2006/relationships/presProps" Target="/ppt/presProps.xml" Id="R6bba5486eb144294" /><Relationship Type="http://schemas.openxmlformats.org/officeDocument/2006/relationships/viewProps" Target="/ppt/viewProps.xml" Id="Rec97a441f1714ba6" /><Relationship Type="http://schemas.openxmlformats.org/officeDocument/2006/relationships/tableStyles" Target="/ppt/tableStyles.xml" Id="Reae70e1697004fae" /><Relationship Type="http://schemas.openxmlformats.org/officeDocument/2006/relationships/slide" Target="/ppt/slides/slide1.xml" Id="Re754d99599144b40" /><Relationship Type="http://schemas.openxmlformats.org/officeDocument/2006/relationships/slide" Target="/ppt/slides/slide2.xml" Id="R3453b43815434c05" /><Relationship Type="http://schemas.openxmlformats.org/officeDocument/2006/relationships/slide" Target="/ppt/slides/slide3.xml" Id="R6fce159c920b417c" /><Relationship Type="http://schemas.openxmlformats.org/officeDocument/2006/relationships/slide" Target="/ppt/slides/slide4.xml" Id="Rd17ebceb6aeb4d5c" /><Relationship Type="http://schemas.openxmlformats.org/officeDocument/2006/relationships/slide" Target="/ppt/slides/slide5.xml" Id="R3158f07c6b6a4c2c" /><Relationship Type="http://schemas.openxmlformats.org/officeDocument/2006/relationships/slide" Target="/ppt/slides/slide6.xml" Id="Re1daf6d331cf468f" /><Relationship Type="http://schemas.openxmlformats.org/officeDocument/2006/relationships/slide" Target="/ppt/slides/slide7.xml" Id="R5c1e14a9700d44f0" /><Relationship Type="http://schemas.openxmlformats.org/officeDocument/2006/relationships/slide" Target="/ppt/slides/slide8.xml" Id="R4d1c4827789143d3" /><Relationship Type="http://schemas.openxmlformats.org/officeDocument/2006/relationships/slide" Target="/ppt/slides/slide9.xml" Id="R3da9175ac65f4645" /><Relationship Type="http://schemas.openxmlformats.org/officeDocument/2006/relationships/slide" Target="/ppt/slides/slide10.xml" Id="R0465337841684ff3" /><Relationship Type="http://schemas.openxmlformats.org/officeDocument/2006/relationships/slide" Target="/ppt/slides/slide11.xml" Id="Ra8c691c39a5449bf" /><Relationship Type="http://schemas.openxmlformats.org/officeDocument/2006/relationships/slide" Target="/ppt/slides/slide12.xml" Id="Rcaef401aa5d547ff" /><Relationship Type="http://schemas.openxmlformats.org/officeDocument/2006/relationships/slide" Target="/ppt/slides/slide13.xml" Id="R52acec56dfbc49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2e07efb07e4d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2234dc176c4cc8" /><Relationship Type="http://schemas.openxmlformats.org/officeDocument/2006/relationships/notesMaster" Target="/ppt/notesMasters/notesMaster1.xml" Id="Rb75feb46b0cf44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c1869a75864be2" /><Relationship Type="http://schemas.openxmlformats.org/officeDocument/2006/relationships/notesMaster" Target="/ppt/notesMasters/notesMaster1.xml" Id="Rcf10f2ebda1f44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4a2096ae11427e" /><Relationship Type="http://schemas.openxmlformats.org/officeDocument/2006/relationships/notesMaster" Target="/ppt/notesMasters/notesMaster1.xml" Id="Rc5451b86a4d544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47103a7d34463b" /><Relationship Type="http://schemas.openxmlformats.org/officeDocument/2006/relationships/notesMaster" Target="/ppt/notesMasters/notesMaster1.xml" Id="Re78b9526d73a49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a4d39cfb3747b1" /><Relationship Type="http://schemas.openxmlformats.org/officeDocument/2006/relationships/notesMaster" Target="/ppt/notesMasters/notesMaster1.xml" Id="R8fa9b049cb2d48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056f382a7c4cb8" /><Relationship Type="http://schemas.openxmlformats.org/officeDocument/2006/relationships/notesMaster" Target="/ppt/notesMasters/notesMaster1.xml" Id="R81cbd72f83254b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19ee4704f6431e" /><Relationship Type="http://schemas.openxmlformats.org/officeDocument/2006/relationships/notesMaster" Target="/ppt/notesMasters/notesMaster1.xml" Id="Rae2c4f657f4d45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599b489e924df7" /><Relationship Type="http://schemas.openxmlformats.org/officeDocument/2006/relationships/notesMaster" Target="/ppt/notesMasters/notesMaster1.xml" Id="R5ef340580e6243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f6ee99628743a9" /><Relationship Type="http://schemas.openxmlformats.org/officeDocument/2006/relationships/notesMaster" Target="/ppt/notesMasters/notesMaster1.xml" Id="R6ce3f696ffec43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47f39f63a9487e" /><Relationship Type="http://schemas.openxmlformats.org/officeDocument/2006/relationships/notesMaster" Target="/ppt/notesMasters/notesMaster1.xml" Id="Rd96365dd20bc44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2b03d2f3d94a5c" /><Relationship Type="http://schemas.openxmlformats.org/officeDocument/2006/relationships/notesMaster" Target="/ppt/notesMasters/notesMaster1.xml" Id="R4786b46e61d54a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6ce07defdb4821" /><Relationship Type="http://schemas.openxmlformats.org/officeDocument/2006/relationships/notesMaster" Target="/ppt/notesMasters/notesMaster1.xml" Id="Rfe3ee01466e143f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852dc4ae284e03" /><Relationship Type="http://schemas.openxmlformats.org/officeDocument/2006/relationships/notesMaster" Target="/ppt/notesMasters/notesMaster1.xml" Id="Rd8bb540ccd2643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Начните с простой мысли: ответ DELETE 200 OK подтверждает только команду, но не исчезновение копий и производных. EraSeMap проверяет весь путь данных.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Покажите, что один пользователь представлен не одной строкой: есть шаблон, кэш, резервная копия и влияние на модель. Любая из ветвей может стать путём восстановления.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Проговорите пять вопросов вместо названий внутренних модулей. Так алгоритм понятен комиссии: карта, поиск пути, минимальный план, временная проверка и сертификат.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Ключевая сила — безопасный отказ. COMPLETE выдаётся только при одновременном физическом, производном и временном закрытии.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Покажите экран банка: для выбранного клиента EraSeMap видит запись в PostgreSQL, учётную запись, кэш, вектор, резервную копию и модельный канал. Пока два объекта остаются скрытыми и один канал не проверен, система честно выдаёт INCOMPLETE.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Чётко назовите метрику: false COMPLETE, а не общая точность. Ноль — безопасный результат на ограниченном протоколе, не обещание промышленного внедрения.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сделано после одинаковых обязательных проверок. Это ограниченная лабораторная задача, поэтому цифры нельзя автоматически переносить на рабочую систему.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Активная проба выбирает следующий тест так, чтобы разделить оставшиеся гипотезы. Проверка на новых семействах топологий показывает перенос внутри эксперимента, но не доказывает готовность рабочей системы.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скрывайте отрицательный результат по модели. Основной результат проекта — проверка удаления в хранилищах; модельная ветка оценивается отдельно. Четыре строки на слайде нельзя складывать в один рейтинг.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 помогает коротко объяснить правило решения. Формальные проверки подтверждают, что программа следует протоколу и правильно объединяет три условия, но не заменяют испытание в настоящей организации.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Поясните два термина: качество для оставшихся пользователей показывает, не испортили ли модель; безопасный запасной вариант — полное переобучение. Отрицательный результат важен, потому что система не скрывает проблему.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Новизна формулируется как композиция: recovery-path discovery, temporal closure и сертификат с границей неизвестности. Отдельно покажите, какие доказательства уже есть, а какие ещё нужны.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Закройте одной фразой: EraSeMap проверяет путь, а не обещание. Следующий шаг — независимая скрытая проверка, затем испытание в настоящей организации.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da4126b4c44f2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c4f3312a4947ed" /><Relationship Type="http://schemas.openxmlformats.org/officeDocument/2006/relationships/slideLayout" Target="/ppt/slideLayouts/slideLayout1.xml" Id="R59b3bd7242464416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b3bd724246441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4f0e16fb24d3a" /><Relationship Type="http://schemas.openxmlformats.org/officeDocument/2006/relationships/notesSlide" Target="/ppt/notesSlides/notesSlide1.xml" Id="R26aa54f45fdd49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47b85d72641c9" /><Relationship Type="http://schemas.openxmlformats.org/officeDocument/2006/relationships/notesSlide" Target="/ppt/notesSlides/notesSlide2.xml" Id="Rd697e4d29bea47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e0f3ca7bf4753" /><Relationship Type="http://schemas.openxmlformats.org/officeDocument/2006/relationships/notesSlide" Target="/ppt/notesSlides/notesSlide3.xml" Id="Rcf38507e5af743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90ff97ae14a93" /><Relationship Type="http://schemas.openxmlformats.org/officeDocument/2006/relationships/notesSlide" Target="/ppt/notesSlides/notesSlide4.xml" Id="Rfa658e9edba04a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74d1fa9b54c23" /><Relationship Type="http://schemas.openxmlformats.org/officeDocument/2006/relationships/image" Target="/ppt/media/image.png" Id="R946b712bec294ce1" /><Relationship Type="http://schemas.openxmlformats.org/officeDocument/2006/relationships/notesSlide" Target="/ppt/notesSlides/notesSlide5.xml" Id="R392eb5e367bd47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320ff73654e55" /><Relationship Type="http://schemas.openxmlformats.org/officeDocument/2006/relationships/image" Target="/ppt/media/image2.png" Id="R91665edb37624b08" /><Relationship Type="http://schemas.openxmlformats.org/officeDocument/2006/relationships/notesSlide" Target="/ppt/notesSlides/notesSlide6.xml" Id="R2521085e639646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8396b77b94453" /><Relationship Type="http://schemas.openxmlformats.org/officeDocument/2006/relationships/image" Target="/ppt/media/image3.png" Id="R01c0c111fb6841e2" /><Relationship Type="http://schemas.openxmlformats.org/officeDocument/2006/relationships/notesSlide" Target="/ppt/notesSlides/notesSlide7.xml" Id="Rc34f742735b34f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fb77b879f4f8f" /><Relationship Type="http://schemas.openxmlformats.org/officeDocument/2006/relationships/image" Target="/ppt/media/image4.png" Id="Re690333c57ca48cb" /><Relationship Type="http://schemas.openxmlformats.org/officeDocument/2006/relationships/notesSlide" Target="/ppt/notesSlides/notesSlide8.xml" Id="R68ebd7d9d73d4b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a835cc93444fc" /><Relationship Type="http://schemas.openxmlformats.org/officeDocument/2006/relationships/notesSlide" Target="/ppt/notesSlides/notesSlide9.xml" Id="Rd1de1a2ca69546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3313713ad4d8a" /><Relationship Type="http://schemas.openxmlformats.org/officeDocument/2006/relationships/notesSlide" Target="/ppt/notesSlides/notesSlide10.xml" Id="R0cca3dc5e92346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5ace4c89c4cf3" /><Relationship Type="http://schemas.openxmlformats.org/officeDocument/2006/relationships/notesSlide" Target="/ppt/notesSlides/notesSlide11.xml" Id="R096b9fd98f6f43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08e43e86f4b65" /><Relationship Type="http://schemas.openxmlformats.org/officeDocument/2006/relationships/notesSlide" Target="/ppt/notesSlides/notesSlide12.xml" Id="Rf90fb980c2374b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825bf27ae4dc5" /><Relationship Type="http://schemas.openxmlformats.org/officeDocument/2006/relationships/notesSlide" Target="/ppt/notesSlides/notesSlide13.xml" Id="R7466050342dc40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2B79112-6F7C-4FE3-B8EC-1ADB7C26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9912096" y="0"/>
            <a:ext cx="219456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6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7FDB630-FCBA-4374-B624-D044FDA8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10744200" y="164592"/>
            <a:ext cx="1188720" cy="8046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D6">
              <a:alpha val="68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1E9FB6C-AADC-4E3C-BE8B-1E56CD47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">
            <a:off x="0" y="6236208"/>
            <a:ext cx="1920240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38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ECB33A0-DA6E-45BE-B4D2-6F1F2984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3A408BD-D125-46EA-8466-FAA57494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2D5D787-19E8-405D-9521-F4BF7BCC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15B617D-8D66-4700-8508-7531CD38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FD16497-7F90-4D9F-AFA5-ADD21FDF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2336"/>
            <a:ext cx="4389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45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НҰРЛАНҰЛЫ ДУЛАТ  ·  9 «Б»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C16FF20-406C-4F65-B90D-7D1B7045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325880"/>
            <a:ext cx="55778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Удаление —</a:t>
            </a:r>
            <a:endParaRPr sz="4800"/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это не кнопка.</a:t>
            </a:r>
            <a:endParaRPr sz="4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2FAC0B5-A702-4005-AAB7-46B7C026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852928"/>
            <a:ext cx="50292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D8614B"/>
                </a:solidFill>
                <a:latin typeface="Inter Display"/>
                <a:ea typeface="Inter Display"/>
                <a:cs typeface="Inter Display"/>
              </a:rPr>
              <a:t>Здесь проверяется весь путь.</a:t>
            </a:r>
            <a:endParaRPr sz="2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1E4F61C-80A7-4293-8F20-12A1849D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438144"/>
            <a:ext cx="5074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50">
                <a:solidFill>
                  <a:srgbClr val="5B7069"/>
                </a:solidFill>
                <a:latin typeface="Inter"/>
                <a:ea typeface="Inter"/>
                <a:cs typeface="Inter"/>
              </a:rPr>
              <a:t>EraSeMap проверяет, исчезли ли данные из копий, производных</a:t>
            </a:r>
            <a:endParaRPr sz="1650"/>
          </a:p>
          <a:p xmlns:a="http://schemas.openxmlformats.org/drawingml/2006/main">
            <a:pPr marL="0" indent="0" algn="l">
              <a:buNone/>
            </a:pPr>
            <a:r>
              <a:rPr sz="1650">
                <a:solidFill>
                  <a:srgbClr val="5B7069"/>
                </a:solidFill>
                <a:latin typeface="Inter"/>
                <a:ea typeface="Inter"/>
                <a:cs typeface="Inter"/>
              </a:rPr>
              <a:t>и будущих каналов восстановления.</a:t>
            </a:r>
            <a:endParaRPr sz="16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3ED458-FE4E-485D-AAC1-8ECBCE16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90288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8935950-4C19-413D-90A4-E763E4EA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727448"/>
            <a:ext cx="418795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DELETE 200 OK  →  карта  →  проверка  →  сертификат</a:t>
            </a:r>
            <a:endParaRPr sz="10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D5BABFF-166B-4B5B-B29B-52E45A30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109728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CDDCD5">
                <a:alpha val="8800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BDB8C14-781C-4F41-8E80-1B51C1A9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331720"/>
            <a:ext cx="1078992" cy="137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CDDCD5">
                <a:alpha val="8800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519C34C-346E-4AF1-AEC3-89CE8E6F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713232" cy="15727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CDDCD5">
                <a:alpha val="8800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100B6DB-C28F-4CC1-8B4A-85D61473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2" y="2468880"/>
            <a:ext cx="1353312" cy="932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CDDCD5">
                <a:alpha val="8800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8F3B5D6-AE68-44DF-8FB9-B697314D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17320"/>
            <a:ext cx="1536192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2C7C7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1FA305F-FC32-4162-BB11-10C40619B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156362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C7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4C2CE18-1FE6-491F-B726-CDF33361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1508760"/>
            <a:ext cx="103327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источник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9D2D28A-9257-4322-92D3-BDDA0253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1755648"/>
            <a:ext cx="1033272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исходная запись</a:t>
            </a:r>
            <a:endParaRPr sz="9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0980B79-B1B8-46F1-89D5-AC37DC12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39696"/>
            <a:ext cx="16002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D729AE4-7A17-437F-8A73-D2355B59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496" y="22860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38E883B-0816-4A05-A424-2AEFCFA8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231136"/>
            <a:ext cx="1097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производная</a:t>
            </a:r>
            <a:endParaRPr sz="13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E8803EF-C849-42E9-9DB8-925BFC71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478024"/>
            <a:ext cx="10972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шаблон / индекс</a:t>
            </a:r>
            <a:endParaRPr sz="95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C2911DC-D157-4E50-9142-BA22C402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346704"/>
            <a:ext cx="1572768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A9461056-D538-4C51-A77F-DFCAE8E4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49300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BA9BEE9-73FF-46E1-B7C4-2544702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438144"/>
            <a:ext cx="106984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возврат</a:t>
            </a:r>
            <a:endParaRPr sz="13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FB91073-81C3-49C3-963D-22F52688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616" y="3685032"/>
            <a:ext cx="106984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резерв / восстановление</a:t>
            </a:r>
            <a:endParaRPr sz="9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4601E9F-03AC-4C79-93FB-50BE9427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438144"/>
            <a:ext cx="14630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8DB9AD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B15E2F6-1E4B-422E-82AB-4184795D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358444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9AD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4A71FA2-1478-43C2-AA13-5ECCEBB3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529584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проверка</a:t>
            </a:r>
            <a:endParaRPr sz="13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A9DD1F5-2A38-4738-AC32-FEF6F814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776472"/>
            <a:ext cx="9601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квитанция + повтор</a:t>
            </a:r>
            <a:endParaRPr sz="9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72F0ADD-D291-4FFC-8B6B-1F6871C4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34840"/>
            <a:ext cx="1993392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B35"/>
          </a:solidFill>
          <a:ln xmlns:a="http://schemas.openxmlformats.org/drawingml/2006/main" w="12700">
            <a:solidFill>
              <a:srgbClr val="123B35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94257A3-CCA0-4AA4-A8B5-C7453727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645152"/>
            <a:ext cx="19933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VERIFY</a:t>
            </a:r>
            <a:endParaRPr sz="15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7F03E1C-5238-47EA-AE7F-D0C9915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601675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30" b="1">
                <a:solidFill>
                  <a:srgbClr val="078C82"/>
                </a:solidFill>
                <a:latin typeface="Inter"/>
                <a:ea typeface="Inter"/>
                <a:cs typeface="Inter"/>
              </a:rPr>
              <a:t>Проверяем путь, а не обещание «удалено».</a:t>
            </a:r>
            <a:endParaRPr sz="123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B9B97B6-73BB-43C7-8FD5-3AB2BECE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52120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5B7069"/>
                </a:solidFill>
                <a:latin typeface="Inter"/>
                <a:ea typeface="Inter"/>
                <a:cs typeface="Inter"/>
              </a:rPr>
              <a:t>Білім-инновация  ·  руководитель Смағұл Ерзат Айдынұлы</a:t>
            </a:r>
            <a:endParaRPr sz="72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30427274-33ED-4A7B-BFAF-21693A8B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01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536848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ACBB7C3-DE6F-459E-A977-3FF472CD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D6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F8E1DDC-60A2-4C9A-9B51-12549235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2A9C487-FA48-45B4-9A49-DFCCBDB2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861EF9-8ED5-42D5-B047-4528356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502146D-2E5A-467A-A99F-B532E663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F162035-0A8E-4B2B-90D1-3CC9C008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ПРОБЛЕМА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FC1806D-9370-465B-92C5-39463115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02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49D44F1-A585-495D-8C98-4FF83A3C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B254185-A0A5-46F3-9C3B-E2E145C6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Проблема: запись не живёт в одном месте</a:t>
            </a:r>
            <a:endParaRPr sz="3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91E0E9-C89B-4F6A-BB94-C6919113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Копии, производные и отложенные задачи создают скрытый путь назад.</a:t>
            </a:r>
            <a:endParaRPr sz="15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C6D200F-0B3C-42DB-BA35-2DA54245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29968"/>
            <a:ext cx="137160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A5042CB-3C38-4474-BD1D-6FCBAAE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057400"/>
            <a:ext cx="118872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50">
                <a:solidFill>
                  <a:srgbClr val="078C82"/>
                </a:solidFill>
                <a:latin typeface="Inter"/>
                <a:ea typeface="Inter"/>
                <a:cs typeface="Inter"/>
              </a:rPr>
              <a:t>ОДНА ПЕРСОНА</a:t>
            </a:r>
            <a:endParaRPr sz="7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E6C058B-4316-4425-A13A-066F75C4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542032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C70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2F2FE3F-9C25-4DD0-9360-853CB451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450592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Исходная запись</a:t>
            </a:r>
            <a:endParaRPr sz="132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E16178F-C412-4059-ABFF-382F3888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697480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30">
                <a:solidFill>
                  <a:srgbClr val="5B7069"/>
                </a:solidFill>
                <a:latin typeface="Inter"/>
                <a:ea typeface="Inter"/>
                <a:cs typeface="Inter"/>
              </a:rPr>
              <a:t>пользователь / аккаунт</a:t>
            </a:r>
            <a:endParaRPr sz="93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6AA624A1-FB0A-4637-A5A6-2D3FD96F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98064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CD5">
                <a:alpha val="96000"/>
              </a:srgbClr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2129602-E9BA-4C7C-A1D3-6861CEDE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054096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6CFA424-B17F-40F5-B5E5-F644EB9D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962656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Биометрический шаблон</a:t>
            </a:r>
            <a:endParaRPr sz="132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00BC95E-2C82-4C16-B869-EB21D83D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209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30">
                <a:solidFill>
                  <a:srgbClr val="5B7069"/>
                </a:solidFill>
                <a:latin typeface="Inter"/>
                <a:ea typeface="Inter"/>
                <a:cs typeface="Inter"/>
              </a:rPr>
              <a:t>биометрический вектор</a:t>
            </a:r>
            <a:endParaRPr sz="93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E8C3079-FC0A-4996-ACEF-2D38565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310128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CD5">
                <a:alpha val="96000"/>
              </a:srgbClr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B50F12E3-C611-4363-91A3-4978710B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566160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D91"/>
          </a:solidFill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54E03E3-9C0B-462A-8EE2-F4211041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474720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Кэш и реплика</a:t>
            </a:r>
            <a:endParaRPr sz="13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FE65E833-1C1F-48B8-87E9-A2492BE4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721608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30">
                <a:solidFill>
                  <a:srgbClr val="5B7069"/>
                </a:solidFill>
                <a:latin typeface="Inter"/>
                <a:ea typeface="Inter"/>
                <a:cs typeface="Inter"/>
              </a:rPr>
              <a:t>быстрый путь чтения</a:t>
            </a:r>
            <a:endParaRPr sz="93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A097BFA-CBB5-48E3-879F-9BB14CF5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822192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CD5">
                <a:alpha val="9600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4707EB1-737D-4CF7-A8BD-AEC37389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078224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73EE2B8-7675-4CB5-9F06-178BE6AE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986784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Резерв / восстановление</a:t>
            </a:r>
            <a:endParaRPr sz="132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178A90-BB24-4927-9B84-557580369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233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30">
                <a:solidFill>
                  <a:srgbClr val="5B7069"/>
                </a:solidFill>
                <a:latin typeface="Inter"/>
                <a:ea typeface="Inter"/>
                <a:cs typeface="Inter"/>
              </a:rPr>
              <a:t>отложенная копия</a:t>
            </a:r>
            <a:endParaRPr sz="93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276804DF-2839-4764-8F9E-29F9FCDC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334256"/>
            <a:ext cx="0" cy="4389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CD5">
                <a:alpha val="96000"/>
              </a:srgbClr>
            </a:solidFill>
            <a:prstDash val="solid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A54FFE8-A104-4808-ACFE-315D54EC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4590288"/>
            <a:ext cx="246888" cy="2468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9AD"/>
          </a:solidFill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340CB678-B464-4272-8601-20C461D4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498848"/>
            <a:ext cx="2423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Влияние на модель</a:t>
            </a:r>
            <a:endParaRPr sz="132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C19671B-726D-434E-8FF2-98ED08A1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745736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30">
                <a:solidFill>
                  <a:srgbClr val="5B7069"/>
                </a:solidFill>
                <a:latin typeface="Inter"/>
                <a:ea typeface="Inter"/>
                <a:cs typeface="Inter"/>
              </a:rPr>
              <a:t>сигнал в модели</a:t>
            </a:r>
            <a:endParaRPr sz="93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FAD8E97-9D9A-45EE-91AE-57668061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34009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24564C"/>
                </a:solidFill>
                <a:latin typeface="Inter Display"/>
                <a:ea typeface="Inter Display"/>
                <a:cs typeface="Inter Display"/>
              </a:rPr>
              <a:t>Один человек → несколько представлений данных</a:t>
            </a:r>
            <a:endParaRPr sz="150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3916D7F-151D-4D68-9C24-D40F4C84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51576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5B7069"/>
                </a:solidFill>
                <a:latin typeface="Inter"/>
                <a:ea typeface="Inter"/>
                <a:cs typeface="Inter"/>
              </a:rPr>
              <a:t>Удаление одной строки не закрывает весь граф.</a:t>
            </a:r>
            <a:endParaRPr sz="11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7E54B89-CCF0-4B92-A99F-312AE435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029968"/>
            <a:ext cx="699516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9884BF3-B25A-4579-A47E-D875690A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3134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Скрытый путь назад</a:t>
            </a:r>
            <a:endParaRPr sz="20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0872A8B2-31F5-4156-84EB-4849B692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70048"/>
            <a:ext cx="5212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50">
                <a:solidFill>
                  <a:srgbClr val="5B7069"/>
                </a:solidFill>
                <a:latin typeface="Inter"/>
                <a:ea typeface="Inter"/>
                <a:cs typeface="Inter"/>
              </a:rPr>
              <a:t>Если производное осталось, запись можно восстановить снова.</a:t>
            </a:r>
            <a:endParaRPr sz="115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64460506-A1D8-4BDA-ADA6-93DE8D73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536192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CDDCD5">
                <a:alpha val="95000"/>
              </a:srgbClr>
            </a:solidFill>
            <a:prstDash val="solid"/>
          </a:ln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636A7290-8993-4C1C-9C35-120DE6DE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218688"/>
            <a:ext cx="1481328" cy="6583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CDDCD5">
                <a:alpha val="95000"/>
              </a:srgbClr>
            </a:solidFill>
            <a:prstDash val="solid"/>
          </a:ln>
        </p:spPr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D4AB1B2-7567-4AC8-9A4F-E69B1D58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858768"/>
            <a:ext cx="1261872" cy="9326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CDDCD5">
                <a:alpha val="95000"/>
              </a:srgbClr>
            </a:solidFill>
            <a:prstDash val="solid"/>
          </a:ln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EBF1A78B-245E-4AAD-9CF2-93851C3A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3840480"/>
            <a:ext cx="1755648" cy="877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7940">
            <a:solidFill>
              <a:srgbClr val="CDDCD5">
                <a:alpha val="95000"/>
              </a:srgbClr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8A469762-0E23-477A-B576-F3792F02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529584"/>
            <a:ext cx="155448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2C7C70"/>
            </a:solidFill>
            <a:prstDash val="solid"/>
          </a:ln>
        </p:spPr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1DE76320-F617-4366-832E-C25DE247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367588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C70"/>
          </a:solidFill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8EEE105B-41EB-4981-A9DD-39726D69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08" y="3621024"/>
            <a:ext cx="10515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источник</a:t>
            </a:r>
            <a:endParaRPr sz="13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1E109BDA-57BF-4CE0-8D9D-1DB99049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408" y="3867912"/>
            <a:ext cx="10515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строка аккаунта</a:t>
            </a:r>
            <a:endParaRPr sz="9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F4D87594-5274-482F-BBC3-CAE98035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80"/>
            <a:ext cx="17373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4E95AEEB-64A3-4774-A9AB-EA333C28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07238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793633C1-D4D0-4BBF-BEA5-EE87F149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3017520"/>
            <a:ext cx="12344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шаблон</a:t>
            </a:r>
            <a:endParaRPr sz="13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B237D94B-F7C2-4988-8E2B-21295E6B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3264408"/>
            <a:ext cx="12344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лицо / признаки</a:t>
            </a:r>
            <a:endParaRPr sz="95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60382BE-33C5-409C-BCED-18FABE0F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529584"/>
            <a:ext cx="15087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6B9D91"/>
            </a:solidFill>
            <a:prstDash val="solid"/>
          </a:ln>
        </p:spPr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A88B6280-CE18-435E-B13B-D5047990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7384" y="367588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D91"/>
          </a:solidFill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296EF55-87BB-4BC7-A70B-5965DA11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3621024"/>
            <a:ext cx="10058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кэш</a:t>
            </a:r>
            <a:endParaRPr sz="13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52C84667-8B04-4552-A44D-6E04338D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3867912"/>
            <a:ext cx="1005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реплика</a:t>
            </a:r>
            <a:endParaRPr sz="950"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6C157482-549C-4D9B-91AF-3415CF84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98848"/>
            <a:ext cx="1755648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DEA1CD1E-13F9-4FC7-A0FD-D8D732BE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704" y="464515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A31FD84C-1984-4338-82A4-D1FC4702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4590288"/>
            <a:ext cx="125272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резерв</a:t>
            </a:r>
            <a:endParaRPr sz="1300"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1EA19A24-99BF-4024-BCED-3AE8779B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3448" y="4837176"/>
            <a:ext cx="125272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восстановление</a:t>
            </a:r>
            <a:endParaRPr sz="95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232F5714-0B60-484C-A910-1C20C48A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5248656"/>
            <a:ext cx="6099048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7BC78AB4-E8EA-4BBF-927B-E6BDFC68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40096"/>
            <a:ext cx="57150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 b="1">
                <a:solidFill>
                  <a:srgbClr val="D8614B"/>
                </a:solidFill>
                <a:latin typeface="Inter"/>
                <a:ea typeface="Inter"/>
                <a:cs typeface="Inter"/>
              </a:rPr>
              <a:t>«DELETE 200 OK»  ≠  данные исчезли</a:t>
            </a:r>
            <a:endParaRPr sz="1120"/>
          </a:p>
        </p:txBody>
      </p:sp>
    </p:spTree>
    <p:extLst>
      <p:ext uri="{BB962C8B-B14F-4D97-AF65-F5344CB8AC3E}">
        <p14:creationId xmlns:p14="http://schemas.microsoft.com/office/powerpoint/2010/main" val="1416640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8093C6-C251-41AB-8D4F-7CD43401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FE9156-9ABB-4A49-8F2F-CA71FDAE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B13CE67-3ED7-48F1-8C47-D9C50F2D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8B770E2-A316-4A1B-9F7A-587751FB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182CFD5-5728-49AA-9806-D7B4ABE2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AB2CEC1-3964-420A-8404-6F56AED4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МЕТОД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8807891-8EEA-4682-9438-60DA8744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03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0B0B82F-6E02-4EBD-9719-1EAE633E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72ED191-85E0-41F1-A174-21190AC7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Один алгоритм. Пять вопросов.</a:t>
            </a:r>
            <a:endParaRPr sz="3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F80D1A6-04F8-4FB4-B121-E5116D23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Модули помогают аудиту, но публичный объект — один понятный вердикт EraSeMap.</a:t>
            </a:r>
            <a:endParaRPr sz="15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9E2A36D-26C4-4F7F-AA26-3D724762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144" y="3703320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CDDCD5">
                <a:alpha val="9200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73FADEB-60B0-4E2C-AB20-D1B4E0B7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907792"/>
            <a:ext cx="1572768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2C7C70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E4FB683-CEB2-4A27-93AF-5CCB03F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0906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C70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33981E9-6A72-4112-9C2D-DBC78E0B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27248"/>
            <a:ext cx="2286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01</a:t>
            </a:r>
            <a:endParaRPr sz="73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F5AA9DD-8DA1-4DF3-A829-1B40649F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3072384"/>
            <a:ext cx="93268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1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Что существует?</a:t>
            </a:r>
            <a:endParaRPr sz="121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4DB1E3C-D1E9-40D3-AEF0-1E54D97B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04164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5B7069"/>
                </a:solidFill>
                <a:latin typeface="Inter"/>
                <a:ea typeface="Inter"/>
                <a:cs typeface="Inter"/>
              </a:rPr>
              <a:t>карта копий</a:t>
            </a:r>
            <a:endParaRPr sz="96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D343A8-E7BB-445C-B4EB-0E1AD4AF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3703320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CDDCD5">
                <a:alpha val="92000"/>
              </a:srgbClr>
            </a:solidFill>
            <a:prstDash val="solid"/>
          </a:ln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D068CEB-EB94-4A94-B5A2-C583219F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376" y="2907792"/>
            <a:ext cx="1572768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1C8D1B0-888A-43C2-BC12-7A83CFC0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30906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8DAB140-5729-4AED-8400-CDE13EEF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112" y="3127248"/>
            <a:ext cx="2286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02</a:t>
            </a:r>
            <a:endParaRPr sz="73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9F77415-BB49-4362-870D-E56843D2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3072384"/>
            <a:ext cx="93268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1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Где путь назад?</a:t>
            </a:r>
            <a:endParaRPr sz="121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45C83B0-4753-4A5B-82DD-C8D0A2E7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824" y="404164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5B7069"/>
                </a:solidFill>
                <a:latin typeface="Inter"/>
                <a:ea typeface="Inter"/>
                <a:cs typeface="Inter"/>
              </a:rPr>
              <a:t>активные пробы</a:t>
            </a:r>
            <a:endParaRPr sz="96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008117D-7E99-4862-BD71-C56568ED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3703320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CDDCD5">
                <a:alpha val="92000"/>
              </a:srgbClr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7EB147F-E757-4366-8843-1751F7E2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2907792"/>
            <a:ext cx="1572768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6B9D91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EFE6CD4-8EE0-4C18-8FC4-73D57FE6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30906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D91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FE9D9F6-FBC1-4E8F-BA0B-D5D66B0E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3127248"/>
            <a:ext cx="2286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03</a:t>
            </a:r>
            <a:endParaRPr sz="73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82670FC-531A-4992-B9E2-3EF0B83D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72384"/>
            <a:ext cx="93268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1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Что удалить?</a:t>
            </a:r>
            <a:endParaRPr sz="121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A3A5116-6AC5-4FBC-AEB2-0651C957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5816" y="404164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5B7069"/>
                </a:solidFill>
                <a:latin typeface="Inter"/>
                <a:ea typeface="Inter"/>
                <a:cs typeface="Inter"/>
              </a:rPr>
              <a:t>минимальный план</a:t>
            </a:r>
            <a:endParaRPr sz="96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3A8AAE3E-0C07-46D0-961F-14E3388C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3703320"/>
            <a:ext cx="6949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CDDCD5">
                <a:alpha val="92000"/>
              </a:srgbClr>
            </a:solidFill>
            <a:prstDash val="solid"/>
          </a:ln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67B8541-B218-40D4-B402-CECBFC5E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07792"/>
            <a:ext cx="1572768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A0516D8-4829-4067-A0CE-66EB94DC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0906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253EB18-AEB4-446B-A695-C6C50C96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6096" y="3127248"/>
            <a:ext cx="2286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04</a:t>
            </a:r>
            <a:endParaRPr sz="730"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196D3A9-A2A7-40E7-B04C-A6AD9595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992" y="3072384"/>
            <a:ext cx="93268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1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Что будет завтра?</a:t>
            </a:r>
            <a:endParaRPr sz="121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5C04DB8-017D-4BFA-8B6B-E6AC66CA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404164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во времени</a:t>
            </a:r>
            <a:endParaRPr sz="96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A61391C-45C0-4098-BE58-26644377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2907792"/>
            <a:ext cx="1572768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8DB9AD"/>
            </a:solidFill>
            <a:prstDash val="solid"/>
          </a:ln>
        </p:spPr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8A3B3B9B-20C6-4A3A-B557-543D4B63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906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9AD"/>
          </a:solidFill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CD3ED36C-37F6-44D1-BBB8-8856FBD1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3127248"/>
            <a:ext cx="2286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3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05</a:t>
            </a:r>
            <a:endParaRPr sz="73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0AD8F18-7F02-4728-9042-5F1C7346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8984" y="3072384"/>
            <a:ext cx="93268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1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Что доказано?</a:t>
            </a:r>
            <a:endParaRPr sz="121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F454B54B-3882-4517-B100-EAE0076B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041648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60">
                <a:solidFill>
                  <a:srgbClr val="5B7069"/>
                </a:solidFill>
                <a:latin typeface="Inter"/>
                <a:ea typeface="Inter"/>
                <a:cs typeface="Inter"/>
              </a:rPr>
              <a:t>сертификат</a:t>
            </a:r>
            <a:endParaRPr sz="96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B1AB69D-BE12-4466-BA60-93D137AA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4892040"/>
            <a:ext cx="9710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401BDC9-39B4-43B9-A92E-6039E70D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5056632"/>
            <a:ext cx="92354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карта  →  поиск  →  минимум действий  →  проверка во времени  →  сертификат</a:t>
            </a:r>
            <a:endParaRPr sz="13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3E2359E-DF25-4BD4-85E1-2D95BD5F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779008"/>
            <a:ext cx="10012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B7069"/>
                </a:solidFill>
                <a:latin typeface="Inter"/>
                <a:ea typeface="Inter"/>
                <a:cs typeface="Inter"/>
              </a:rPr>
              <a:t>Это одна процедура с пятью проверяемыми выходами — не набор несвязанных алгоритмов.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574059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6CCCA25-C8C5-48FB-81B4-CE5B9C16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D6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E658DE7-983C-4A7F-875D-A15963A5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0F5216-7E7B-4071-82AB-7CB0D39F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876E0E1-90EF-485B-B92A-C4D5D60F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206BCB7-88BB-4E53-B06F-61EA494E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6671530-39F6-4F81-8FDC-BAB45E56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ВЕРДИКТ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E50A8D7-3C25-4A61-9EEC-587A4131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04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2C6618D-C77A-40C4-9061-56DE8A1D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AFE0F2E-ED6C-49EC-B4F6-9A7C0655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Система должна уметь сказать: INCOMPLETE</a:t>
            </a:r>
            <a:endParaRPr sz="3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31D97AF-F94D-4C12-B5B0-37E8D2B8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Если путь ещё активен, EraSeMap не объявляет удаление завершённым.</a:t>
            </a:r>
            <a:endParaRPr sz="15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0D74CC7-A7C2-4A44-83D1-EE81316A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3794760" cy="3474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46E93F0-555D-432C-B990-76CB33F3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2468880"/>
            <a:ext cx="3246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100" b="1">
                <a:solidFill>
                  <a:srgbClr val="D8614B"/>
                </a:solidFill>
                <a:latin typeface="Inter Display"/>
                <a:ea typeface="Inter Display"/>
                <a:cs typeface="Inter Display"/>
              </a:rPr>
              <a:t>INCOMPLETE</a:t>
            </a:r>
            <a:endParaRPr sz="3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45FE29E-45BA-4D0D-BAF4-4E532AB6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7248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Найден путь восстановления</a:t>
            </a:r>
            <a:endParaRPr sz="13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3D92936-1DEE-4CE4-A66B-55095C84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041648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614B">
                <a:alpha val="9700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6C4ECB5-38AC-4E8B-AC02-EC4A6A79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4041648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614B">
                <a:alpha val="9700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1C087DF-A0AE-49DD-8F5A-241C7815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91363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C70"/>
          </a:solidFill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9044609-C2B1-46F5-8F8F-487B1BC1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91363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A9DA649-1305-4518-9524-968A7146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343400"/>
            <a:ext cx="777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7069"/>
                </a:solidFill>
                <a:latin typeface="Inter"/>
                <a:ea typeface="Inter"/>
                <a:cs typeface="Inter"/>
              </a:rPr>
              <a:t>источник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2F5A4DB-7E3B-4494-8813-0DE3432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2384" y="4343400"/>
            <a:ext cx="1051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B7069"/>
                </a:solidFill>
                <a:latin typeface="Inter"/>
                <a:ea typeface="Inter"/>
                <a:cs typeface="Inter"/>
              </a:rPr>
              <a:t>шаблон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052DEFD-C3F1-4231-B4BD-FE3F1C97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4846320"/>
            <a:ext cx="30632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 b="1">
                <a:solidFill>
                  <a:srgbClr val="24564C"/>
                </a:solidFill>
                <a:latin typeface="Inter"/>
                <a:ea typeface="Inter"/>
                <a:cs typeface="Inter"/>
              </a:rPr>
              <a:t>План удаления ещё не закрыл</a:t>
            </a:r>
            <a:endParaRPr sz="1320"/>
          </a:p>
          <a:p xmlns:a="http://schemas.openxmlformats.org/drawingml/2006/main">
            <a:pPr marL="0" indent="0" algn="ctr">
              <a:buNone/>
            </a:pPr>
            <a:r>
              <a:rPr sz="1320" b="1">
                <a:solidFill>
                  <a:srgbClr val="24564C"/>
                </a:solidFill>
                <a:latin typeface="Inter"/>
                <a:ea typeface="Inter"/>
                <a:cs typeface="Inter"/>
              </a:rPr>
              <a:t>производный шаблон.</a:t>
            </a:r>
            <a:endParaRPr sz="13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C091BF7-F153-48D8-89A9-D6747CAB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057400"/>
            <a:ext cx="6327648" cy="3474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3A3DFB8-488E-4F47-BBD1-5C2B1D98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468880"/>
            <a:ext cx="5577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1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COMPLETE только если</a:t>
            </a:r>
            <a:endParaRPr sz="21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3FBFC01-8503-4CC4-8BAB-19BD1F0F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3054096"/>
            <a:ext cx="53492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7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P  ∧  D  ∧  T</a:t>
            </a:r>
            <a:endParaRPr sz="37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BF318F4-6820-4FDA-BF99-31579943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39776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C7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C91F80-295F-4532-850E-A7B0747E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4069080"/>
            <a:ext cx="31089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B236438-A2F0-410D-BD00-C83A6516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440740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физическое</a:t>
            </a:r>
            <a:endParaRPr sz="103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4A9621B-37C1-4542-B809-27BB7361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469087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5B7069"/>
                </a:solidFill>
                <a:latin typeface="Inter"/>
                <a:ea typeface="Inter"/>
                <a:cs typeface="Inter"/>
              </a:rPr>
              <a:t>все пути закрыты</a:t>
            </a:r>
            <a:endParaRPr sz="88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5C745CF-86C0-4322-B499-6FF0356D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416" y="39776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7427E08-2B20-46E0-8E9F-43E83E22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416" y="4069080"/>
            <a:ext cx="31089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</a:t>
            </a:r>
            <a:endParaRPr sz="10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ED96253-6604-4025-9E0D-C013502B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40740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производное</a:t>
            </a:r>
            <a:endParaRPr sz="103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4192323-211A-4C47-AA63-EC6EB86E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69087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5B7069"/>
                </a:solidFill>
                <a:latin typeface="Inter"/>
                <a:ea typeface="Inter"/>
                <a:cs typeface="Inter"/>
              </a:rPr>
              <a:t>шаблоны + индексы</a:t>
            </a:r>
            <a:endParaRPr sz="88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5999024-0BA1-469F-8E0B-BE7D8F1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944" y="397764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D879598-9279-4DC7-BC07-6FD0A994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8944" y="4069080"/>
            <a:ext cx="310896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</a:t>
            </a:r>
            <a:endParaRPr sz="10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A008877-7F3E-43B0-95F5-95321FD9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4407408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временное</a:t>
            </a:r>
            <a:endParaRPr sz="103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C9FA29D-5668-46A6-9CA8-09BF685E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4690872"/>
            <a:ext cx="1417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80">
                <a:solidFill>
                  <a:srgbClr val="5B7069"/>
                </a:solidFill>
                <a:latin typeface="Inter"/>
                <a:ea typeface="Inter"/>
                <a:cs typeface="Inter"/>
              </a:rPr>
              <a:t>повтор не вернёт данные</a:t>
            </a:r>
            <a:endParaRPr sz="880"/>
          </a:p>
        </p:txBody>
      </p:sp>
    </p:spTree>
    <p:extLst>
      <p:ext uri="{BB962C8B-B14F-4D97-AF65-F5344CB8AC3E}">
        <p14:creationId xmlns:p14="http://schemas.microsoft.com/office/powerpoint/2010/main" val="306067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3DAFEE-3854-4FF4-AD1B-33634401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1883C74-A914-49B2-B557-B3C929FF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A3C02D7-0949-4E2D-9E5F-1B6F29EC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8D692F6-FAD5-4341-916F-0509502D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9C0BF42-B3DB-4EF7-8062-F1043672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B66AC1-BCCB-49BF-93C1-8E1E1D88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ПРИМЕР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1F2CB51-E864-4E72-951D-3FCB34DD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05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3C989B1-4546-4CEF-BC41-33BAC2B3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9203ED6-4569-483C-ABF4-91DF275C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Синтетический банк: карта данных клиента</a:t>
            </a:r>
            <a:endParaRPr sz="3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0ED983B-EB43-4FD7-8738-CBDF6077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512 вымышленных клиентов, реальные типы хранилищ и ни одной настоящей персональной записи.</a:t>
            </a:r>
            <a:endParaRPr sz="152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70E18F-660D-4594-8FF1-F8B6532B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148840"/>
            <a:ext cx="24688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512</a:t>
            </a:r>
            <a:endParaRPr sz="38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8C139F-EF7F-44EF-BFCD-A7956185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697480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синтетических клиентов</a:t>
            </a:r>
            <a:endParaRPr sz="15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784716-DE01-4D79-9F1B-B7DC4A95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46120"/>
            <a:ext cx="24688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35A99B"/>
                </a:solidFill>
                <a:latin typeface="Inter Display"/>
                <a:ea typeface="Inter Display"/>
                <a:cs typeface="Inter Display"/>
              </a:rPr>
              <a:t>3 072</a:t>
            </a:r>
            <a:endParaRPr sz="38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5693D9C-69A4-49C9-BCB7-1065C6E7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794760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зарегистрированных артефакта</a:t>
            </a:r>
            <a:endParaRPr sz="15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ECBAAFB-47B7-4B71-9D0B-E520DA83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425696"/>
            <a:ext cx="27889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BCFA543-F603-4CE7-B25F-6D8F5565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608576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100" b="1">
                <a:solidFill>
                  <a:srgbClr val="D8614B"/>
                </a:solidFill>
                <a:latin typeface="Inter Display"/>
                <a:ea typeface="Inter Display"/>
                <a:cs typeface="Inter Display"/>
              </a:rPr>
              <a:t>INCOMPLETE</a:t>
            </a:r>
            <a:endParaRPr sz="2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E56AEB-C559-493C-A685-24B06375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4983480"/>
            <a:ext cx="23317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остались 2 скрытых копии</a:t>
            </a:r>
            <a:endParaRPr sz="1300"/>
          </a:p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и 1 непроверенный канал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979FA13-4D50-4E8B-92E5-7CB76F10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993392"/>
            <a:ext cx="7571232" cy="3977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b712bec294c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3671" y="2121408"/>
            <a:ext cx="5324850" cy="3703320"/>
          </a:xfrm>
          <a:prstGeom xmlns:a="http://schemas.openxmlformats.org/drawingml/2006/main" prst="rect">
            <a:avLst/>
          </a:prstGeom>
        </p:spPr>
      </p:pic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2727C8-66E4-4EE4-8312-D9EC27F5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989320"/>
            <a:ext cx="10469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5B7069"/>
                </a:solidFill>
                <a:latin typeface="Inter"/>
                <a:ea typeface="Inter"/>
                <a:cs typeface="Inter"/>
              </a:rPr>
              <a:t>Демонстрация показывает не красивый интерфейс, а проверяемый путь: найти → удалить → перепроверить.</a:t>
            </a:r>
            <a:endParaRPr sz="1320"/>
          </a:p>
        </p:txBody>
      </p:sp>
    </p:spTree>
    <p:extLst>
      <p:ext uri="{BB962C8B-B14F-4D97-AF65-F5344CB8AC3E}">
        <p14:creationId xmlns:p14="http://schemas.microsoft.com/office/powerpoint/2010/main" val="12215962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EB2853-B2C5-4645-BC80-736BC763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D6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18DAE52-FFDC-41D4-BF3C-27062BFD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">
            <a:off x="0" y="6236208"/>
            <a:ext cx="1920240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38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C0AAE57-7EE8-43CC-A2CA-CCB44D6C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9AF0BC1-56F6-46BB-85A0-7ACA5F01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AE77897-DD36-4F8F-ACBD-4306921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28EFE5B-03FC-446F-B330-0AB8039B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1F64AD7-0C9A-41B8-8F4A-A8F08C63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ДОКАЗАТЕЛЬСТВА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97B4F5-44E7-4239-9417-92398C6A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06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46AA2EB-85ED-4DAC-96C7-5536276E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DDF6197-E403-450D-8133-D14953FF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Сравнение 1 / ложное «ГОТОВО»</a:t>
            </a:r>
            <a:endParaRPr sz="3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3B0773A-D052-4DDF-83F5-C5EC85ED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Безопасность: false-COMPLETE — система сказала «готово», хотя данные ещё можно восстановить. Ниже — лучше.</a:t>
            </a:r>
            <a:endParaRPr sz="15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D2EA738-78E0-4ACA-A603-2271F1D5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93392"/>
            <a:ext cx="8394192" cy="3675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00B1C40-20FD-49E3-8FF1-8FFCE045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1408"/>
            <a:ext cx="242316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B35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18DD8F2-DE2F-4066-BE47-E8F69E4E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57984"/>
            <a:ext cx="2240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 spc="25">
                <a:solidFill>
                  <a:srgbClr val="FFFFFF"/>
                </a:solidFill>
                <a:latin typeface="Inter"/>
                <a:ea typeface="Inter"/>
                <a:cs typeface="Inter"/>
              </a:rPr>
              <a:t>БЕЗОПАСНОСТЬ  ·  НИЖЕ ЛУЧШЕ</a:t>
            </a:r>
            <a:endParaRPr sz="820"/>
          </a:p>
        </p:txBody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65edb37624b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2488468"/>
            <a:ext cx="8065008" cy="2896048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C469BE58-F6AE-475F-A2C8-384DE590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2212848"/>
            <a:ext cx="1463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0 / 60</a:t>
            </a:r>
            <a:endParaRPr sz="2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272E6A9-6AB3-40CE-AA2C-1567B96C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2560320"/>
            <a:ext cx="1645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открытый перенос</a:t>
            </a:r>
            <a:endParaRPr sz="95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08999E8-3A80-4276-876C-0992D231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3246120"/>
            <a:ext cx="1463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35A99B"/>
                </a:solidFill>
                <a:latin typeface="Inter Display"/>
                <a:ea typeface="Inter Display"/>
                <a:cs typeface="Inter Display"/>
              </a:rPr>
              <a:t>0 / 75</a:t>
            </a:r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86EF183-A4E9-471A-88CC-7A5403BD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3593592"/>
            <a:ext cx="1645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исходный протокол</a:t>
            </a:r>
            <a:endParaRPr sz="95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C046739-297F-4A2B-9ADA-47B67F96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4279392"/>
            <a:ext cx="1463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2C7C70"/>
                </a:solidFill>
                <a:latin typeface="Inter Display"/>
                <a:ea typeface="Inter Display"/>
                <a:cs typeface="Inter Display"/>
              </a:rPr>
              <a:t>20 / 20</a:t>
            </a:r>
            <a:endParaRPr sz="24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48FE779-1C24-428E-9882-63BAF2DF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4626864"/>
            <a:ext cx="1645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повторная проверка</a:t>
            </a:r>
            <a:endParaRPr sz="95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AE88E39-0438-4AB3-B078-736C13DE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1472" y="516636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7069"/>
                </a:solidFill>
                <a:latin typeface="Inter"/>
                <a:ea typeface="Inter"/>
                <a:cs typeface="Inter"/>
              </a:rPr>
              <a:t>Ограниченный протокол;</a:t>
            </a:r>
            <a:endParaRPr sz="1000"/>
          </a:p>
          <a:p xmlns:a="http://schemas.openxmlformats.org/drawingml/2006/main">
            <a:pPr marL="0" indent="0" algn="l">
              <a:buNone/>
            </a:pPr>
            <a:r>
              <a:rPr sz="1000">
                <a:solidFill>
                  <a:srgbClr val="5B7069"/>
                </a:solidFill>
                <a:latin typeface="Inter"/>
                <a:ea typeface="Inter"/>
                <a:cs typeface="Inter"/>
              </a:rPr>
              <a:t>не заявление о внедрении.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15130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01C68B9-7301-4DB4-89BE-1EDCDDDE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23AB93E-5DAB-4B46-93E8-464EA063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64BF0D-71A7-42F6-BCA0-58751438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9C86C7C-95DF-49F5-AD96-1AF9DF40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58BDCC6-7BE6-42E4-9530-395FADA7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AF7576F-3F0D-474E-816E-1428E4A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ДОКАЗАТЕЛЬСТВА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6306106-2755-4E42-8F9A-2135521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07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7FA4C92-F93F-459F-A276-721F9D05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1019610-84D7-455D-AC5D-3AD190B1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Сравнение 2 / эффективность</a:t>
            </a:r>
            <a:endParaRPr sz="3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413B706-8E4A-469E-A96C-3872914C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Одна задача удаления: стоимость действий, время, байты и успешное завершение. Ниже — лучше.</a:t>
            </a:r>
            <a:endParaRPr sz="15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DC0DC19-63C2-4E9D-AB1F-3FBC3A41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93392"/>
            <a:ext cx="8650224" cy="365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9F846A0-F158-4326-967E-EB983861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1408"/>
            <a:ext cx="242316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B35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E86AAE-19D8-46C2-BC84-0AF1467E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57984"/>
            <a:ext cx="2240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 spc="25">
                <a:solidFill>
                  <a:srgbClr val="FFFFFF"/>
                </a:solidFill>
                <a:latin typeface="Inter"/>
                <a:ea typeface="Inter"/>
                <a:cs typeface="Inter"/>
              </a:rPr>
              <a:t>СТОИМОСТЬ  ·  ВРЕМЯ  ·  БАЙТЫ  ·  НИЖЕ ЛУЧШЕ</a:t>
            </a:r>
            <a:endParaRPr sz="820"/>
          </a:p>
        </p:txBody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0c111fb6841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544" y="2618463"/>
            <a:ext cx="8321040" cy="2471467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8757DBF7-54C0-424B-8FE3-1F224792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2212848"/>
            <a:ext cx="1463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17.64×</a:t>
            </a:r>
            <a:endParaRPr sz="2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D9BA5F2-807B-493A-A179-CE7E95F3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2560320"/>
            <a:ext cx="1645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быстрее полной пересборки</a:t>
            </a:r>
            <a:endParaRPr sz="9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0E2D2A4-48CC-4B2E-9B31-911AEA33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3246120"/>
            <a:ext cx="1463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35A99B"/>
                </a:solidFill>
                <a:latin typeface="Inter Display"/>
                <a:ea typeface="Inter Display"/>
                <a:cs typeface="Inter Display"/>
              </a:rPr>
              <a:t>−94.62%</a:t>
            </a:r>
            <a:endParaRPr sz="24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FFE91F3-ADF6-447D-97B0-7EA90944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3593592"/>
            <a:ext cx="1645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перезаписанные байты</a:t>
            </a:r>
            <a:endParaRPr sz="95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4279C60-08DE-44BC-98EB-FD1040C6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4279392"/>
            <a:ext cx="14630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2C7C70"/>
                </a:solidFill>
                <a:latin typeface="Inter Display"/>
                <a:ea typeface="Inter Display"/>
                <a:cs typeface="Inter Display"/>
              </a:rPr>
              <a:t>17</a:t>
            </a:r>
            <a:endParaRPr sz="24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4CFB67E-EF8F-4737-86AB-44625718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4626864"/>
            <a:ext cx="1645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5B7069"/>
                </a:solidFill>
                <a:latin typeface="Inter"/>
                <a:ea typeface="Inter"/>
                <a:cs typeface="Inter"/>
              </a:rPr>
              <a:t>средняя стоимость</a:t>
            </a:r>
            <a:endParaRPr sz="950"/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571BCCD-07F2-485E-9D38-B1CDA80A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56" y="5175504"/>
            <a:ext cx="20574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7691710-A0A0-445E-BDCA-877C7110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28523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Сначала safety,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потом оптимизация.</a:t>
            </a:r>
            <a:endParaRPr sz="1020"/>
          </a:p>
        </p:txBody>
      </p:sp>
    </p:spTree>
    <p:extLst>
      <p:ext uri="{BB962C8B-B14F-4D97-AF65-F5344CB8AC3E}">
        <p14:creationId xmlns:p14="http://schemas.microsoft.com/office/powerpoint/2010/main" val="891396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EA302F6-D3C7-4AC7-9F29-32E89B55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D6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647180E-BFDB-4518-A92E-8307EF33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645D96E-45CF-4538-B5CC-95EB4561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81BE14A-407A-40F8-8857-BBAE064E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D573119-CFB9-44C1-9C52-C6D1E0EE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7DC166F-448B-4184-B16E-3F97BDE8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ДОКАЗАТЕЛЬСТВА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8E94EF2-BC6E-4090-9328-57EEFE98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08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6C10173-D760-478E-AAD6-54FBE798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4F956A6-AD85-4A5E-B09C-C0363157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Сравнение 3 / поиск скрытого пути</a:t>
            </a:r>
            <a:endParaRPr sz="3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6BE222-3D2F-4F8F-8DD5-B8A9158A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Активная проба сокращает пространство гипотез после каждого ответа системы восстановления.</a:t>
            </a:r>
            <a:endParaRPr sz="15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34727FE-107D-4099-8F15-904036D2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93392"/>
            <a:ext cx="7571232" cy="3675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E8007D7-A4E8-4CF7-A72B-ABAC4E9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21408"/>
            <a:ext cx="2423160" cy="246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B35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84F7FDC-71D0-4972-8680-7B7EBB21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157984"/>
            <a:ext cx="2240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 spc="25">
                <a:solidFill>
                  <a:srgbClr val="FFFFFF"/>
                </a:solidFill>
                <a:latin typeface="Inter"/>
                <a:ea typeface="Inter"/>
                <a:cs typeface="Inter"/>
              </a:rPr>
              <a:t>ПОИСК ПУТИ  ·  НИЖЕ ЛУЧШЕ</a:t>
            </a:r>
            <a:endParaRPr sz="820"/>
          </a:p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0333c57ca48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88" y="2680657"/>
            <a:ext cx="7223760" cy="2593966"/>
          </a:xfrm>
          <a:prstGeom xmlns:a="http://schemas.openxmlformats.org/drawingml/2006/main" prst="rect">
            <a:avLst/>
          </a:prstGeom>
        </p:spPr>
      </p:pic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F469D1-7B89-47C3-8F57-9860E617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1993392"/>
            <a:ext cx="2834640" cy="3675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D3380CE-54C7-4C31-9067-D27EAF2A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233172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Почему это важно</a:t>
            </a:r>
            <a:endParaRPr sz="2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96EE896-AEEC-4D9E-BDA5-085749F3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2962656"/>
            <a:ext cx="502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7</a:t>
            </a:r>
            <a:endParaRPr sz="24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3CBA501-2357-4878-AD31-1CA72033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035808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EraSeMap</a:t>
            </a:r>
            <a:endParaRPr sz="11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BDD6162-E647-431A-A350-18ED3131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3529584"/>
            <a:ext cx="502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5B7069"/>
                </a:solidFill>
                <a:latin typeface="Inter Display"/>
                <a:ea typeface="Inter Display"/>
                <a:cs typeface="Inter Display"/>
              </a:rPr>
              <a:t>13</a:t>
            </a:r>
            <a:endParaRPr sz="24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9A6936D5-3BEE-4220-B8BE-F386EB6A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60273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случайный</a:t>
            </a:r>
            <a:endParaRPr sz="11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B02B7AD-570C-4C70-A4B0-832B7479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968" y="4096512"/>
            <a:ext cx="5029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5B7069"/>
                </a:solidFill>
                <a:latin typeface="Inter Display"/>
                <a:ea typeface="Inter Display"/>
                <a:cs typeface="Inter Display"/>
              </a:rPr>
              <a:t>49</a:t>
            </a:r>
            <a:endParaRPr sz="24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8553896-ACDA-49A6-ADB4-77D00B7E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41696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полный перебор</a:t>
            </a:r>
            <a:endParaRPr sz="11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89F69A7-229F-481A-9F29-E3F015D3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1392" y="5266944"/>
            <a:ext cx="228600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7DF1043F-AC27-417C-B068-5666BFD1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5358384"/>
            <a:ext cx="20665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50 / 50 новых семейств вне разработки</a:t>
            </a:r>
            <a:endParaRPr sz="840"/>
          </a:p>
        </p:txBody>
      </p:sp>
    </p:spTree>
    <p:extLst>
      <p:ext uri="{BB962C8B-B14F-4D97-AF65-F5344CB8AC3E}">
        <p14:creationId xmlns:p14="http://schemas.microsoft.com/office/powerpoint/2010/main" val="10680685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A4C375-9BC5-4E9F-AC88-546DD18B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CA84F5C-7DB5-47F7-8453-35FA6348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A76F278-19D8-477D-AB68-9F8D28F2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DD07A66-FC3E-4A7F-91C0-90A255A9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B4B3A4F-C046-44E9-BE54-295CAD14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A97012-E6FC-49DE-92AE-6EB9B375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ДОКАЗАТЕЛЬСТВА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05B7A2D-770D-4671-91D1-F0CED519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09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B796285-1E08-4549-8A55-31D3D1A2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E14154C-620A-4B23-A4FE-7C950260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Сравнение 4 / итог по критериям</a:t>
            </a:r>
            <a:endParaRPr sz="3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508E19-A129-424D-9E48-3A36B326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Четыре независимых критерия — не единый сводный балл.</a:t>
            </a:r>
            <a:endParaRPr sz="15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D567C96-0D3C-4EE5-A4B8-DED34B1E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93392"/>
            <a:ext cx="7735824" cy="3675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BCA194B-39EF-4A61-B59F-C5936721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28600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Где EraSeMap лучше</a:t>
            </a:r>
            <a:endParaRPr sz="2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B69F435-84B0-4D07-9D6D-D4359425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7086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59CA3BB-E120-4C68-BEFA-A26D8E2B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285292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3B8E6E-B601-4FE5-888E-D5AE2F71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2779776"/>
            <a:ext cx="2331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Безопасность</a:t>
            </a:r>
            <a:endParaRPr sz="11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7733FFA-2C28-466D-A967-0657387C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3017520"/>
            <a:ext cx="1417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5B7069"/>
                </a:solidFill>
                <a:latin typeface="Inter"/>
                <a:ea typeface="Inter"/>
                <a:cs typeface="Inter"/>
              </a:rPr>
              <a:t>ложное «ГОТОВО» ↓</a:t>
            </a:r>
            <a:endParaRPr sz="8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1F6A1AF-1D01-469C-A649-E569F9C9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779776"/>
            <a:ext cx="1051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70" b="1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</a:t>
            </a:r>
            <a:endParaRPr sz="87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36227BE-C612-411E-8B42-FC80C07C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743200"/>
            <a:ext cx="868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0 / 100</a:t>
            </a:r>
            <a:endParaRPr sz="15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A413620-5465-4B05-9790-10BA60C23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999232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CDDCD5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4A0C37-44F6-47D4-AF26-AED87A7F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779776"/>
            <a:ext cx="914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7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чек-лист</a:t>
            </a:r>
            <a:endParaRPr sz="87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FB960D8-85FE-4070-BD07-2EC22F42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2743200"/>
            <a:ext cx="8961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24564C"/>
                </a:solidFill>
                <a:latin typeface="Inter Display"/>
                <a:ea typeface="Inter Display"/>
                <a:cs typeface="Inter Display"/>
              </a:rPr>
              <a:t>100 / 100</a:t>
            </a:r>
            <a:endParaRPr sz="15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BC770126-7FBD-4C88-A50F-B7F81BDF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383280"/>
            <a:ext cx="7086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CC5877B-3990-4374-9C7E-C888A97B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56616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A99B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2B0C46C-8CE6-48B0-BF76-E11F9B05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3493008"/>
            <a:ext cx="2331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Будущая регенерация</a:t>
            </a:r>
            <a:endParaRPr sz="112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84A71C0-3F87-450E-9D89-1E66D6FA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3730752"/>
            <a:ext cx="1417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5B7069"/>
                </a:solidFill>
                <a:latin typeface="Inter"/>
                <a:ea typeface="Inter"/>
                <a:cs typeface="Inter"/>
              </a:rPr>
              <a:t>найденные риски ↑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C0AF27B-E268-475F-8B90-89A2BCAB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3493008"/>
            <a:ext cx="1051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70" b="1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</a:t>
            </a:r>
            <a:endParaRPr sz="87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50B6C275-7F1B-45E9-B825-13B2491F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456432"/>
            <a:ext cx="868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30 / 30</a:t>
            </a:r>
            <a:endParaRPr sz="15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200E55F-8C67-4BB4-8443-5D15F129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712464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CDDCD5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9E88683-BE84-40EE-96BB-4874674E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3493008"/>
            <a:ext cx="914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7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снимок</a:t>
            </a:r>
            <a:endParaRPr sz="87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D4D6204-AE10-4D9D-9DE8-A3D5BE2A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3456432"/>
            <a:ext cx="8961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24564C"/>
                </a:solidFill>
                <a:latin typeface="Inter Display"/>
                <a:ea typeface="Inter Display"/>
                <a:cs typeface="Inter Display"/>
              </a:rPr>
              <a:t>0 / 30</a:t>
            </a:r>
            <a:endParaRPr sz="150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63421D07-8070-433E-A4B4-4C3B73AD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096512"/>
            <a:ext cx="7086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EF139C6-F815-4F30-85DE-539F35C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2793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9D91"/>
          </a:solidFill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CF0848B-46C4-4334-BC38-A4F46EC8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4206240"/>
            <a:ext cx="2331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Стоимость действий</a:t>
            </a:r>
            <a:endParaRPr sz="112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10B244B-EA98-40F8-9408-B61E65B2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4443984"/>
            <a:ext cx="1417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5B7069"/>
                </a:solidFill>
                <a:latin typeface="Inter"/>
                <a:ea typeface="Inter"/>
                <a:cs typeface="Inter"/>
              </a:rPr>
              <a:t>средняя стоимость ↓</a:t>
            </a:r>
            <a:endParaRPr sz="85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E9856A8-B61C-4324-92AA-2E954145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206240"/>
            <a:ext cx="1051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70" b="1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</a:t>
            </a:r>
            <a:endParaRPr sz="87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780D1D5-FADD-413E-BB81-4FCB4ADD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4169664"/>
            <a:ext cx="868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17</a:t>
            </a:r>
            <a:endParaRPr sz="150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D05774F-C623-4005-89E1-A6C05D6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4425696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CDDCD5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02F6E9ED-792A-4C24-ABA4-93FFBDC5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206240"/>
            <a:ext cx="914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7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удалить всё</a:t>
            </a:r>
            <a:endParaRPr sz="87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FC558D89-2F30-4169-B788-283BE9E0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169664"/>
            <a:ext cx="8961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24564C"/>
                </a:solidFill>
                <a:latin typeface="Inter Display"/>
                <a:ea typeface="Inter Display"/>
                <a:cs typeface="Inter Display"/>
              </a:rPr>
              <a:t>48.67</a:t>
            </a:r>
            <a:endParaRPr sz="150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A55AE05-D4B3-4739-9D1A-ED673A23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809744"/>
            <a:ext cx="7086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F0298AC-24BA-464B-9B26-71E4E84B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9926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C70"/>
          </a:solidFill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EEA37E01-EDA2-49C0-A6EB-3D3D8449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4919472"/>
            <a:ext cx="23317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Время задачи</a:t>
            </a:r>
            <a:endParaRPr sz="112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40923EA6-5E6F-45CF-85A6-C0EECACF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5157216"/>
            <a:ext cx="141732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5B7069"/>
                </a:solidFill>
                <a:latin typeface="Inter"/>
                <a:ea typeface="Inter"/>
                <a:cs typeface="Inter"/>
              </a:rPr>
              <a:t>норм. время ↓</a:t>
            </a:r>
            <a:endParaRPr sz="85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41FCC5F4-EFFB-401E-B06C-714B2501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4919472"/>
            <a:ext cx="1051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70" b="1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</a:t>
            </a:r>
            <a:endParaRPr sz="87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17DE62C5-AECF-4F14-B4B0-38BC59AD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4882896"/>
            <a:ext cx="8686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5.67%</a:t>
            </a:r>
            <a:endParaRPr sz="150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BD51F97-B891-4AD8-876E-E075F466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5138928"/>
            <a:ext cx="320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CDDCD5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3AC770FF-C83B-4F59-AD86-914AFF08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919472"/>
            <a:ext cx="914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7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пересобрать всё</a:t>
            </a:r>
            <a:endParaRPr sz="87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87CAB697-2810-44EB-BDFE-57888D68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72" y="4882896"/>
            <a:ext cx="89611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24564C"/>
                </a:solidFill>
                <a:latin typeface="Inter Display"/>
                <a:ea typeface="Inter Display"/>
                <a:cs typeface="Inter Display"/>
              </a:rPr>
              <a:t>100%</a:t>
            </a:r>
            <a:endParaRPr sz="150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23E47068-7D1A-4425-B247-7CABB0A5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1993392"/>
            <a:ext cx="2670048" cy="3675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D45F063B-18C9-4998-8EA1-AA47CEAE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331720"/>
            <a:ext cx="22311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900" b="1">
                <a:solidFill>
                  <a:srgbClr val="D8614B"/>
                </a:solidFill>
                <a:latin typeface="Inter Display"/>
                <a:ea typeface="Inter Display"/>
                <a:cs typeface="Inter Display"/>
              </a:rPr>
              <a:t>Где не заявляем</a:t>
            </a:r>
            <a:endParaRPr sz="19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72AA21CC-FA2E-41BE-8D3D-CE399D53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2999232"/>
            <a:ext cx="217627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Кандидат MUFAC не прошёл</a:t>
            </a:r>
            <a:endParaRPr sz="1030"/>
          </a:p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порог полезности для</a:t>
            </a:r>
            <a:endParaRPr sz="1030"/>
          </a:p>
          <a:p xmlns:a="http://schemas.openxmlformats.org/drawingml/2006/main">
            <a:pPr marL="0" indent="0" algn="ctr">
              <a:buNone/>
            </a:pPr>
            <a:r>
              <a:rPr sz="103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оставшихся пользователей.</a:t>
            </a:r>
            <a:endParaRPr sz="103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3104CDF8-0DB6-4525-BE52-7C2DFA68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408" y="3703320"/>
            <a:ext cx="2176272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FE9EB3CF-EA8D-41D7-90D7-91F0A2ED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822192"/>
            <a:ext cx="18836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D8614B"/>
                </a:solidFill>
                <a:latin typeface="Inter"/>
                <a:ea typeface="Inter"/>
                <a:cs typeface="Inter"/>
              </a:rPr>
              <a:t>FAIL · полезность</a:t>
            </a:r>
            <a:endParaRPr sz="90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B531E76C-699F-49B3-ACDD-499BD07F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389120"/>
            <a:ext cx="2377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5B7069"/>
                </a:solidFill>
                <a:latin typeface="Inter"/>
                <a:ea typeface="Inter"/>
                <a:cs typeface="Inter"/>
              </a:rPr>
              <a:t>Точная пересборка сохраняет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5B7069"/>
                </a:solidFill>
                <a:latin typeface="Inter"/>
                <a:ea typeface="Inter"/>
                <a:cs typeface="Inter"/>
              </a:rPr>
              <a:t>безопасность, но не ускоряет работу.</a:t>
            </a:r>
            <a:endParaRPr sz="102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840F6C71-127E-4101-AF9C-C74BA1D0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5157216"/>
            <a:ext cx="22494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B7069"/>
                </a:solidFill>
                <a:latin typeface="Inter"/>
                <a:ea typeface="Inter"/>
                <a:cs typeface="Inter"/>
              </a:rPr>
              <a:t>Метрики взяты из отдельных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B7069"/>
                </a:solidFill>
                <a:latin typeface="Inter"/>
                <a:ea typeface="Inter"/>
                <a:cs typeface="Inter"/>
              </a:rPr>
              <a:t>экспериментов с одним протоколом.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35185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C8582CA-2C66-464E-8527-0F24F628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D6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90B4A1B-B000-44F5-B8EF-2C30C682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">
            <a:off x="0" y="6236208"/>
            <a:ext cx="1920240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38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3E7BC75-5747-4BA2-A282-94EF9087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E87798A-7151-41DB-8DFF-D5657600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5C19740-B808-437B-AF10-ABA7D03D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6F97011-E20B-4D77-9115-0FDA6BC7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BA84DAA-867B-431B-9616-C1C079DE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ТЕОРИЯ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29435A2-A893-4577-8AD5-BC674FE4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10</a:t>
            </a:r>
            <a:endParaRPr sz="8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044DF9-40DC-485A-83D5-DE2995BA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F3178C0-A8EC-42CB-8EA6-3042E49E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Формула вердикта и три проверяемых условия</a:t>
            </a:r>
            <a:endParaRPr sz="35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21EC2B3-517B-4292-96CD-8F40C44D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Короткая запись облегчает объяснение; мы проверяем совместную корректность условий.</a:t>
            </a:r>
            <a:endParaRPr sz="15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2C98CA4-69BA-4F77-A52C-4EEB81A6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84248"/>
            <a:ext cx="1019556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5829ED-4748-48E2-9DA5-F15981E9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267712"/>
            <a:ext cx="9738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COMPLETE  ⇔  P  ∧  D  ∧  T</a:t>
            </a:r>
            <a:endParaRPr sz="3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FBA7F5B-AA3C-4EB2-9925-41125376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29000"/>
            <a:ext cx="3054096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2C7C70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9C788F3-0EC7-4B24-AFFA-D224D5D0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74904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C7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4E8AC5F-F64C-4D6F-8770-A7A26045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858768"/>
            <a:ext cx="4023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P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09893C4-A840-4A3C-B78A-67FF6706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65760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физическое</a:t>
            </a:r>
            <a:endParaRPr sz="12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6E1C5D3-FAD7-4B81-9390-9E2519FA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959352"/>
            <a:ext cx="20299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40">
                <a:solidFill>
                  <a:srgbClr val="5B7069"/>
                </a:solidFill>
                <a:latin typeface="Inter"/>
                <a:ea typeface="Inter"/>
                <a:cs typeface="Inter"/>
              </a:rPr>
              <a:t>все пути закрыты</a:t>
            </a:r>
            <a:endParaRPr sz="94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95956D27-532C-4F35-A54F-94AE9B16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3429000"/>
            <a:ext cx="3054096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CC0E136-A40D-4EB1-9C6C-E350044E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74904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275A03E-B6DC-4A9C-9DB2-381E83FF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858768"/>
            <a:ext cx="4023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D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23B9D8D-F91B-43BB-BE58-9F7097BD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5760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производное</a:t>
            </a:r>
            <a:endParaRPr sz="12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474CCD2-4796-46D1-8B11-3F04E93B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959352"/>
            <a:ext cx="20299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40">
                <a:solidFill>
                  <a:srgbClr val="5B7069"/>
                </a:solidFill>
                <a:latin typeface="Inter"/>
                <a:ea typeface="Inter"/>
                <a:cs typeface="Inter"/>
              </a:rPr>
              <a:t>шаблоны + индексы</a:t>
            </a:r>
            <a:endParaRPr sz="94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28B3881-48AA-4E3B-98B7-E48B09C1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3429000"/>
            <a:ext cx="3054096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BFEF55E-6BCD-4FA8-9396-BAB7473A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4904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B808510-1660-4ED2-BE20-20385B91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858768"/>
            <a:ext cx="402336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T</a:t>
            </a:r>
            <a:endParaRPr sz="13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9789FBD-4A0B-4081-B75F-D65CA55D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365760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временное</a:t>
            </a:r>
            <a:endParaRPr sz="122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2C58953-D35C-43B5-94ED-BE9ED04D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3959352"/>
            <a:ext cx="20299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40">
                <a:solidFill>
                  <a:srgbClr val="5B7069"/>
                </a:solidFill>
                <a:latin typeface="Inter"/>
                <a:ea typeface="Inter"/>
                <a:cs typeface="Inter"/>
              </a:rPr>
              <a:t>повтор не вернёт данные</a:t>
            </a:r>
            <a:endParaRPr sz="94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4B2EBAA-0A9C-40AA-9BFA-468478E2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84648"/>
            <a:ext cx="10149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4564C"/>
                </a:solidFill>
                <a:latin typeface="Inter"/>
                <a:ea typeface="Inter"/>
                <a:cs typeface="Inter"/>
              </a:rPr>
              <a:t>3 072 / 3 072 формальных проверок прошли в проверяющей программе проекта.</a:t>
            </a:r>
            <a:endParaRPr sz="12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D258356-42CE-4B63-BC8B-314620CC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650992"/>
            <a:ext cx="10012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20">
                <a:solidFill>
                  <a:srgbClr val="5B7069"/>
                </a:solidFill>
                <a:latin typeface="Inter"/>
                <a:ea typeface="Inter"/>
                <a:cs typeface="Inter"/>
              </a:rPr>
              <a:t>Это проверка соответствия протоколу, а не доказательство внедрения в рабочую систему.</a:t>
            </a:r>
            <a:endParaRPr sz="1120"/>
          </a:p>
        </p:txBody>
      </p:sp>
    </p:spTree>
    <p:extLst>
      <p:ext uri="{BB962C8B-B14F-4D97-AF65-F5344CB8AC3E}">
        <p14:creationId xmlns:p14="http://schemas.microsoft.com/office/powerpoint/2010/main" val="17380444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C89D860-1C92-4791-9FBE-CED3B05F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5B0E2A-4782-40E2-9ABF-2DB2DDDF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1B30AC3-8214-499E-980E-B99AC62F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6C130D9-5DBC-490F-BF90-0E6932D5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F27CA2E-C926-4784-AC44-9B9A0E82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F0EB8D0-A46C-489C-84A2-E0BE10A7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ОГРАНИЧЕНИЕ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F57532D-84B9-4498-9924-AD916075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11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250ED5C-9868-47AD-A336-B6D62A74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968B60B-A58F-48A1-859B-999F0B47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Влияние на модель — отдельный канал</a:t>
            </a:r>
            <a:endParaRPr sz="3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674A144-3A29-46DF-8952-92FA495A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Машинное разучивание (machine unlearning) проверяется отдельно и не заменяет физическое удаление.</a:t>
            </a:r>
            <a:endParaRPr sz="15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5FA887C-EDE0-4706-B0F2-DC8DC3EF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93392"/>
            <a:ext cx="5074920" cy="3520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D3385-2271-4DDE-80A5-09FE802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331720"/>
            <a:ext cx="4343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Что проверяем</a:t>
            </a:r>
            <a:endParaRPr sz="20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9F19AFF-0C92-4C34-BB3D-B1870F14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9232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C70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7EFD7AD-AB18-4B95-B1FF-844B2D2D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1528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01</a:t>
            </a:r>
            <a:endParaRPr sz="7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F547575-8386-40BA-AA55-7E3CEBC8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3017520"/>
            <a:ext cx="3611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влияние / полезность для оставшихся</a:t>
            </a:r>
            <a:endParaRPr sz="12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4071D13-F76E-4C7D-995A-5DAAB67B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383D5BD-152C-4746-9E68-F0EE4F49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9896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02</a:t>
            </a:r>
            <a:endParaRPr sz="7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B690A8F-88D2-4697-92BD-0CFB95AF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3675888"/>
            <a:ext cx="3611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сравнение с точным переобучением</a:t>
            </a:r>
            <a:endParaRPr sz="12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6670D42-28B5-4603-85DF-A238CDA5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15968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306908A-3FAD-4D15-B484-B0A353BC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98264"/>
            <a:ext cx="2743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03</a:t>
            </a:r>
            <a:endParaRPr sz="7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5D511B7-C03D-46C6-992E-257672CE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632" y="4334256"/>
            <a:ext cx="3611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атака на приватность + порог качества</a:t>
            </a:r>
            <a:endParaRPr sz="122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D4C6400-AD1A-49C4-8530-82980D3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93392"/>
            <a:ext cx="5138928" cy="3520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4B06F29-6BBE-4434-B9A4-3475AA83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1720"/>
            <a:ext cx="442569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D8614B"/>
                </a:solidFill>
                <a:latin typeface="Inter Display"/>
                <a:ea typeface="Inter Display"/>
                <a:cs typeface="Inter Display"/>
              </a:rPr>
              <a:t>Реальный результат</a:t>
            </a:r>
            <a:endParaRPr sz="2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0F78F07-2BE1-4321-8197-BC6AE040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9232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Быстрый метод MUFAC</a:t>
            </a:r>
            <a:endParaRPr sz="16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1DD5F240-B8A5-4F1D-A4F4-248E13BB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64992"/>
            <a:ext cx="2395728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EC7411C-E269-47E2-86B4-D4EED0F5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3447288"/>
            <a:ext cx="215798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D8614B"/>
                </a:solidFill>
                <a:latin typeface="Inter"/>
                <a:ea typeface="Inter"/>
                <a:cs typeface="Inter"/>
              </a:rPr>
              <a:t>FAIL · порог полезности</a:t>
            </a:r>
            <a:endParaRPr sz="81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FA34C51-73FB-44AB-BB93-7B63A9CB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42232"/>
            <a:ext cx="3566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 b="1">
                <a:solidFill>
                  <a:srgbClr val="078C82"/>
                </a:solidFill>
                <a:latin typeface="Inter"/>
                <a:ea typeface="Inter"/>
                <a:cs typeface="Inter"/>
              </a:rPr>
              <a:t>Точное переобучение</a:t>
            </a:r>
            <a:endParaRPr sz="160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57C3B6C-E4CB-444A-A477-9C0A99EE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07992"/>
            <a:ext cx="2304288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774C411-7F92-4E1A-95AA-81918FDE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272" y="4590288"/>
            <a:ext cx="2066544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10" b="1">
                <a:solidFill>
                  <a:srgbClr val="078C82"/>
                </a:solidFill>
                <a:latin typeface="Inter"/>
                <a:ea typeface="Inter"/>
                <a:cs typeface="Inter"/>
              </a:rPr>
              <a:t>PASS · безопасно / без ускорения</a:t>
            </a:r>
            <a:endParaRPr sz="81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93C36E3E-63E0-4E3E-BAC6-97330ADB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97880"/>
            <a:ext cx="99669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60">
                <a:solidFill>
                  <a:srgbClr val="5B7069"/>
                </a:solidFill>
                <a:latin typeface="Inter"/>
                <a:ea typeface="Inter"/>
                <a:cs typeface="Inter"/>
              </a:rPr>
              <a:t>Граница: быстрое переобучение не считается успешным без проверки качества для остальных.</a:t>
            </a:r>
            <a:endParaRPr sz="1160"/>
          </a:p>
        </p:txBody>
      </p:sp>
    </p:spTree>
    <p:extLst>
      <p:ext uri="{BB962C8B-B14F-4D97-AF65-F5344CB8AC3E}">
        <p14:creationId xmlns:p14="http://schemas.microsoft.com/office/powerpoint/2010/main" val="7000212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2F95977-96C7-45DC-B8EF-44F0679C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10195560" y="36576"/>
            <a:ext cx="1755648" cy="8778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D6">
              <a:alpha val="3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FD9401-1FEA-432A-BE2B-1CC54CFD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DB7EE16-74E5-440B-8E3F-0C1E0DE4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5F9C284-E8C1-401A-A26A-75189394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699B1DF-5197-47B2-823B-A050456F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3E4602-9F87-43D3-9469-3FEB3C75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8600"/>
            <a:ext cx="3017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4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ПОЗИЦИОНИРОВАНИЕ</a:t>
            </a:r>
            <a:endParaRPr sz="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509366A-D17A-4006-84A6-A0FB4482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12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DAA799D-6A2C-4651-90ED-FAFE56ED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 spc="1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2A3409-DEA9-41CC-B5C2-009A3EB7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804672"/>
            <a:ext cx="1060704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5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Новизна — в составе доказательств</a:t>
            </a:r>
            <a:endParaRPr sz="3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2A9D851-837B-4C45-AB17-FC941FFE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44752"/>
            <a:ext cx="10241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20">
                <a:solidFill>
                  <a:srgbClr val="5B7069"/>
                </a:solidFill>
                <a:latin typeface="Inter"/>
                <a:ea typeface="Inter"/>
                <a:cs typeface="Inter"/>
              </a:rPr>
              <a:t>Не четыре разрозненных алгоритма, а одна процедура, закрывающая три риска.</a:t>
            </a:r>
            <a:endParaRPr sz="152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D1A5D0-9FBC-40D7-A910-5F5234ED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11680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0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Три отличительных объекта</a:t>
            </a:r>
            <a:endParaRPr sz="2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F2B944E-8284-43DC-936C-362E8C8D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67919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C7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72B4F60-D764-4AAE-8E32-DFEA6373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697480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путь восстановления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E6AD452-13D8-4B16-92BB-B172FA80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2971800"/>
            <a:ext cx="3154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>
                <a:solidFill>
                  <a:srgbClr val="5B7069"/>
                </a:solidFill>
                <a:latin typeface="Inter"/>
                <a:ea typeface="Inter"/>
                <a:cs typeface="Inter"/>
              </a:rPr>
              <a:t>ищем, где запись может появиться снова</a:t>
            </a:r>
            <a:endParaRPr sz="97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AC8BF24-8301-44CB-8881-2CE908A9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3814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E55090A-F9D0-45D9-8C6B-31834034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3456432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временное закрытие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A31CF30-924F-443F-AF33-BE24A692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3730752"/>
            <a:ext cx="3154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проверяем будущую регенерацию</a:t>
            </a:r>
            <a:endParaRPr sz="97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766703A-1DE3-4E6C-A892-3B4C6AF6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970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9AD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4AA1830-2536-40E3-B4EA-58D4CF2A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215384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сертификат удаления</a:t>
            </a:r>
            <a:endParaRPr sz="13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37BD91F-8879-4EB4-A8BB-3F22F7EA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4489704"/>
            <a:ext cx="3154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70">
                <a:solidFill>
                  <a:srgbClr val="5B7069"/>
                </a:solidFill>
                <a:latin typeface="Inter"/>
                <a:ea typeface="Inter"/>
                <a:cs typeface="Inter"/>
              </a:rPr>
              <a:t>показываем границу неизвестности</a:t>
            </a:r>
            <a:endParaRPr sz="97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8900A2A-9378-4F99-88F7-8F5BABDB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2011680"/>
            <a:ext cx="5843016" cy="3584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2700">
            <a:solidFill>
              <a:srgbClr val="CDDCD5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C479F2C-4719-44FB-92F8-0DC69762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340864"/>
            <a:ext cx="49560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Лестница доказательств</a:t>
            </a:r>
            <a:endParaRPr sz="20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4159E40E-4BBB-4FF1-9CA9-93E708E5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2962656"/>
            <a:ext cx="2011680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175F50A-9A8F-48CF-BF60-B6C860F0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2948"/>
            <a:ext cx="33832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D8614B"/>
                </a:solidFill>
                <a:latin typeface="Inter"/>
                <a:ea typeface="Inter"/>
                <a:cs typeface="Inter"/>
              </a:rPr>
              <a:t>→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E480AC7-F811-4194-A160-E33BEC8A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012948"/>
            <a:ext cx="30175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D8614B"/>
                </a:solidFill>
                <a:latin typeface="Inter"/>
                <a:ea typeface="Inter"/>
                <a:cs typeface="Inter"/>
              </a:rPr>
              <a:t>пилот внедрения</a:t>
            </a:r>
            <a:endParaRPr sz="88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C6386C0-B493-4014-B5EB-630307B6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3374136"/>
            <a:ext cx="2011680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7DDD6"/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4072CA5-3666-4C98-83C0-E50F6951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4428"/>
            <a:ext cx="33832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D8614B"/>
                </a:solidFill>
                <a:latin typeface="Inter"/>
                <a:ea typeface="Inter"/>
                <a:cs typeface="Inter"/>
              </a:rPr>
              <a:t>→</a:t>
            </a:r>
            <a:endParaRPr sz="8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B42B723-0569-4462-BADB-A036F1B8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424428"/>
            <a:ext cx="30175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D8614B"/>
                </a:solidFill>
                <a:latin typeface="Inter"/>
                <a:ea typeface="Inter"/>
                <a:cs typeface="Inter"/>
              </a:rPr>
              <a:t>скрытая проверка</a:t>
            </a:r>
            <a:endParaRPr sz="88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2EA822B-E2CA-4B5C-9E6F-C8090A38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3785616"/>
            <a:ext cx="3639312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FFBE3332-D657-4C14-8A60-B063D6A6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35908"/>
            <a:ext cx="33832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78C82"/>
                </a:solidFill>
                <a:latin typeface="Inter"/>
                <a:ea typeface="Inter"/>
                <a:cs typeface="Inter"/>
              </a:rPr>
              <a:t>✓</a:t>
            </a:r>
            <a:endParaRPr sz="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AF3D53E-FFB8-41C1-9754-D088377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835908"/>
            <a:ext cx="30175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семейства вне разработки</a:t>
            </a:r>
            <a:endParaRPr sz="88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9726E8C9-4967-4C07-9451-40B521C3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4197096"/>
            <a:ext cx="3493008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40DAAA4-0E1A-4D4F-828D-26367FE2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47388"/>
            <a:ext cx="33832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78C82"/>
                </a:solidFill>
                <a:latin typeface="Inter"/>
                <a:ea typeface="Inter"/>
                <a:cs typeface="Inter"/>
              </a:rPr>
              <a:t>✓</a:t>
            </a:r>
            <a:endParaRPr sz="8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16F18A0D-A641-43A5-A3FE-56C3BF1B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247388"/>
            <a:ext cx="30175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скрытая выборка</a:t>
            </a:r>
            <a:endParaRPr sz="88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9104E5E-9E8F-4510-8C09-1171A7E6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4608576"/>
            <a:ext cx="3346704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4B8C634-FAFB-402B-BE62-FE64B2D7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58868"/>
            <a:ext cx="33832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078C82"/>
                </a:solidFill>
                <a:latin typeface="Inter"/>
                <a:ea typeface="Inter"/>
                <a:cs typeface="Inter"/>
              </a:rPr>
              <a:t>✓</a:t>
            </a:r>
            <a:endParaRPr sz="8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3D6F9AB-8927-4C75-A303-A2AA2C07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658868"/>
            <a:ext cx="30175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воспроизводимая лаборатория</a:t>
            </a:r>
            <a:endParaRPr sz="88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68B8BAE5-539E-4F8B-8AEE-25FCCED5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888" y="5138928"/>
            <a:ext cx="50474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70">
                <a:solidFill>
                  <a:srgbClr val="5B7069"/>
                </a:solidFill>
                <a:latin typeface="Inter"/>
                <a:ea typeface="Inter"/>
                <a:cs typeface="Inter"/>
              </a:rPr>
              <a:t>Сейчас: воспроизводимый эксперимент и ограниченные внешние данные.</a:t>
            </a:r>
            <a:endParaRPr sz="1070"/>
          </a:p>
          <a:p xmlns:a="http://schemas.openxmlformats.org/drawingml/2006/main">
            <a:pPr marL="0" indent="0" algn="ctr">
              <a:buNone/>
            </a:pPr>
            <a:r>
              <a:rPr sz="1070">
                <a:solidFill>
                  <a:srgbClr val="5B7069"/>
                </a:solidFill>
                <a:latin typeface="Inter"/>
                <a:ea typeface="Inter"/>
                <a:cs typeface="Inter"/>
              </a:rPr>
              <a:t>Дальше нужна независимая скрытая проверка.</a:t>
            </a:r>
            <a:endParaRPr sz="1070"/>
          </a:p>
        </p:txBody>
      </p:sp>
    </p:spTree>
    <p:extLst>
      <p:ext uri="{BB962C8B-B14F-4D97-AF65-F5344CB8AC3E}">
        <p14:creationId xmlns:p14="http://schemas.microsoft.com/office/powerpoint/2010/main" val="12335285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601B5E6-A588-4176-A146-DDACA19C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40000">
            <a:off x="9912096" y="0"/>
            <a:ext cx="219456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60000"/>
            </a:srgbClr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C0D9450-95EE-4D8D-902A-146110DA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10744200" y="164592"/>
            <a:ext cx="1188720" cy="8046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D6">
              <a:alpha val="68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D839057-726F-420D-A9E0-65617735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">
            <a:off x="0" y="6236208"/>
            <a:ext cx="1920240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38000"/>
            </a:srgbClr>
          </a:solidFill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25B7AA-5974-44D4-9823-9CC7F42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960120"/>
            <a:ext cx="1325880" cy="3474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78000"/>
              </a:srgbClr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BAB0E59-BAF2-4034-8316-2EAFBFC0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420624"/>
            <a:ext cx="694944" cy="3840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CDDCD5">
                <a:alpha val="84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86BCD14-B7A5-40A6-AE6D-FC2806CF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8600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8C82"/>
          </a:solidFill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1AC1F0E-E670-4DDE-9AD8-1CABE6EF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93192"/>
            <a:ext cx="82296" cy="822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614B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0CAE2F3-6199-4D72-9C22-8E588192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2336"/>
            <a:ext cx="3291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b="1" spc="80">
                <a:solidFill>
                  <a:srgbClr val="078C82"/>
                </a:solidFill>
                <a:latin typeface="Inter"/>
                <a:ea typeface="Inter"/>
                <a:cs typeface="Inter"/>
              </a:rPr>
              <a:t>ERASEMAP  /  ВЫВОД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AA483AC-0DB9-429D-A3BF-6A34BBD7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325880"/>
            <a:ext cx="5349240" cy="1353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7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Проверять путь,</a:t>
            </a:r>
            <a:endParaRPr sz="4700"/>
          </a:p>
          <a:p xmlns:a="http://schemas.openxmlformats.org/drawingml/2006/main">
            <a:pPr marL="0" indent="0" algn="l">
              <a:buNone/>
            </a:pPr>
            <a:r>
              <a:rPr sz="4700" b="1">
                <a:solidFill>
                  <a:srgbClr val="123B35"/>
                </a:solidFill>
                <a:latin typeface="Inter Display"/>
                <a:ea typeface="Inter Display"/>
                <a:cs typeface="Inter Display"/>
              </a:rPr>
              <a:t>а не обещание.</a:t>
            </a:r>
            <a:endParaRPr sz="47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48B585F-835A-4090-9701-EE4F3EE0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246120"/>
            <a:ext cx="51663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50">
                <a:solidFill>
                  <a:srgbClr val="5B7069"/>
                </a:solidFill>
                <a:latin typeface="Inter"/>
                <a:ea typeface="Inter"/>
                <a:cs typeface="Inter"/>
              </a:rPr>
              <a:t>EraSeMap превращает удаление из одной команды</a:t>
            </a:r>
            <a:endParaRPr sz="1650"/>
          </a:p>
          <a:p xmlns:a="http://schemas.openxmlformats.org/drawingml/2006/main">
            <a:pPr marL="0" indent="0" algn="l">
              <a:buNone/>
            </a:pPr>
            <a:r>
              <a:rPr sz="1650">
                <a:solidFill>
                  <a:srgbClr val="5B7069"/>
                </a:solidFill>
                <a:latin typeface="Inter"/>
                <a:ea typeface="Inter"/>
                <a:cs typeface="Inter"/>
              </a:rPr>
              <a:t>в процедуру с проверкой возврата во времени.</a:t>
            </a:r>
            <a:endParaRPr sz="16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8DAF25F-C0C2-4065-938A-51C5E058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443984"/>
            <a:ext cx="45262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F699953-416F-4E17-B0C4-DFD4D33E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4617720"/>
            <a:ext cx="41879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B35"/>
                </a:solidFill>
                <a:latin typeface="Inter"/>
                <a:ea typeface="Inter"/>
                <a:cs typeface="Inter"/>
              </a:rPr>
              <a:t>Следующий эксперимент: независимая скрытая проверка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F9A64A7-EEC3-45A3-A450-34300A2F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2011680"/>
            <a:ext cx="1207008" cy="8046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210">
            <a:solidFill>
              <a:srgbClr val="CDDCD5">
                <a:alpha val="92000"/>
              </a:srgbClr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C551E76-D4B3-452A-8882-07617C1C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816352"/>
            <a:ext cx="566928" cy="10789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210">
            <a:solidFill>
              <a:srgbClr val="CDDCD5">
                <a:alpha val="92000"/>
              </a:srgbClr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D3DE409-B447-40DD-A49C-57D79910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255264"/>
            <a:ext cx="123444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9210">
            <a:solidFill>
              <a:srgbClr val="CDDCD5">
                <a:alpha val="92000"/>
              </a:srgbClr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E06C8E9-9481-4B72-9FCB-58DC88BD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737360"/>
            <a:ext cx="1481328" cy="14813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9E0">
              <a:alpha val="85000"/>
            </a:srgbClr>
          </a:solidFill>
          <a:ln xmlns:a="http://schemas.openxmlformats.org/drawingml/2006/main" w="12700">
            <a:solidFill>
              <a:srgbClr val="078C82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7A17C06-9BA3-4104-9036-364BE50C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331720"/>
            <a:ext cx="148132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78C82"/>
                </a:solidFill>
                <a:latin typeface="Inter Display"/>
                <a:ea typeface="Inter Display"/>
                <a:cs typeface="Inter Display"/>
              </a:rPr>
              <a:t>MAP</a:t>
            </a:r>
            <a:endParaRPr sz="15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F6BC2A7-C775-4668-AE0F-9328867A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2743200"/>
            <a:ext cx="1170432" cy="11704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DD6">
              <a:alpha val="88000"/>
            </a:srgbClr>
          </a:solidFill>
          <a:ln xmlns:a="http://schemas.openxmlformats.org/drawingml/2006/main" w="12700">
            <a:solidFill>
              <a:srgbClr val="D8614B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A7EAC4C-A20F-49EA-BBEC-701CC51B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088" y="3236976"/>
            <a:ext cx="117043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D8614B"/>
                </a:solidFill>
                <a:latin typeface="Inter Display"/>
                <a:ea typeface="Inter Display"/>
                <a:cs typeface="Inter Display"/>
              </a:rPr>
              <a:t>PROVE</a:t>
            </a:r>
            <a:endParaRPr sz="13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E5682AF-CCDC-4409-9C19-8BF7DDCB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8912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4EF">
              <a:alpha val="90000"/>
            </a:srgbClr>
          </a:solidFill>
          <a:ln xmlns:a="http://schemas.openxmlformats.org/drawingml/2006/main" w="12700">
            <a:solidFill>
              <a:srgbClr val="8DB9A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C635E7B-9539-4148-BEF2-5BEF37A9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82312"/>
            <a:ext cx="960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8DB9AD"/>
                </a:solidFill>
                <a:latin typeface="Inter Display"/>
                <a:ea typeface="Inter Display"/>
                <a:cs typeface="Inter Display"/>
              </a:rPr>
              <a:t>SAFE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118D5CB-EDE4-446B-9A64-658145BB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601968"/>
            <a:ext cx="2743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5B7069"/>
                </a:solidFill>
                <a:latin typeface="Inter"/>
                <a:ea typeface="Inter"/>
                <a:cs typeface="Inter"/>
              </a:rPr>
              <a:t>проверка удаления по доказательствам</a:t>
            </a:r>
            <a:endParaRPr sz="72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EE63925-96F6-44C6-8184-BB6EA513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28600"/>
            <a:ext cx="411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b="1">
                <a:solidFill>
                  <a:srgbClr val="5B7069"/>
                </a:solidFill>
                <a:latin typeface="Inter"/>
                <a:ea typeface="Inter"/>
                <a:cs typeface="Inter"/>
              </a:rPr>
              <a:t>13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93184305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2026-08-30T19:23:48.0660000Z</dcterms:created>
  <dcterms:modified xsi:type="dcterms:W3CDTF">2026-08-30T19:23:48.0660000Z</dcterms:modified>
</coreProperties>
</file>