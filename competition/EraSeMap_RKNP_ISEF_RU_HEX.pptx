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4a6f62f5104b2b" /><Relationship Type="http://schemas.openxmlformats.org/officeDocument/2006/relationships/extended-properties" Target="/docProps/app.xml" Id="R0fa646a5a95247e8" /><Relationship Type="http://schemas.openxmlformats.org/officeDocument/2006/relationships/officeDocument" Target="/ppt/presentation.xml" Id="Ra1eeb949b44f4b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2bfafe825c41d8"/>
  </p:sldMasterIdLst>
  <p:notesMasterIdLst>
    <p:notesMasterId xmlns:r="http://schemas.openxmlformats.org/officeDocument/2006/relationships" r:id="R3c35da0c616c4e58"/>
  </p:notesMasterIdLst>
  <p:sldIdLst>
    <p:sldId xmlns:r="http://schemas.openxmlformats.org/officeDocument/2006/relationships" id="256" r:id="R8acd291a56f140c0"/>
    <p:sldId xmlns:r="http://schemas.openxmlformats.org/officeDocument/2006/relationships" id="257" r:id="R5992104fadfe41fc"/>
    <p:sldId xmlns:r="http://schemas.openxmlformats.org/officeDocument/2006/relationships" id="258" r:id="R3baea67b876c4881"/>
    <p:sldId xmlns:r="http://schemas.openxmlformats.org/officeDocument/2006/relationships" id="259" r:id="R5261537177374eb8"/>
    <p:sldId xmlns:r="http://schemas.openxmlformats.org/officeDocument/2006/relationships" id="260" r:id="R1e0a568f1c844e44"/>
    <p:sldId xmlns:r="http://schemas.openxmlformats.org/officeDocument/2006/relationships" id="261" r:id="Rbb2e217040054a47"/>
    <p:sldId xmlns:r="http://schemas.openxmlformats.org/officeDocument/2006/relationships" id="262" r:id="R6bedd7df493243b1"/>
    <p:sldId xmlns:r="http://schemas.openxmlformats.org/officeDocument/2006/relationships" id="263" r:id="R4596e5eab2e94583"/>
    <p:sldId xmlns:r="http://schemas.openxmlformats.org/officeDocument/2006/relationships" id="264" r:id="R06a13e6591714bd5"/>
    <p:sldId xmlns:r="http://schemas.openxmlformats.org/officeDocument/2006/relationships" id="265" r:id="Rdafe33efc3364bce"/>
    <p:sldId xmlns:r="http://schemas.openxmlformats.org/officeDocument/2006/relationships" id="266" r:id="Rbdd65f6fd4ea45d9"/>
    <p:sldId xmlns:r="http://schemas.openxmlformats.org/officeDocument/2006/relationships" id="267" r:id="Rcd9b5d4265d24861"/>
    <p:sldId xmlns:r="http://schemas.openxmlformats.org/officeDocument/2006/relationships" id="268" r:id="R4718bfc6603a4e9f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20337f8132418b" /><Relationship Type="http://schemas.openxmlformats.org/officeDocument/2006/relationships/slideMaster" Target="/ppt/slideMasters/slideMaster1.xml" Id="R212bfafe825c41d8" /><Relationship Type="http://schemas.openxmlformats.org/officeDocument/2006/relationships/notesMaster" Target="/ppt/notesMasters/notesMaster1.xml" Id="R3c35da0c616c4e58" /><Relationship Type="http://schemas.openxmlformats.org/officeDocument/2006/relationships/presProps" Target="/ppt/presProps.xml" Id="R7c95d897236b4758" /><Relationship Type="http://schemas.openxmlformats.org/officeDocument/2006/relationships/tableStyles" Target="/ppt/tableStyles.xml" Id="R4a930e2a8efa446d" /><Relationship Type="http://schemas.openxmlformats.org/officeDocument/2006/relationships/slide" Target="/ppt/slides/slide1.xml" Id="R8acd291a56f140c0" /><Relationship Type="http://schemas.openxmlformats.org/officeDocument/2006/relationships/slide" Target="/ppt/slides/slide2.xml" Id="R5992104fadfe41fc" /><Relationship Type="http://schemas.openxmlformats.org/officeDocument/2006/relationships/slide" Target="/ppt/slides/slide3.xml" Id="R3baea67b876c4881" /><Relationship Type="http://schemas.openxmlformats.org/officeDocument/2006/relationships/slide" Target="/ppt/slides/slide4.xml" Id="R5261537177374eb8" /><Relationship Type="http://schemas.openxmlformats.org/officeDocument/2006/relationships/slide" Target="/ppt/slides/slide5.xml" Id="R1e0a568f1c844e44" /><Relationship Type="http://schemas.openxmlformats.org/officeDocument/2006/relationships/slide" Target="/ppt/slides/slide6.xml" Id="Rbb2e217040054a47" /><Relationship Type="http://schemas.openxmlformats.org/officeDocument/2006/relationships/slide" Target="/ppt/slides/slide7.xml" Id="R6bedd7df493243b1" /><Relationship Type="http://schemas.openxmlformats.org/officeDocument/2006/relationships/slide" Target="/ppt/slides/slide8.xml" Id="R4596e5eab2e94583" /><Relationship Type="http://schemas.openxmlformats.org/officeDocument/2006/relationships/slide" Target="/ppt/slides/slide9.xml" Id="R06a13e6591714bd5" /><Relationship Type="http://schemas.openxmlformats.org/officeDocument/2006/relationships/slide" Target="/ppt/slides/slide10.xml" Id="Rdafe33efc3364bce" /><Relationship Type="http://schemas.openxmlformats.org/officeDocument/2006/relationships/slide" Target="/ppt/slides/slide11.xml" Id="Rbdd65f6fd4ea45d9" /><Relationship Type="http://schemas.openxmlformats.org/officeDocument/2006/relationships/slide" Target="/ppt/slides/slide12.xml" Id="Rcd9b5d4265d24861" /><Relationship Type="http://schemas.openxmlformats.org/officeDocument/2006/relationships/slide" Target="/ppt/slides/slide13.xml" Id="R4718bfc6603a4e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d01b733a9c49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4382bc0a7e454f" /><Relationship Type="http://schemas.openxmlformats.org/officeDocument/2006/relationships/notesMaster" Target="/ppt/notesMasters/notesMaster1.xml" Id="R0726364e39464d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50c957427043f3" /><Relationship Type="http://schemas.openxmlformats.org/officeDocument/2006/relationships/notesMaster" Target="/ppt/notesMasters/notesMaster1.xml" Id="R187712c8b71a41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b9241e2f574b96" /><Relationship Type="http://schemas.openxmlformats.org/officeDocument/2006/relationships/notesMaster" Target="/ppt/notesMasters/notesMaster1.xml" Id="Rfb2e29416c1b4a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d78cc2fcea4c69" /><Relationship Type="http://schemas.openxmlformats.org/officeDocument/2006/relationships/notesMaster" Target="/ppt/notesMasters/notesMaster1.xml" Id="R4991abb1ee5148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3b51cf72c2429c" /><Relationship Type="http://schemas.openxmlformats.org/officeDocument/2006/relationships/notesMaster" Target="/ppt/notesMasters/notesMaster1.xml" Id="R0367dce0e09349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50ff8aa87a46c5" /><Relationship Type="http://schemas.openxmlformats.org/officeDocument/2006/relationships/notesMaster" Target="/ppt/notesMasters/notesMaster1.xml" Id="Rbfb8c82b47374a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b12a6346554e7e" /><Relationship Type="http://schemas.openxmlformats.org/officeDocument/2006/relationships/notesMaster" Target="/ppt/notesMasters/notesMaster1.xml" Id="R6b2124c0ee8145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3567fbba044f1c" /><Relationship Type="http://schemas.openxmlformats.org/officeDocument/2006/relationships/notesMaster" Target="/ppt/notesMasters/notesMaster1.xml" Id="R8546f7eef94442e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1cc3268f35471c" /><Relationship Type="http://schemas.openxmlformats.org/officeDocument/2006/relationships/notesMaster" Target="/ppt/notesMasters/notesMaster1.xml" Id="Ra699aef6c91d4b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516e9d78624263" /><Relationship Type="http://schemas.openxmlformats.org/officeDocument/2006/relationships/notesMaster" Target="/ppt/notesMasters/notesMaster1.xml" Id="R22205fa90f9c48b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0214891b8004b37" /><Relationship Type="http://schemas.openxmlformats.org/officeDocument/2006/relationships/notesMaster" Target="/ppt/notesMasters/notesMaster1.xml" Id="R8a7f4032378e4a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b18602428b44a6" /><Relationship Type="http://schemas.openxmlformats.org/officeDocument/2006/relationships/notesMaster" Target="/ppt/notesMasters/notesMaster1.xml" Id="Rdacef5e88e8641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48a3cd9d9ac4b7e" /><Relationship Type="http://schemas.openxmlformats.org/officeDocument/2006/relationships/notesMaster" Target="/ppt/notesMasters/notesMaster1.xml" Id="Rb9394854a1d749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problem: a successful DELETE response does not prove that copies, templates, caches, backups, or model derivatives are gone.</a:t>
            </a:r>
          </a:p>
          <a:p xmlns:a="http://schemas.openxmlformats.org/drawingml/2006/main">
            <a:r>
              <a:t>The visual language adapts a free hexagonal technology template; all metrics and claims in this deck come from EraSeMap project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concrete risk: a database row can be deleted while a face template, cache, backup, or model influence still permits recovery.</a:t>
            </a:r>
          </a:p>
          <a:p xmlns:a="http://schemas.openxmlformats.org/drawingml/2006/main">
            <a:r>
              <a:t>This is why EraSeMap audits a graph of copies and derivatives, not a single endpoint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across the five stages. Each stage has an explicit output, so the algorithm is explainable to a non-specialist and auditable by a reviewer.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memorable point: a safe system must be comfortable saying INCOMPLETE. The formula P ∧ D ∧ T is the gate for COMPLETE, not a generic accuracy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evidence chain, not the implementation details: registry → probes → minimal action plan → temporal replay → certificate.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metric definition aloud: false COMPLETE, not generic accuracy. A lower bar means fewer unsafe success verdicts.</a:t>
            </a:r>
          </a:p>
          <a:p xmlns:a="http://schemas.openxmlformats.org/drawingml/2006/main">
            <a:r>
              <a:t>These are bounded project experiments, not a production deployment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project does not trade away safety to be fast. The comparison is between EraSeMap, greedy planning, and delete-all under the same bounded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‘active’: the next probe is chosen to split the remaining topology hypotheses, not sampled at random.</a:t>
            </a:r>
          </a:p>
          <a:p xmlns:a="http://schemas.openxmlformats.org/drawingml/2006/main">
            <a:r>
              <a:t>The 50/50 family-held-out result is transfer evidence across unseen topology families, not a production guarantee.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designed to block overclaiming. EraSeMap is strong on evidence-led storage deletion; the model-unlearning candidate is reported as a negative or exact fallback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equation is not presented as a proof by itself. The non-trivial contribution is that sound local verifiers plus topology replay imply a sound composite verdict under declared erasure semantics.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candidate model-unlearning result is a real limitation: retained utility failed. The exact fallback is safe but loses the speed advantage. This honesty strengthens the overall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Novelty is framed as a composition: active recovery-path discovery, temporal closure, and a certificate with an explicit unknown boundary.</a:t>
            </a:r>
          </a:p>
          <a:p xmlns:a="http://schemas.openxmlformats.org/drawingml/2006/main">
            <a:r>
              <a:t>The ladder is intentionally honest about what is still missing: an independent hidden evaluator and a production 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memorable sentence. If asked what is next, answer directly: an independent hidden challenge and a production 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7ebd3bd2744b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8432a1c94c4d21" /><Relationship Type="http://schemas.openxmlformats.org/officeDocument/2006/relationships/slideLayout" Target="/ppt/slideLayouts/slideLayout1.xml" Id="Rd2b49cb69a4d4e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b49cb69a4d4e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ece1271b04343" /><Relationship Type="http://schemas.openxmlformats.org/officeDocument/2006/relationships/notesSlide" Target="/ppt/notesSlides/notesSlide1.xml" Id="Rdd5de814f1c14a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869f77dd44199" /><Relationship Type="http://schemas.openxmlformats.org/officeDocument/2006/relationships/notesSlide" Target="/ppt/notesSlides/notesSlide2.xml" Id="R60088c18b20045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a752de5674e1e" /><Relationship Type="http://schemas.openxmlformats.org/officeDocument/2006/relationships/notesSlide" Target="/ppt/notesSlides/notesSlide3.xml" Id="Rabe5b2eb6f5147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59cdd1a584206" /><Relationship Type="http://schemas.openxmlformats.org/officeDocument/2006/relationships/notesSlide" Target="/ppt/notesSlides/notesSlide4.xml" Id="R35cf85812608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3f97d288d4ff4" /><Relationship Type="http://schemas.openxmlformats.org/officeDocument/2006/relationships/notesSlide" Target="/ppt/notesSlides/notesSlide5.xml" Id="Rdb705819582b48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241206f3f4683" /><Relationship Type="http://schemas.openxmlformats.org/officeDocument/2006/relationships/image" Target="/ppt/media/image.png" Id="R5482b7631acf4bc8" /><Relationship Type="http://schemas.openxmlformats.org/officeDocument/2006/relationships/notesSlide" Target="/ppt/notesSlides/notesSlide6.xml" Id="Re0ff5541578c4eb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f274566964e94" /><Relationship Type="http://schemas.openxmlformats.org/officeDocument/2006/relationships/image" Target="/ppt/media/image2.png" Id="R80caff7a98b842aa" /><Relationship Type="http://schemas.openxmlformats.org/officeDocument/2006/relationships/notesSlide" Target="/ppt/notesSlides/notesSlide7.xml" Id="Rb94ad4d49bac46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2f8af06b04803" /><Relationship Type="http://schemas.openxmlformats.org/officeDocument/2006/relationships/image" Target="/ppt/media/image3.png" Id="R05e9449ddaaa4b67" /><Relationship Type="http://schemas.openxmlformats.org/officeDocument/2006/relationships/notesSlide" Target="/ppt/notesSlides/notesSlide8.xml" Id="Rf757a1eb5b61461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d8813d027740c9" /><Relationship Type="http://schemas.openxmlformats.org/officeDocument/2006/relationships/image" Target="/ppt/media/image4.png" Id="R26180de230d1462a" /><Relationship Type="http://schemas.openxmlformats.org/officeDocument/2006/relationships/notesSlide" Target="/ppt/notesSlides/notesSlide9.xml" Id="Rff37d469163e4f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ab0ffe6c974107" /><Relationship Type="http://schemas.openxmlformats.org/officeDocument/2006/relationships/notesSlide" Target="/ppt/notesSlides/notesSlide10.xml" Id="Rbbe1d9531e4347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462ed0c8349b6" /><Relationship Type="http://schemas.openxmlformats.org/officeDocument/2006/relationships/notesSlide" Target="/ppt/notesSlides/notesSlide11.xml" Id="R18a0b6789334413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96539369a4b30" /><Relationship Type="http://schemas.openxmlformats.org/officeDocument/2006/relationships/notesSlide" Target="/ppt/notesSlides/notesSlide12.xml" Id="Ra03a4754367b4f6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0354d87a74ffe" /><Relationship Type="http://schemas.openxmlformats.org/officeDocument/2006/relationships/notesSlide" Target="/ppt/notesSlides/notesSlide13.xml" Id="R8f6162ca616248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F178C2-88B2-4DA7-BDB9-80461BC2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7564CD-6A92-4EFE-B331-7E816157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BC465-94F6-40ED-89E3-E8844C00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ECFA6B-2F04-4671-A09B-CA4E2095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99E37-FF99-454B-AE8C-8139A9B3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B9EFE-8A60-467E-97A7-1FB2D360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63FCCD-466B-4A79-8463-4F0F40D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198857-245C-424A-8D31-CDDDAE72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0391B0-734A-4725-A5FE-4D57BF0D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9A4CA6-C869-4A65-B07D-C16ED0E1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5FC105-1026-402E-8C88-015B4F0F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8BA8C8-EB14-4C77-A59C-7FA9FC2C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90575"/>
            <a:ext cx="1181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ADFC30-CE31-4B4A-90BA-307D2BC6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181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RKNP · ISEF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44BE91-2BB1-401B-BA71-BCE92FC30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300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Удалить запись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E1C52C-D1B6-4DA8-AFB7-CA917FF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недостаточно.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9AF69E-9B18-467B-8114-794F0832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33675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Доказательная проверка удаления данных</a:t>
            </a:r>
          </a:p>
          <a:p xmlns:a="http://schemas.openxmlformats.org/drawingml/2006/main">
            <a:pPr algn="l">
              <a:defRPr sz="13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по всей цепочке копий и производных.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A1C2F6-B0F2-4296-BB41-2B7622EE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Проверяем путь, а не обещание «удалено».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F2C624-83C1-4B87-9DDF-339E4006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781050" cy="666750"/>
          </a:xfrm>
          <a:custGeom xmlns:a="http://schemas.openxmlformats.org/drawingml/2006/main">
            <a:pathLst>
              <a:path w="781050" h="666750">
                <a:moveTo>
                  <a:pt x="195263" y="0"/>
                </a:moveTo>
                <a:lnTo>
                  <a:pt x="585788" y="0"/>
                </a:lnTo>
                <a:lnTo>
                  <a:pt x="781050" y="333375"/>
                </a:lnTo>
                <a:lnTo>
                  <a:pt x="585788" y="666750"/>
                </a:lnTo>
                <a:lnTo>
                  <a:pt x="195263" y="666750"/>
                </a:lnTo>
                <a:lnTo>
                  <a:pt x="0" y="33337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5000"/>
            </a:srgbClr>
          </a:solidFill>
          <a:ln xmlns:a="http://schemas.openxmlformats.org/drawingml/2006/main" w="19050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B6068E-4DC0-4DB7-936C-6AE5D8C4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6287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BB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FF503E-6617-4A70-A33D-DA8C0DC7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85975"/>
            <a:ext cx="971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D8B42-4116-46EB-B6A5-6582D11E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762000"/>
            <a:ext cx="781050" cy="666750"/>
          </a:xfrm>
          <a:custGeom xmlns:a="http://schemas.openxmlformats.org/drawingml/2006/main">
            <a:pathLst>
              <a:path w="781050" h="666750">
                <a:moveTo>
                  <a:pt x="195263" y="0"/>
                </a:moveTo>
                <a:lnTo>
                  <a:pt x="585788" y="0"/>
                </a:lnTo>
                <a:lnTo>
                  <a:pt x="781050" y="333375"/>
                </a:lnTo>
                <a:lnTo>
                  <a:pt x="585788" y="666750"/>
                </a:lnTo>
                <a:lnTo>
                  <a:pt x="195263" y="666750"/>
                </a:lnTo>
                <a:lnTo>
                  <a:pt x="0" y="333375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19050">
            <a:solidFill>
              <a:srgbClr val="00E1C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E72602-D6A0-4DDE-84F3-13C679EC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0096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893D50-3F76-4178-A410-23728134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466850"/>
            <a:ext cx="971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derivative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6A7480-DE09-4D2B-8461-C0B08A2E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43150"/>
            <a:ext cx="781050" cy="666750"/>
          </a:xfrm>
          <a:custGeom xmlns:a="http://schemas.openxmlformats.org/drawingml/2006/main">
            <a:pathLst>
              <a:path w="781050" h="666750">
                <a:moveTo>
                  <a:pt x="195263" y="0"/>
                </a:moveTo>
                <a:lnTo>
                  <a:pt x="585788" y="0"/>
                </a:lnTo>
                <a:lnTo>
                  <a:pt x="781050" y="333375"/>
                </a:lnTo>
                <a:lnTo>
                  <a:pt x="585788" y="666750"/>
                </a:lnTo>
                <a:lnTo>
                  <a:pt x="195263" y="666750"/>
                </a:lnTo>
                <a:lnTo>
                  <a:pt x="0" y="333375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5000"/>
            </a:srgbClr>
          </a:solidFill>
          <a:ln xmlns:a="http://schemas.openxmlformats.org/drawingml/2006/main" w="19050">
            <a:solidFill>
              <a:srgbClr val="FF8C6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9FAC64-8946-4653-BAF1-539F24C2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5908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C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AF6B22-8EE3-451A-9214-84F688DD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48000"/>
            <a:ext cx="971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recovery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B4E1D9-85B4-4A05-802D-C7751D80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43250"/>
            <a:ext cx="781050" cy="666750"/>
          </a:xfrm>
          <a:custGeom xmlns:a="http://schemas.openxmlformats.org/drawingml/2006/main">
            <a:pathLst>
              <a:path w="781050" h="666750">
                <a:moveTo>
                  <a:pt x="195263" y="0"/>
                </a:moveTo>
                <a:lnTo>
                  <a:pt x="585788" y="0"/>
                </a:lnTo>
                <a:lnTo>
                  <a:pt x="781050" y="333375"/>
                </a:lnTo>
                <a:lnTo>
                  <a:pt x="585788" y="666750"/>
                </a:lnTo>
                <a:lnTo>
                  <a:pt x="195263" y="666750"/>
                </a:lnTo>
                <a:lnTo>
                  <a:pt x="0" y="333375"/>
                </a:lnTo>
                <a:close/>
              </a:path>
            </a:pathLst>
          </a:custGeom>
          <a:solidFill xmlns:a="http://schemas.openxmlformats.org/drawingml/2006/main">
            <a:srgbClr val="5A65D8">
              <a:alpha val="15000"/>
            </a:srgbClr>
          </a:solidFill>
          <a:ln xmlns:a="http://schemas.openxmlformats.org/drawingml/2006/main" w="19050">
            <a:solidFill>
              <a:srgbClr val="5A65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249210-6266-4C4E-A34C-A2E8087A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90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6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E69894-B416-46F6-81DD-62F142DB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48100"/>
            <a:ext cx="971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A398B0-548A-4395-9251-65CD961F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095375"/>
            <a:ext cx="102870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5D4D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D4A92D-4468-40F6-A7D8-0CCF9CD2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1095375"/>
            <a:ext cx="266700" cy="1581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5D4D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AF37DC-69B9-47FE-AF47-27D9C641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14500"/>
            <a:ext cx="152400" cy="176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5D4D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5C4534-BD2F-47E8-A5DC-D243CDFC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676525"/>
            <a:ext cx="1447800" cy="800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5D4D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503BF8-EF75-4F48-BB3C-F00EEE86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33775"/>
            <a:ext cx="1143000" cy="971550"/>
          </a:xfrm>
          <a:custGeom xmlns:a="http://schemas.openxmlformats.org/drawingml/2006/main">
            <a:pathLst>
              <a:path w="1143000" h="971550">
                <a:moveTo>
                  <a:pt x="285750" y="0"/>
                </a:moveTo>
                <a:lnTo>
                  <a:pt x="857250" y="0"/>
                </a:lnTo>
                <a:lnTo>
                  <a:pt x="1143000" y="485775"/>
                </a:lnTo>
                <a:lnTo>
                  <a:pt x="857250" y="971550"/>
                </a:lnTo>
                <a:lnTo>
                  <a:pt x="285750" y="971550"/>
                </a:lnTo>
                <a:lnTo>
                  <a:pt x="0" y="485775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0000"/>
            </a:srgbClr>
          </a:solidFill>
          <a:ln xmlns:a="http://schemas.openxmlformats.org/drawingml/2006/main" w="19050">
            <a:solidFill>
              <a:srgbClr val="FF8C6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15B930-3144-43E7-A8FA-45E2AE4A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957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BFB888-9959-4EE8-B73F-1FED2274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476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A37F5D-8CE0-49E2-9525-030159E2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304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612328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8E300D9-87D8-4CA2-BD45-D32B7A16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B8FE5-002E-47A9-924D-32041472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3B5F0-2348-4D7E-A610-66605199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6ED10-681A-4AB7-BE6B-50D3D946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E0460-54EB-47B8-9CD5-F3AADE4D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33E501-C8A5-42B3-A822-AB0A7B6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61F034-D75E-42C7-9829-87B6C6A7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1123A-4ECC-4C64-8258-C20FC724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7D1D1B-8EA4-4158-9321-F276ABA0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79165-2F67-46A9-865A-0D90456A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1D7CB1-0186-4D91-BA56-4E41E2F8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PROBLEM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A22EE0-E0D8-420E-93DD-9D4FBA28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7853B3-99D9-4B2C-AC68-1B2575A3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90B573-98F1-44EF-93E8-A59BD781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4DCCDE-3339-455D-A9EB-BD9DFBA5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Проблема: запись живёт дольше одной таблицы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C5092-9154-4956-B692-C1ACD91E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Копии, производные и отложенные задачи создают скрытые recovery-path.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C95857-3309-44AE-90CB-7A34AD5E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32766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0DFA5C-F503-4900-B61D-021E37E5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954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ОДНА ПЕРСОНА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DD1FA6-D7F8-4C97-BF08-9BA039B5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76475"/>
            <a:ext cx="400050" cy="314325"/>
          </a:xfrm>
          <a:custGeom xmlns:a="http://schemas.openxmlformats.org/drawingml/2006/main">
            <a:pathLst>
              <a:path w="400050" h="314325">
                <a:moveTo>
                  <a:pt x="100013" y="0"/>
                </a:moveTo>
                <a:lnTo>
                  <a:pt x="300038" y="0"/>
                </a:lnTo>
                <a:lnTo>
                  <a:pt x="400050" y="157163"/>
                </a:lnTo>
                <a:lnTo>
                  <a:pt x="300038" y="314325"/>
                </a:lnTo>
                <a:lnTo>
                  <a:pt x="100013" y="314325"/>
                </a:lnTo>
                <a:lnTo>
                  <a:pt x="0" y="157163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5000"/>
            </a:srgbClr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2DC0BD-6715-4551-A738-78552ACA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717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BB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53BA09-B9E4-4748-9304-0C0CAE5A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05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source 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9794F2-9393-449D-B1EC-D798292B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38425"/>
            <a:ext cx="400050" cy="314325"/>
          </a:xfrm>
          <a:custGeom xmlns:a="http://schemas.openxmlformats.org/drawingml/2006/main">
            <a:pathLst>
              <a:path w="400050" h="314325">
                <a:moveTo>
                  <a:pt x="100013" y="0"/>
                </a:moveTo>
                <a:lnTo>
                  <a:pt x="300038" y="0"/>
                </a:lnTo>
                <a:lnTo>
                  <a:pt x="400050" y="157163"/>
                </a:lnTo>
                <a:lnTo>
                  <a:pt x="300038" y="314325"/>
                </a:lnTo>
                <a:lnTo>
                  <a:pt x="100013" y="314325"/>
                </a:lnTo>
                <a:lnTo>
                  <a:pt x="0" y="157163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D2875F-EEED-403C-A1F6-DA62C02B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7336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1EDB6C-66C7-4970-A071-3B191FA0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67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face / feature template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C9093B-0E16-40BA-8AE8-A0236CE0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0375"/>
            <a:ext cx="400050" cy="314325"/>
          </a:xfrm>
          <a:custGeom xmlns:a="http://schemas.openxmlformats.org/drawingml/2006/main">
            <a:pathLst>
              <a:path w="400050" h="314325">
                <a:moveTo>
                  <a:pt x="100013" y="0"/>
                </a:moveTo>
                <a:lnTo>
                  <a:pt x="300038" y="0"/>
                </a:lnTo>
                <a:lnTo>
                  <a:pt x="400050" y="157163"/>
                </a:lnTo>
                <a:lnTo>
                  <a:pt x="300038" y="314325"/>
                </a:lnTo>
                <a:lnTo>
                  <a:pt x="100013" y="314325"/>
                </a:lnTo>
                <a:lnTo>
                  <a:pt x="0" y="157163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5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A57A7E-D00F-4CE9-AA1D-181B6CCF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0956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9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579E64-26CB-467F-B3CC-D2BBFCC6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028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cache / replica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498AEE-DDCE-46F0-AAB5-B4E71FA8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400050" cy="314325"/>
          </a:xfrm>
          <a:custGeom xmlns:a="http://schemas.openxmlformats.org/drawingml/2006/main">
            <a:pathLst>
              <a:path w="400050" h="314325">
                <a:moveTo>
                  <a:pt x="100013" y="0"/>
                </a:moveTo>
                <a:lnTo>
                  <a:pt x="300038" y="0"/>
                </a:lnTo>
                <a:lnTo>
                  <a:pt x="400050" y="157163"/>
                </a:lnTo>
                <a:lnTo>
                  <a:pt x="300038" y="314325"/>
                </a:lnTo>
                <a:lnTo>
                  <a:pt x="100013" y="314325"/>
                </a:lnTo>
                <a:lnTo>
                  <a:pt x="0" y="157163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5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A3704-3B2F-437E-8EA3-109A7FDB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4575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C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B10D04-E807-4C4D-8C52-4987A590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90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backup / restore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9AB76A-57C3-4303-A429-06D8B69D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24275"/>
            <a:ext cx="400050" cy="314325"/>
          </a:xfrm>
          <a:custGeom xmlns:a="http://schemas.openxmlformats.org/drawingml/2006/main">
            <a:pathLst>
              <a:path w="400050" h="314325">
                <a:moveTo>
                  <a:pt x="100013" y="0"/>
                </a:moveTo>
                <a:lnTo>
                  <a:pt x="300038" y="0"/>
                </a:lnTo>
                <a:lnTo>
                  <a:pt x="400050" y="157163"/>
                </a:lnTo>
                <a:lnTo>
                  <a:pt x="300038" y="314325"/>
                </a:lnTo>
                <a:lnTo>
                  <a:pt x="100013" y="314325"/>
                </a:lnTo>
                <a:lnTo>
                  <a:pt x="0" y="157163"/>
                </a:lnTo>
                <a:close/>
              </a:path>
            </a:pathLst>
          </a:custGeom>
          <a:solidFill xmlns:a="http://schemas.openxmlformats.org/drawingml/2006/main">
            <a:srgbClr val="5A65D8">
              <a:alpha val="15000"/>
            </a:srgbClr>
          </a:solidFill>
          <a:ln xmlns:a="http://schemas.openxmlformats.org/drawingml/2006/main" w="9525">
            <a:solidFill>
              <a:srgbClr val="5A65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052349-90F8-4A1A-8163-AA36EE6A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8195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6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F6EBCC-41FB-4948-BE1D-0532C0D4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52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model influence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E980E3-9BCC-453F-9E53-25ADBB4F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76400"/>
            <a:ext cx="44196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864A1B-ECFD-4350-AB66-5DE5899F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885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Скрытый recovery-path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01F072-B7A1-457B-A84B-63A6BA6E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695450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5D4D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07D37B-C9F1-4F63-A70C-7E3F03FF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14600"/>
            <a:ext cx="1447800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5D4D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C4F618-AA82-4105-A0DD-86A0B969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48000"/>
            <a:ext cx="1695450" cy="838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5D4D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FFABD7-DA44-43A6-B5ED-B2D9E456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48000"/>
            <a:ext cx="1447800" cy="838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5D4D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168C19-C512-4145-84D8-281DAE10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38450"/>
            <a:ext cx="552450" cy="457200"/>
          </a:xfrm>
          <a:custGeom xmlns:a="http://schemas.openxmlformats.org/drawingml/2006/main">
            <a:pathLst>
              <a:path w="552450" h="457200">
                <a:moveTo>
                  <a:pt x="138113" y="0"/>
                </a:moveTo>
                <a:lnTo>
                  <a:pt x="414338" y="0"/>
                </a:lnTo>
                <a:lnTo>
                  <a:pt x="552450" y="228600"/>
                </a:lnTo>
                <a:lnTo>
                  <a:pt x="414338" y="457200"/>
                </a:lnTo>
                <a:lnTo>
                  <a:pt x="138113" y="457200"/>
                </a:lnTo>
                <a:lnTo>
                  <a:pt x="0" y="228600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4000"/>
            </a:srgbClr>
          </a:solidFill>
          <a:ln xmlns:a="http://schemas.openxmlformats.org/drawingml/2006/main" w="14288">
            <a:solidFill>
              <a:srgbClr val="19BBD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32802CE-B980-412C-A7EA-7F93960E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0003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BB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CBB806-B1C9-4D1C-A1BA-89E434E2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52800"/>
            <a:ext cx="904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6AB6B92-7F44-4CC7-B4D4-469937EB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552450" cy="457200"/>
          </a:xfrm>
          <a:custGeom xmlns:a="http://schemas.openxmlformats.org/drawingml/2006/main">
            <a:pathLst>
              <a:path w="552450" h="457200">
                <a:moveTo>
                  <a:pt x="138113" y="0"/>
                </a:moveTo>
                <a:lnTo>
                  <a:pt x="414338" y="0"/>
                </a:lnTo>
                <a:lnTo>
                  <a:pt x="552450" y="228600"/>
                </a:lnTo>
                <a:lnTo>
                  <a:pt x="414338" y="457200"/>
                </a:lnTo>
                <a:lnTo>
                  <a:pt x="138113" y="457200"/>
                </a:lnTo>
                <a:lnTo>
                  <a:pt x="0" y="228600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4000"/>
            </a:srgbClr>
          </a:solidFill>
          <a:ln xmlns:a="http://schemas.openxmlformats.org/drawingml/2006/main" w="14288">
            <a:solidFill>
              <a:srgbClr val="00E1C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00AABD-0E4A-4F1E-A1C1-10C73FBF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669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D7CCB4-8559-4687-A5D1-4245A8A8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19400"/>
            <a:ext cx="904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template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1E7D3C2-7499-45DE-906D-2DC6F7AF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38450"/>
            <a:ext cx="552450" cy="457200"/>
          </a:xfrm>
          <a:custGeom xmlns:a="http://schemas.openxmlformats.org/drawingml/2006/main">
            <a:pathLst>
              <a:path w="552450" h="457200">
                <a:moveTo>
                  <a:pt x="138113" y="0"/>
                </a:moveTo>
                <a:lnTo>
                  <a:pt x="414338" y="0"/>
                </a:lnTo>
                <a:lnTo>
                  <a:pt x="552450" y="228600"/>
                </a:lnTo>
                <a:lnTo>
                  <a:pt x="414338" y="457200"/>
                </a:lnTo>
                <a:lnTo>
                  <a:pt x="138113" y="457200"/>
                </a:lnTo>
                <a:lnTo>
                  <a:pt x="0" y="2286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4000"/>
            </a:srgbClr>
          </a:solidFill>
          <a:ln xmlns:a="http://schemas.openxmlformats.org/drawingml/2006/main" w="14288">
            <a:solidFill>
              <a:srgbClr val="2C9DD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C25319-ED4A-4F84-9D5B-14AC78D8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0003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9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8FABF2F-0A89-408A-84EB-B5CDAAE0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52800"/>
            <a:ext cx="904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cache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18AF38-ABB7-4CE1-BD48-E195A2A0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76650"/>
            <a:ext cx="552450" cy="457200"/>
          </a:xfrm>
          <a:custGeom xmlns:a="http://schemas.openxmlformats.org/drawingml/2006/main">
            <a:pathLst>
              <a:path w="552450" h="457200">
                <a:moveTo>
                  <a:pt x="138113" y="0"/>
                </a:moveTo>
                <a:lnTo>
                  <a:pt x="414338" y="0"/>
                </a:lnTo>
                <a:lnTo>
                  <a:pt x="552450" y="228600"/>
                </a:lnTo>
                <a:lnTo>
                  <a:pt x="414338" y="457200"/>
                </a:lnTo>
                <a:lnTo>
                  <a:pt x="138113" y="457200"/>
                </a:lnTo>
                <a:lnTo>
                  <a:pt x="0" y="228600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4000"/>
            </a:srgbClr>
          </a:solidFill>
          <a:ln xmlns:a="http://schemas.openxmlformats.org/drawingml/2006/main" w="14288">
            <a:solidFill>
              <a:srgbClr val="FF8C6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87B0609-883C-49DA-8F37-7153EC56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8385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C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8EBE843-0EF0-429D-A8A2-49D7557A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91000"/>
            <a:ext cx="904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backup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4776B5-E24C-448E-AF29-679D6C40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71925"/>
            <a:ext cx="3876675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F8C66">
              <a:alpha val="12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E191D6A-0AFE-46D2-B6B9-A8E5604F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19550"/>
            <a:ext cx="35909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«DELETE 200 OK» ещё не доказательство.</a:t>
            </a:r>
          </a:p>
        </p:txBody>
      </p:sp>
    </p:spTree>
    <p:extLst>
      <p:ext uri="{BB962C8B-B14F-4D97-AF65-F5344CB8AC3E}">
        <p14:creationId xmlns:p14="http://schemas.microsoft.com/office/powerpoint/2010/main" val="15704062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DB7D07B-DB33-4735-8FFF-68EEF391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1BAADC-8429-4665-A074-EBA36C53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4F14E9-4AC0-4FCC-9016-1C0EE0A8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965749-2CF6-4B19-9289-0F29B083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A0032-8B87-45BF-8EB2-C003BABB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FB5CF-227A-42D9-B988-5F7F8EEA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DDB7CC-4C73-40EB-8789-80C0EE07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915E9-82CD-4B27-A1D6-59D6BBE1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20E18-08DB-45D1-8BEF-3A961F14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E77F44-824D-45E5-965F-0EF8A6C3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59B7E4-D436-4F49-8EA3-6A637F43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METHOD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DEB03-D62F-49A6-8826-99FB54DB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BA16AD-7C1E-463C-9EB3-5ECEA4DB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97F6ED-9083-4612-9F10-303AE524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E350AD-BE0A-41DD-85C4-018CAC07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Один алгоритм: пять последовательных проверок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AA5926-B033-44F1-87B5-022F45F9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Внутренние модули помогают аудиту; публичный объект — один EraSeMap verdict.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11A7BE-AFB1-40CF-B6BF-4D03334A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857500"/>
            <a:ext cx="390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5D4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86F077-DB6B-4FA6-B430-0ABEFED2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066800" cy="781050"/>
          </a:xfrm>
          <a:custGeom xmlns:a="http://schemas.openxmlformats.org/drawingml/2006/main">
            <a:pathLst>
              <a:path w="1066800" h="781050">
                <a:moveTo>
                  <a:pt x="266700" y="0"/>
                </a:moveTo>
                <a:lnTo>
                  <a:pt x="800100" y="0"/>
                </a:lnTo>
                <a:lnTo>
                  <a:pt x="1066800" y="390525"/>
                </a:lnTo>
                <a:lnTo>
                  <a:pt x="800100" y="781050"/>
                </a:lnTo>
                <a:lnTo>
                  <a:pt x="266700" y="781050"/>
                </a:lnTo>
                <a:lnTo>
                  <a:pt x="0" y="3905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5000"/>
            </a:srgbClr>
          </a:solidFill>
          <a:ln xmlns:a="http://schemas.openxmlformats.org/drawingml/2006/main" w="17145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37DFDA-FC05-437F-962C-375E7108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379DD2-69DD-4A4B-81D8-D4AD94F0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09875"/>
            <a:ext cx="1104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MAP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71595C-E57D-4899-97D5-1DA26239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00425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реестр копий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864F64-4149-4F2B-BCBD-68D9E70D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57500"/>
            <a:ext cx="390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5D4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69148-5A29-4076-961D-7ECACC99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466975"/>
            <a:ext cx="1066800" cy="781050"/>
          </a:xfrm>
          <a:custGeom xmlns:a="http://schemas.openxmlformats.org/drawingml/2006/main">
            <a:pathLst>
              <a:path w="1066800" h="781050">
                <a:moveTo>
                  <a:pt x="266700" y="0"/>
                </a:moveTo>
                <a:lnTo>
                  <a:pt x="800100" y="0"/>
                </a:lnTo>
                <a:lnTo>
                  <a:pt x="1066800" y="390525"/>
                </a:lnTo>
                <a:lnTo>
                  <a:pt x="800100" y="781050"/>
                </a:lnTo>
                <a:lnTo>
                  <a:pt x="266700" y="781050"/>
                </a:lnTo>
                <a:lnTo>
                  <a:pt x="0" y="390525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17145">
            <a:solidFill>
              <a:srgbClr val="00E1C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322B2B-366F-4809-B350-CBCE180B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571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D9ED45-7967-4C98-A31B-E3972182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809875"/>
            <a:ext cx="1104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DISCOVER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CD25D2-EE79-4E4B-98F5-D246592B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400425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активные пробы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597A40-7044-4EFA-8C12-46EEEAAE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857500"/>
            <a:ext cx="390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5D4D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C38090-BFC2-4A7D-8B34-A510E966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466975"/>
            <a:ext cx="1066800" cy="781050"/>
          </a:xfrm>
          <a:custGeom xmlns:a="http://schemas.openxmlformats.org/drawingml/2006/main">
            <a:pathLst>
              <a:path w="1066800" h="781050">
                <a:moveTo>
                  <a:pt x="266700" y="0"/>
                </a:moveTo>
                <a:lnTo>
                  <a:pt x="800100" y="0"/>
                </a:lnTo>
                <a:lnTo>
                  <a:pt x="1066800" y="390525"/>
                </a:lnTo>
                <a:lnTo>
                  <a:pt x="800100" y="781050"/>
                </a:lnTo>
                <a:lnTo>
                  <a:pt x="266700" y="781050"/>
                </a:lnTo>
                <a:lnTo>
                  <a:pt x="0" y="390525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5000"/>
            </a:srgbClr>
          </a:solidFill>
          <a:ln xmlns:a="http://schemas.openxmlformats.org/drawingml/2006/main" w="17145">
            <a:solidFill>
              <a:srgbClr val="2C9DD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53CB79-546E-4DAE-84E7-461D5C3C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571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C9DD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2C9DD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58D8B0-56B9-4914-9602-A04D2E3A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09875"/>
            <a:ext cx="1104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MINIMIZE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D87AF6-38D5-418C-A9B4-F43A3A94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00425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минимальный план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17743F-674F-4151-9482-033CFE20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857500"/>
            <a:ext cx="390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5D4D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0AAD06-C37B-4854-A2D8-4905F71B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66975"/>
            <a:ext cx="1066800" cy="781050"/>
          </a:xfrm>
          <a:custGeom xmlns:a="http://schemas.openxmlformats.org/drawingml/2006/main">
            <a:pathLst>
              <a:path w="1066800" h="781050">
                <a:moveTo>
                  <a:pt x="266700" y="0"/>
                </a:moveTo>
                <a:lnTo>
                  <a:pt x="800100" y="0"/>
                </a:lnTo>
                <a:lnTo>
                  <a:pt x="1066800" y="390525"/>
                </a:lnTo>
                <a:lnTo>
                  <a:pt x="800100" y="781050"/>
                </a:lnTo>
                <a:lnTo>
                  <a:pt x="266700" y="781050"/>
                </a:lnTo>
                <a:lnTo>
                  <a:pt x="0" y="390525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5000"/>
            </a:srgbClr>
          </a:solidFill>
          <a:ln xmlns:a="http://schemas.openxmlformats.org/drawingml/2006/main" w="17145">
            <a:solidFill>
              <a:srgbClr val="FF8C6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05BCAF-BCDC-4A96-B85B-A084DF79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571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187E23-3FC3-4152-BB52-7AB8F162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809875"/>
            <a:ext cx="1104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2E3F07-0220-44F4-B172-19AE6251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400425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replay во времени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BD79751-98F1-4225-8E7D-C5127C93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66975"/>
            <a:ext cx="1066800" cy="781050"/>
          </a:xfrm>
          <a:custGeom xmlns:a="http://schemas.openxmlformats.org/drawingml/2006/main">
            <a:pathLst>
              <a:path w="1066800" h="781050">
                <a:moveTo>
                  <a:pt x="266700" y="0"/>
                </a:moveTo>
                <a:lnTo>
                  <a:pt x="800100" y="0"/>
                </a:lnTo>
                <a:lnTo>
                  <a:pt x="1066800" y="390525"/>
                </a:lnTo>
                <a:lnTo>
                  <a:pt x="800100" y="781050"/>
                </a:lnTo>
                <a:lnTo>
                  <a:pt x="266700" y="781050"/>
                </a:lnTo>
                <a:lnTo>
                  <a:pt x="0" y="390525"/>
                </a:lnTo>
                <a:close/>
              </a:path>
            </a:pathLst>
          </a:custGeom>
          <a:solidFill xmlns:a="http://schemas.openxmlformats.org/drawingml/2006/main">
            <a:srgbClr val="5A65D8">
              <a:alpha val="15000"/>
            </a:srgbClr>
          </a:solidFill>
          <a:ln xmlns:a="http://schemas.openxmlformats.org/drawingml/2006/main" w="17145">
            <a:solidFill>
              <a:srgbClr val="5A65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E97D93-0067-4043-8C78-BEA48A4A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571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A65D8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A65D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FB0BF8-4360-4735-B88E-D9058768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09875"/>
            <a:ext cx="1104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CERTIFY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C3E31C-271D-444C-872C-729EBB6C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00425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сертификат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B2F907E-A9FF-4CB0-97A8-5AC3DEC5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95725"/>
            <a:ext cx="75057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0DAE53-F2BD-44AF-8144-CD80B703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19550"/>
            <a:ext cx="7200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карта → поиск → минимум действий → temporal replay → доказательный COMPLETE</a:t>
            </a:r>
          </a:p>
        </p:txBody>
      </p:sp>
    </p:spTree>
    <p:extLst>
      <p:ext uri="{BB962C8B-B14F-4D97-AF65-F5344CB8AC3E}">
        <p14:creationId xmlns:p14="http://schemas.microsoft.com/office/powerpoint/2010/main" val="1524055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03E46-D9FB-4B99-A7E3-83C9FEE0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8A5316-A184-41FB-90EB-AAD32B8A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F87CE7-33AC-4D1F-B892-B47F2150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B04468-5CF7-4CCE-8342-B3A25DE5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73ACA-74E1-4665-87E3-03C4F15E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C7FE1-4F6C-4FBE-BB09-0A40ACFA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4A1A45-8AF9-419B-A306-9ECC7E50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6B4856-2566-4587-9188-F02586B3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85615B-48C2-49B9-A10D-64FBA234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654038-503C-4BB9-8FC8-4C9EBDA7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77CD73-5D52-4305-B0C1-F91A02C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VERDICT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C3D771-AC87-4E79-A877-8FC0DD93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8FC9D6-2FE4-439E-9572-5CBEC33D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5E7607-B9F6-4147-B82D-C4CFD3C2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7887B0-D74F-4519-BC46-14A75817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Главная сила: система умеет отказать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D58EAA-B176-4C7A-9B22-96A63B70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Если путь ещё активен, она показывает INCOMPLETE вместо ложной уверенности.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42898B-B02C-45EF-BECB-CB056F45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85925"/>
            <a:ext cx="3143250" cy="272415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8C6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0D1E29-A67E-49BE-B0FE-5BC421EB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FF8C66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8C66"/>
                </a:solidFill>
                <a:latin typeface="Georgia"/>
                <a:ea typeface="Georgia"/>
                <a:cs typeface="Georgia"/>
              </a:rPr>
              <a:t>INCOMPLETE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0BC827-1BE3-4776-A38A-725E7B43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05075"/>
            <a:ext cx="264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Найден residual path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164761-CDEF-48A1-9D8C-7CFA8504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146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8C66">
              <a:alpha val="10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99902E-E1B8-4E1A-BBAE-21C6BE2D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4800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source  →  face template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0F4912-9F91-4A5D-92C8-5D969FE0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План не закрывает</a:t>
            </a:r>
          </a:p>
          <a:p xmlns:a="http://schemas.openxmlformats.org/drawingml/2006/main">
            <a:pPr algn="ctr">
              <a:defRPr sz="10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производный шаблон.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527924-60F2-4AA0-ADC4-72247B22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85925"/>
            <a:ext cx="4495800" cy="272415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456534-3F64-4B77-BD1F-2D58A5D4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99072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COMPLETE только если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4F358C-23CC-4E02-A738-51FDF666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9555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P  ∧  D  ∧  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68E37F-2280-43FA-A30A-10CAB2BE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11467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physical closure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4F063B-023F-4A5C-B44F-179AEC06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146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derivative closure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8640BE-415B-4D0E-AD12-9AF47BD7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1146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temporal closure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E43DD9-4810-4EA3-9AD7-9FC7C89F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31623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299D7B-35F4-407C-9435-D93F499B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8140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нет активного registered path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76297A-44C9-403C-A83D-0529BAA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290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replay не создаёт запись снова</a:t>
            </a:r>
          </a:p>
        </p:txBody>
      </p:sp>
    </p:spTree>
    <p:extLst>
      <p:ext uri="{BB962C8B-B14F-4D97-AF65-F5344CB8AC3E}">
        <p14:creationId xmlns:p14="http://schemas.microsoft.com/office/powerpoint/2010/main" val="2055489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9B0B0F-0B41-4842-B6E3-75D977D8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CA42DD-E3C2-465A-B4DC-4D948049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B56E8-5284-496A-A806-9668605D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6D4B0-C1C5-4758-97E2-F1A562C4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7620A-F283-4F36-B178-BC7D1C2B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66476-F7A6-4BA7-9380-526C8BC4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542518-B849-454B-9343-590461BB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6810FE-2F43-43F5-960E-DA2A92B7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B48FE-0D38-41A8-A20B-8768C212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F1635-84E4-4947-9386-99D68B3E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C43883-6A28-4ADE-872B-52997E37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MECHANISM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6FF3BE-1D08-47F0-8B35-D5969645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017268-F4AD-44DC-BCAF-845054E0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A1826B-62C0-4F11-9C46-8BDF3B1F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8D0167-9D5A-485A-A97B-FE042204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202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Как решение превращается в проверяемое доказательство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6B0BF3-632A-4857-B99A-AFF89276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Каждый переход оставляет receipt, probe, replay или certificate.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97B934-780F-4CB9-92CD-71307A05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705100"/>
            <a:ext cx="3619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C5D4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E38FD4-AD1A-464E-97EF-1C754B92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1009650" cy="704850"/>
          </a:xfrm>
          <a:custGeom xmlns:a="http://schemas.openxmlformats.org/drawingml/2006/main">
            <a:pathLst>
              <a:path w="1009650" h="704850">
                <a:moveTo>
                  <a:pt x="252413" y="0"/>
                </a:moveTo>
                <a:lnTo>
                  <a:pt x="757238" y="0"/>
                </a:lnTo>
                <a:lnTo>
                  <a:pt x="1009650" y="352425"/>
                </a:lnTo>
                <a:lnTo>
                  <a:pt x="757238" y="704850"/>
                </a:lnTo>
                <a:lnTo>
                  <a:pt x="252413" y="70485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3000"/>
            </a:srgbClr>
          </a:solidFill>
          <a:ln xmlns:a="http://schemas.openxmlformats.org/drawingml/2006/main" w="14288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6E5811-BF7A-4468-AE22-4065ED9C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Registry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8F334C-75EE-437C-8DDC-C6EEFDC2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9087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known copies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E26816-6563-4C9B-B66E-2EDFC707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05100"/>
            <a:ext cx="3619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C5D4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DA2C20-F137-46B3-A0A2-50086EAB7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24100"/>
            <a:ext cx="1009650" cy="704850"/>
          </a:xfrm>
          <a:custGeom xmlns:a="http://schemas.openxmlformats.org/drawingml/2006/main">
            <a:pathLst>
              <a:path w="1009650" h="704850">
                <a:moveTo>
                  <a:pt x="252413" y="0"/>
                </a:moveTo>
                <a:lnTo>
                  <a:pt x="757238" y="0"/>
                </a:lnTo>
                <a:lnTo>
                  <a:pt x="1009650" y="352425"/>
                </a:lnTo>
                <a:lnTo>
                  <a:pt x="757238" y="704850"/>
                </a:lnTo>
                <a:lnTo>
                  <a:pt x="252413" y="70485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3000"/>
            </a:srgbClr>
          </a:solidFill>
          <a:ln xmlns:a="http://schemas.openxmlformats.org/drawingml/2006/main" w="14288">
            <a:solidFill>
              <a:srgbClr val="00E1C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EE1F48-3AAB-4EC5-9EEB-4D5C79D0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447925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Probes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0BD9A5-DD87-4766-8A1E-AAB4A22B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19087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recovery tests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9B2210-DD62-4E4C-B7AD-B047EC5A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705100"/>
            <a:ext cx="3619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C5D4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C1772E-FB46-412B-A8C3-5F30B935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24100"/>
            <a:ext cx="1009650" cy="704850"/>
          </a:xfrm>
          <a:custGeom xmlns:a="http://schemas.openxmlformats.org/drawingml/2006/main">
            <a:pathLst>
              <a:path w="1009650" h="704850">
                <a:moveTo>
                  <a:pt x="252413" y="0"/>
                </a:moveTo>
                <a:lnTo>
                  <a:pt x="757238" y="0"/>
                </a:lnTo>
                <a:lnTo>
                  <a:pt x="1009650" y="352425"/>
                </a:lnTo>
                <a:lnTo>
                  <a:pt x="757238" y="704850"/>
                </a:lnTo>
                <a:lnTo>
                  <a:pt x="252413" y="70485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3000"/>
            </a:srgbClr>
          </a:solidFill>
          <a:ln xmlns:a="http://schemas.openxmlformats.org/drawingml/2006/main" w="14288">
            <a:solidFill>
              <a:srgbClr val="2C9DD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413E5C-6729-4EAA-9AFA-614C08EF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447925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347F0C-4B6C-48E4-B927-26F9F3B3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9087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minimal actions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1DC81C-62B3-483B-B0E4-21A0C9E4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05100"/>
            <a:ext cx="3619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C5D4D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F110A4-43B0-48D2-AA3C-8C22BF17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324100"/>
            <a:ext cx="1009650" cy="704850"/>
          </a:xfrm>
          <a:custGeom xmlns:a="http://schemas.openxmlformats.org/drawingml/2006/main">
            <a:pathLst>
              <a:path w="1009650" h="704850">
                <a:moveTo>
                  <a:pt x="252413" y="0"/>
                </a:moveTo>
                <a:lnTo>
                  <a:pt x="757238" y="0"/>
                </a:lnTo>
                <a:lnTo>
                  <a:pt x="1009650" y="352425"/>
                </a:lnTo>
                <a:lnTo>
                  <a:pt x="757238" y="704850"/>
                </a:lnTo>
                <a:lnTo>
                  <a:pt x="252413" y="70485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3000"/>
            </a:srgbClr>
          </a:solidFill>
          <a:ln xmlns:a="http://schemas.openxmlformats.org/drawingml/2006/main" w="14288">
            <a:solidFill>
              <a:srgbClr val="FF8C6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FA40EC-2724-49EB-86BF-716912EB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447925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Replay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71B823-5858-4AF4-9B97-8A5A4268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9087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future check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B8E744-39F0-45ED-855E-F7BADECD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24100"/>
            <a:ext cx="1009650" cy="704850"/>
          </a:xfrm>
          <a:custGeom xmlns:a="http://schemas.openxmlformats.org/drawingml/2006/main">
            <a:pathLst>
              <a:path w="1009650" h="704850">
                <a:moveTo>
                  <a:pt x="252413" y="0"/>
                </a:moveTo>
                <a:lnTo>
                  <a:pt x="757238" y="0"/>
                </a:lnTo>
                <a:lnTo>
                  <a:pt x="1009650" y="352425"/>
                </a:lnTo>
                <a:lnTo>
                  <a:pt x="757238" y="704850"/>
                </a:lnTo>
                <a:lnTo>
                  <a:pt x="252413" y="70485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5A65D8">
              <a:alpha val="13000"/>
            </a:srgbClr>
          </a:solidFill>
          <a:ln xmlns:a="http://schemas.openxmlformats.org/drawingml/2006/main" w="14288">
            <a:solidFill>
              <a:srgbClr val="5A65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E4160C-45FC-4E3D-8DBB-0E07A4A5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447925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Certificate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3B42CC-DF9B-4277-803F-6FBFAD5B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9087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known + unknown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9A350D-3458-4506-BF88-093DA672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43325"/>
            <a:ext cx="3581400" cy="504825"/>
          </a:xfrm>
          <a:prstGeom xmlns:a="http://schemas.openxmlformats.org/drawingml/2006/main" prst="roundRect">
            <a:avLst>
              <a:gd name="adj" fmla="val 169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DFFD72-13DE-47F6-BD4D-A1AAC470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331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COMPLETE  ⇔  P ∧ D ∧ 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D95434-B744-4FE0-8F93-9C62744A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43325"/>
            <a:ext cx="3638550" cy="504825"/>
          </a:xfrm>
          <a:prstGeom xmlns:a="http://schemas.openxmlformats.org/drawingml/2006/main" prst="roundRect">
            <a:avLst>
              <a:gd name="adj" fmla="val 16981"/>
            </a:avLst>
          </a:prstGeom>
          <a:solidFill xmlns:a="http://schemas.openxmlformats.org/drawingml/2006/main">
            <a:srgbClr val="00E1C6">
              <a:alpha val="1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9CB3B7-13ED-495C-814F-1C6D19E7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876675"/>
            <a:ext cx="3390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Сертификат показывает границу знаний</a:t>
            </a:r>
          </a:p>
        </p:txBody>
      </p:sp>
    </p:spTree>
    <p:extLst>
      <p:ext uri="{BB962C8B-B14F-4D97-AF65-F5344CB8AC3E}">
        <p14:creationId xmlns:p14="http://schemas.microsoft.com/office/powerpoint/2010/main" val="10831704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25D137-6650-420E-B236-2D29B26F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4E54E7-6C1A-4100-8944-F797E2D0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C2EAF6-9949-4F98-9B55-6F936F01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6E83-A3A6-4186-9204-CEE5ED0D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D8768-2A42-4238-9265-E111B9ED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92737C-2C6B-4440-B3C2-43B2D50E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68EDE-7665-4A64-9810-9DFD65FF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36B76-0CCA-4512-9F2E-37AD7226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E961FC-665D-448A-B216-1D5EF3EF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08FC35-49FD-4F92-B69C-77790FA9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EF821-0A2A-434E-A1AA-9DE0483D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619834-2F08-4233-8C84-4203EE8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9BEEC-2BFF-4AD4-A7F4-C6C48275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4D1D4-D14F-47BB-92D6-4DCDA026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2464D1-0304-42D1-A5EA-E15CBB91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Сравнение 1 / безопасность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96921C-0E8D-4D27-B742-66094C95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График показывает false COMPLETE: где система ошибочно сказала «готово».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FA33D4-9C89-4B38-868D-E3F78D68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47825"/>
            <a:ext cx="5953125" cy="2647950"/>
          </a:xfrm>
          <a:prstGeom xmlns:a="http://schemas.openxmlformats.org/drawingml/2006/main" prst="roundRect">
            <a:avLst>
              <a:gd name="adj" fmla="val 35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316540-E119-4AC2-86D9-8D60CFF4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2152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93C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861B51-7805-4677-9C70-E8C3109E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FALSE COMPLETE · ниже лучше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2b7631acf4bc8"/>
          <a:stretch xmlns:a="http://schemas.openxmlformats.org/drawingml/2006/main"/>
        </p:blipFill>
        <p:spPr>
          <a:xfrm xmlns:a="http://schemas.openxmlformats.org/drawingml/2006/main">
            <a:off x="821978" y="2085975"/>
            <a:ext cx="5414068" cy="1943100"/>
          </a:xfrm>
          <a:prstGeom xmlns:a="http://schemas.openxmlformats.org/drawingml/2006/main" prst="roundRect">
            <a:avLst>
              <a:gd name="adj" fmla="val 4902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2A41D2-C3C9-4E0E-A32A-C92A132F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5619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52C3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152C3F"/>
                </a:solidFill>
                <a:latin typeface="Arial"/>
                <a:ea typeface="Arial"/>
                <a:cs typeface="Arial"/>
              </a:rPr>
              <a:t>bounded stock-service protocol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7DB9DE-C8FD-46E5-8E9C-F03059EC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43075"/>
            <a:ext cx="175260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33F99D-0F80-45F3-A635-F4CECE01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1927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0 / 60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0C8851-0364-4C68-8DA0-3E51357E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14550"/>
            <a:ext cx="1485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EraSeMap cases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48CBB6-A9B2-4E84-99B8-9C8A8BBF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533650"/>
            <a:ext cx="175260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7D9C77-B66D-47CA-923A-9C6E4333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098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0 / 75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D86FBD-3828-4C31-8F5B-40C9CBC2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05125"/>
            <a:ext cx="1485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PCUG cases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F1E22E-4628-4CA2-9818-ED3BAC73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24225"/>
            <a:ext cx="175260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9C9154-F3B2-4FF5-A87C-9BD8732F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004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C9DD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9DDE"/>
                </a:solidFill>
                <a:latin typeface="Arial"/>
                <a:ea typeface="Arial"/>
                <a:cs typeface="Arial"/>
              </a:rPr>
              <a:t>20 / 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170D01-67F5-443F-99D9-BF297A70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95700"/>
            <a:ext cx="1485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replayed gate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9F78D8-DD57-4240-8146-A7BBBE9A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957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Real project evidence; bounded scope;</a:t>
            </a:r>
          </a:p>
          <a:p xmlns:a="http://schemas.openxmlformats.org/drawingml/2006/main">
            <a:pPr algn="ctr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no production claim.</a:t>
            </a:r>
          </a:p>
        </p:txBody>
      </p:sp>
    </p:spTree>
    <p:extLst>
      <p:ext uri="{BB962C8B-B14F-4D97-AF65-F5344CB8AC3E}">
        <p14:creationId xmlns:p14="http://schemas.microsoft.com/office/powerpoint/2010/main" val="4994522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2BFF6E-985B-45A3-AEBF-2D49C2C3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7AABE1-79A7-4AEA-9229-B612B968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81E4B-4839-4598-A4C9-E7FD0827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624920-306D-4019-A79F-1855F534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0EBAFA-B8BF-4066-BB94-160B467D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1CC82-96E8-43C9-A16B-2A76934A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8B8F0-D0E5-420B-98E5-87A628BC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E0065D-FA51-40F8-BA86-B7C51ED5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2AA200-66DE-42C5-9505-65AD9CF1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94685D-C874-4CC1-9237-9EB79F75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312FB-1478-42C4-95C5-06C62A5F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2CFF9C-E001-40E0-9612-8B5F4270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995FAA-6452-4FB7-BEF3-F8471D32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6A09F-176F-436A-9790-DCF4D96E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A39E42-B912-4ABB-B940-13B6AAD5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Сравнение 2 / эффективность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185EE2-5355-4482-88AF-3BA779BD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График показывает action cost, wall time и bytes при одной задаче удаления.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61C973-7056-4F48-A808-F8F30C3A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47825"/>
            <a:ext cx="6400800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476D3D-5626-49CC-9DD9-FB9B8904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2152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93C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257DE6-1E8E-4CC2-8CA6-854D75E7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COST · TIME · BYTES · ниже лучше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aff7a98b842aa"/>
          <a:stretch xmlns:a="http://schemas.openxmlformats.org/drawingml/2006/main"/>
        </p:blipFill>
        <p:spPr>
          <a:xfrm xmlns:a="http://schemas.openxmlformats.org/drawingml/2006/main">
            <a:off x="666750" y="2111581"/>
            <a:ext cx="6172200" cy="1663288"/>
          </a:xfrm>
          <a:prstGeom xmlns:a="http://schemas.openxmlformats.org/drawingml/2006/main" prst="roundRect">
            <a:avLst>
              <a:gd name="adj" fmla="val 5556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1E4B88-36EF-4263-B53D-4CF7393F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6096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52C3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152C3F"/>
                </a:solidFill>
                <a:latin typeface="Arial"/>
                <a:ea typeface="Arial"/>
                <a:cs typeface="Arial"/>
              </a:rPr>
              <a:t>same task · normalized values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134B3C-75A3-40E2-9923-1EC468A3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43075"/>
            <a:ext cx="131445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DBEF0B-A9C7-4A94-AD91-EC4E9858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192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17.64×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6588FC-6BB9-465F-AD73-F351F9F2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14550"/>
            <a:ext cx="1047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speedup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79EA51-2131-48A1-AC21-EA9921DE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33650"/>
            <a:ext cx="131445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8F255D-6EF1-4FF7-99CB-A466B3B8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098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−94.62%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5435A6-F2D7-4903-A132-9434CB85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05125"/>
            <a:ext cx="1047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bytes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3A30FD-2BB1-4AD8-96D5-A8D51B27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24225"/>
            <a:ext cx="131445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DF8299-9EAF-4AFE-BA7B-4D9B820F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004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C9DD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9DDE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A04211-49B3-41EE-8B82-2BE53046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95700"/>
            <a:ext cx="1047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mean cost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D2CDA0-4E24-4278-BAD3-8CED10BB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1052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Сначала safety gates,</a:t>
            </a:r>
          </a:p>
          <a:p xmlns:a="http://schemas.openxmlformats.org/drawingml/2006/main">
            <a:pPr algn="ctr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потом оптимизация.</a:t>
            </a:r>
          </a:p>
        </p:txBody>
      </p:sp>
    </p:spTree>
    <p:extLst>
      <p:ext uri="{BB962C8B-B14F-4D97-AF65-F5344CB8AC3E}">
        <p14:creationId xmlns:p14="http://schemas.microsoft.com/office/powerpoint/2010/main" val="3302795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6749CD-ABFC-4056-9740-1A79F130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E7008F-5F21-4A2A-87D7-5C3CDD51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A37592-AE49-41AC-9536-148C3848B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586EE-327E-47C8-8639-ED9D2366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DA7D5-C0EB-4BCB-B000-FE71C262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A1E62-0465-478D-9B95-327AC124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D391A-046A-4079-B143-F41EC51F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71156-1AD7-48A0-90B5-332817A3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EEFC83-57AC-4AC4-90E8-DE8E4758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4EB27E-BA9C-4283-8B52-AB899958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46962D-37B2-4826-879B-3FB953B3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42941-A9D6-4A02-89E1-1A1E1892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0681E6-4121-4C05-A11D-D640B2FF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16B7E7-7BA4-4884-99A5-2CCFEA8F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D89DE3-8AB6-4FF4-80C4-8FEB79C7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Сравнение 3 / поиск скрытого пути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7C34D7-039B-46DC-B0A6-2CE977B2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Активная проба сокращает пространство гипотез после каждого recovery response.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803382-EC44-4B02-9FC8-74D66C2B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47825"/>
            <a:ext cx="5715000" cy="2686050"/>
          </a:xfrm>
          <a:prstGeom xmlns:a="http://schemas.openxmlformats.org/drawingml/2006/main" prst="roundRect">
            <a:avLst>
              <a:gd name="adj" fmla="val 35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AD39A7-0A90-4787-9F74-FFA200D1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2152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93C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CE1FFC-3DEB-4735-83E4-768CB745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HIDDEN-PATH PROBES · ниже лучше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e9449ddaaa4b67"/>
          <a:stretch xmlns:a="http://schemas.openxmlformats.org/drawingml/2006/main"/>
        </p:blipFill>
        <p:spPr>
          <a:xfrm xmlns:a="http://schemas.openxmlformats.org/drawingml/2006/main">
            <a:off x="1793310" y="2085975"/>
            <a:ext cx="3233281" cy="2000250"/>
          </a:xfrm>
          <a:prstGeom xmlns:a="http://schemas.openxmlformats.org/drawingml/2006/main" prst="roundRect">
            <a:avLst>
              <a:gd name="adj" fmla="val 4762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3182EA-44E3-4C25-9364-DDA83295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47825"/>
            <a:ext cx="2000250" cy="26860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8CEE68-D7F7-4B51-AEAC-290E895F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85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3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Число проб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E63108-B564-4865-AD80-4F94048F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19350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AB23ED-242F-4272-B76A-51857D2F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66975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EraSeMap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69FC34-FBFA-47CC-8CD1-BB65C55A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2417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D27583-1402-471D-97F4-74750596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7180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random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88598A-620F-4896-A2D8-5D4C88C0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29000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336DED-5C5A-4C07-BF87-F14AC529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76625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exhaustive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1DB712-EDF3-432A-A12F-367EBA37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57625"/>
            <a:ext cx="16954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E1C6">
              <a:alpha val="12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BC61FE-87C9-49EB-9BB9-0E462E6A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6715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50 / 50 family-held-out OOD</a:t>
            </a:r>
          </a:p>
        </p:txBody>
      </p:sp>
    </p:spTree>
    <p:extLst>
      <p:ext uri="{BB962C8B-B14F-4D97-AF65-F5344CB8AC3E}">
        <p14:creationId xmlns:p14="http://schemas.microsoft.com/office/powerpoint/2010/main" val="19977740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1F250B-FC4E-4CA6-B04C-82E8D2F7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2DB2D-5C41-4946-8E19-6DFB15B9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B82D1F-1117-4F58-A614-654E61C2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A623E8-E095-453B-808B-80A65A2D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9F0753-E0E6-483F-91E6-A73B8C13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EC4055-07F2-45EE-96E4-6F569DB0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A048B2-D00C-4B42-BFDE-4F88AB0E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B6A67-7835-46C0-B8EE-78332946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6634AF-117A-4844-8A8D-C9DBEB9E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47D24A-3727-4573-AECA-2E3ACCC8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D10D89-8EC3-4FD9-B1E6-F1D4F0BC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13819-7DD5-4121-80CC-A70443DE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FED221-F7EB-4B3D-9A73-3AA1D321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300B7B-6CD3-4D28-BCFC-C9BC7EBA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4994C1-ED92-46A4-9A1B-84309858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Сравнение 4 / сильные стороны и границы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1DC89C-9F6B-47FC-8903-E5B04E07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Разделяем выигрыш в storage deletion и отдельный model-unlearning канал.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4AF2A3-8A9F-4200-B239-6187DFC4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47825"/>
            <a:ext cx="5715000" cy="26670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F22149-1783-4449-AEF1-368B2784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2152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93C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681F45-403D-48FC-A8E9-3E7CC9B2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MULTI-AXIS SYSTEM VIEW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180de230d1462a"/>
          <a:stretch xmlns:a="http://schemas.openxmlformats.org/drawingml/2006/main"/>
        </p:blipFill>
        <p:spPr>
          <a:xfrm xmlns:a="http://schemas.openxmlformats.org/drawingml/2006/main">
            <a:off x="1276350" y="2085975"/>
            <a:ext cx="4267200" cy="2000250"/>
          </a:xfrm>
          <a:prstGeom xmlns:a="http://schemas.openxmlformats.org/drawingml/2006/main" prst="roundRect">
            <a:avLst>
              <a:gd name="adj" fmla="val 4762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072457-F0AB-43C1-B50E-E80CE791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47825"/>
            <a:ext cx="200025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615CF8-C62C-4742-AAB6-BC0CB1F5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4785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20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Сильные стороны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D4CB56-04B7-45F3-B104-198E8158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336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B8ABCD-38D8-4274-86B3-592FC120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286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false COMPLETE = 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6DCFEC-FE0B-486B-A43A-54881B60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765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563D25-C56B-4BF7-8A9B-F296B7FE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289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temporal risk = 0 / 30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9B03B9-E164-4A43-BC12-4D73BD5B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19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F9F224-F972-4C5C-B298-913949E4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718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action set is minimal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4143BF-DA20-4558-AA82-B1DF989D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2900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F8C66"/>
                </a:solidFill>
                <a:latin typeface="Georgia"/>
                <a:ea typeface="Georgia"/>
                <a:cs typeface="Georgia"/>
              </a:defRPr>
            </a:pPr>
            <a:r>
              <a:rPr sz="1200" b="0">
                <a:solidFill>
                  <a:srgbClr val="FF8C66"/>
                </a:solidFill>
                <a:latin typeface="Georgia"/>
                <a:ea typeface="Georgia"/>
                <a:cs typeface="Georgia"/>
              </a:rPr>
              <a:t>Честная граница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797CE7-3A95-40A9-84F1-602C027E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528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MUFAC candidate не прошёл</a:t>
            </a:r>
          </a:p>
          <a:p xmlns:a="http://schemas.openxmlformats.org/drawingml/2006/main">
            <a:pPr algn="ctr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retained-utility gate; exact</a:t>
            </a:r>
          </a:p>
          <a:p xmlns:a="http://schemas.openxmlformats.org/drawingml/2006/main">
            <a:pPr algn="ctr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fallback сохраняет safety,</a:t>
            </a:r>
          </a:p>
          <a:p xmlns:a="http://schemas.openxmlformats.org/drawingml/2006/main">
            <a:pPr algn="ctr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но не даёт ускорения.</a:t>
            </a:r>
          </a:p>
        </p:txBody>
      </p:sp>
    </p:spTree>
    <p:extLst>
      <p:ext uri="{BB962C8B-B14F-4D97-AF65-F5344CB8AC3E}">
        <p14:creationId xmlns:p14="http://schemas.microsoft.com/office/powerpoint/2010/main" val="5198232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6D79EC-DF3D-4351-9C8C-143C3911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4F72F-DA49-4FC7-905F-6010B655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15B160-2DBD-45C8-BD40-69A4BE7F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490613-E303-431B-8F4F-2D390893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EEBEC-E5AC-47D3-A809-50773225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60959-576B-4378-9F8B-8F587792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F4C60-00A0-4862-8394-011D1327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3393BF-3D27-468A-AA1F-37CAB88B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F1A4B4-3675-4E20-A982-DE5EC351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FF55C9-8331-42CC-9478-1AFFBB85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744AA4-2E32-4AB6-855A-F12A5CEA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THEORY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3540C-5281-46DE-98A2-ED0EDD0D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8911D3-70FC-403B-8DAC-C1B89745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F7DFBA-42AA-495F-AC10-84000FE1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B4ECD2-7804-450F-A4DA-1D420100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Формула вердикта и три проверяемых условия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F1C88F-D6EA-4B22-865E-612412FA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Компактная запись облегчает объяснение; доказательство проверяет composition property.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3F6B29-5D6C-41CF-B23A-66986248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76581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9BB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77926D-C63D-48C0-AAB8-C5CC21AD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28800"/>
            <a:ext cx="72771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9BBD5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19BBD5"/>
                </a:solidFill>
                <a:latin typeface="Georgia"/>
                <a:ea typeface="Georgia"/>
                <a:cs typeface="Georgia"/>
              </a:rPr>
              <a:t>COMPLETE  ⇔  P  ∧  D  ∧  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A2BDB1-A870-4442-AD83-A9DDAD4D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22479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9BBD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BC654D-6928-43A4-88F6-F2796391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400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9BBD5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19BBD5"/>
                </a:solidFill>
                <a:latin typeface="Georgia"/>
                <a:ea typeface="Georgia"/>
                <a:cs typeface="Georgia"/>
              </a:rPr>
              <a:t>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39F998-F8DA-4CD6-AC7D-AA34387D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43250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physical closure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EA5B43-EA83-4B23-922B-F766FC4E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registered paths closed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ADFB56-5BFB-4F23-B772-941B59F0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952750"/>
            <a:ext cx="22479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0FEFCD-9B8D-4EB4-B838-3B2C2527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400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35EF1E-7F1F-423D-A79C-332B08DE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43250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derivative closure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906B4E-2E2D-4FD3-B65D-F4C38B9D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5433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templates and indexes closed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861082-C3CA-4939-95DA-86E171B3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952750"/>
            <a:ext cx="22479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DDE5F4-4796-4BA5-B8CB-02896FD6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05150"/>
            <a:ext cx="400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8C66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FF8C66"/>
                </a:solidFill>
                <a:latin typeface="Georgia"/>
                <a:ea typeface="Georgia"/>
                <a:cs typeface="Georgia"/>
              </a:rPr>
              <a:t>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3F4064-24C0-4B52-9E6D-B3E08711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43250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temporal closure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D31B73-FAE3-4388-96D8-0EC33456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433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replay cannot regenerate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DE6CA9-1BC4-46DE-B83E-8FD49EE6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71975"/>
            <a:ext cx="765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3,072 / 3,072 formal checks passed in the project proof harness.</a:t>
            </a:r>
          </a:p>
        </p:txBody>
      </p:sp>
    </p:spTree>
    <p:extLst>
      <p:ext uri="{BB962C8B-B14F-4D97-AF65-F5344CB8AC3E}">
        <p14:creationId xmlns:p14="http://schemas.microsoft.com/office/powerpoint/2010/main" val="5082516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831BF8-C6D3-41D1-974F-5970141B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4EA1CF-2EA8-4943-AC7B-B32F5420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10C09-B771-4D43-A0C9-1E10FC8D7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2AFD6-9E7E-4D70-953F-63A635B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983583-19F9-4395-97FC-EB0BFD5D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2C31AC-65E6-4EAE-ADC3-6102CF18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10F98-84A5-42C7-88B0-089BD84C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1CFC2D-1581-49D1-A554-C255A520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550412-E298-4A93-8103-FFF4C8A0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D436F0-1066-4407-95ED-EC65EEDE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C30976-C6A5-43A7-8EBF-3BDFA2FE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LIMIT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B6AA7D-093F-4BFD-BD91-A756ECBF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343435-905C-4B46-A9F6-BE7CFCE2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876216-D126-4842-93CC-B79EA275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0DC087-DC12-4C3D-B135-8CFE8DD9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Model unlearning — отдельный канал, не вся система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3B569C-8486-49B6-97C5-F906C15E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Низкий MIA-score не превращаем автоматически в доказательство удаления.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54EDBF-1123-4C70-9CCE-CA6A14C2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371475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3E8B9C-5C83-4F91-9D70-A1A92614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3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Что проверяем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E50E14-6C8A-4068-A530-A8D0CEED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384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B6B93D-FE97-43E1-88E6-33341931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66975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influence / retained utility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36A582-847A-44E7-9F78-C6C35F9A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62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6D3ADA-CAE1-45D1-A01B-3196ADD6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908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comparison to exact retraining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A68E98-EDB0-46F8-95D9-94C35FAB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445D07-7990-4B38-A2D3-17AA0AB3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14725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privacy attack / utility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D97DEC-3BDE-448C-B5D9-8491C2B5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657350"/>
            <a:ext cx="396240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8C6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39C827-D71B-464E-8B7A-5463F96E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8859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8C66"/>
                </a:solidFill>
                <a:latin typeface="Georgia"/>
                <a:ea typeface="Georgia"/>
                <a:cs typeface="Georgia"/>
              </a:defRPr>
            </a:pPr>
            <a:r>
              <a:rPr sz="1350" b="0">
                <a:solidFill>
                  <a:srgbClr val="FF8C66"/>
                </a:solidFill>
                <a:latin typeface="Georgia"/>
                <a:ea typeface="Georgia"/>
                <a:cs typeface="Georgia"/>
              </a:rPr>
              <a:t>Реальный результат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8043F3-6A87-446B-9F00-CC25419D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907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MUFAC candidate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51A9D7-E150-4D49-BF83-94ECF542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24150"/>
            <a:ext cx="21145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C66">
              <a:alpha val="12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EF9602-0D8F-4806-A2E3-53FA4F59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33675"/>
            <a:ext cx="2114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FAIL · retained-utility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7E5F4D-CDC6-46BD-9C44-62DA5348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32422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Exact fallback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75DF91-93DC-449D-B364-2BC124B6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57600"/>
            <a:ext cx="20383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E1C6">
              <a:alpha val="12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990B96-BF76-4730-BD06-F2E4AC5F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67125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PASS · safety / no speedup</a:t>
            </a:r>
          </a:p>
        </p:txBody>
      </p:sp>
    </p:spTree>
    <p:extLst>
      <p:ext uri="{BB962C8B-B14F-4D97-AF65-F5344CB8AC3E}">
        <p14:creationId xmlns:p14="http://schemas.microsoft.com/office/powerpoint/2010/main" val="9979144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C3BCC2-CA36-48D0-AD5F-4683CEA6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60EAE4-752A-46A1-AB77-345AFC5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8CE45-ED5F-40A2-8FCB-246F0055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8B349E-0551-4139-B920-336DC910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2F878-A65A-4F77-B678-A64A1108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03D46D-3CF2-4C48-9533-E1F24796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FD9FB-FDAF-4117-AD50-9C38E36D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18316E-3132-4775-9084-0919F8DE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3CFA38-52D0-4289-88D7-F429D90F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3DDBE7-D14E-4E48-99D4-3B3AC446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9C5097-3975-4B1A-AE1B-003A2CDA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POSITION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63172A-8082-4C9D-B8A3-9398DA9B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49980A-8F3F-4C2F-8270-075B4DAA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667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ED5B98-806C-4BE1-8F41-49055722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685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RKNP · ISEF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ECBA15-C1B9-409C-B530-34F8BB87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32E41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132E41"/>
                </a:solidFill>
                <a:latin typeface="Georgia"/>
                <a:ea typeface="Georgia"/>
                <a:cs typeface="Georgia"/>
              </a:rPr>
              <a:t>Новизна — в составе доказательств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7682B1-92F1-4081-B6C7-464A09C0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Не четыре разрозненных алгоритма, а одна процедура, закрывающая три риска.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CED515-3779-4199-BDAC-357961A0F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3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Три отличительных объекта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D3B160-A1A5-4877-91DE-657D7149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419100" cy="361950"/>
          </a:xfrm>
          <a:custGeom xmlns:a="http://schemas.openxmlformats.org/drawingml/2006/main">
            <a:pathLst>
              <a:path w="419100" h="361950">
                <a:moveTo>
                  <a:pt x="104775" y="0"/>
                </a:moveTo>
                <a:lnTo>
                  <a:pt x="314325" y="0"/>
                </a:lnTo>
                <a:lnTo>
                  <a:pt x="419100" y="180975"/>
                </a:lnTo>
                <a:lnTo>
                  <a:pt x="314325" y="361950"/>
                </a:lnTo>
                <a:lnTo>
                  <a:pt x="104775" y="361950"/>
                </a:lnTo>
                <a:lnTo>
                  <a:pt x="0" y="18097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5000"/>
            </a:srgbClr>
          </a:solidFill>
          <a:ln xmlns:a="http://schemas.openxmlformats.org/drawingml/2006/main" w="11430">
            <a:solidFill>
              <a:srgbClr val="19BB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9B022D-BBFA-4815-AD2F-54D1D23E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8122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recovery-path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C3500F-6CE0-4111-8324-A52FEB7A7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0030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ищем, где запись может появиться снова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9BB76F-1247-42D2-8489-3F594B4E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19100" cy="361950"/>
          </a:xfrm>
          <a:custGeom xmlns:a="http://schemas.openxmlformats.org/drawingml/2006/main">
            <a:pathLst>
              <a:path w="419100" h="361950">
                <a:moveTo>
                  <a:pt x="104775" y="0"/>
                </a:moveTo>
                <a:lnTo>
                  <a:pt x="314325" y="0"/>
                </a:lnTo>
                <a:lnTo>
                  <a:pt x="419100" y="180975"/>
                </a:lnTo>
                <a:lnTo>
                  <a:pt x="314325" y="361950"/>
                </a:lnTo>
                <a:lnTo>
                  <a:pt x="104775" y="361950"/>
                </a:lnTo>
                <a:lnTo>
                  <a:pt x="0" y="180975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11430">
            <a:solidFill>
              <a:srgbClr val="00E1C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072C18-676B-49A3-AC06-FB3C09D7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622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temporal closure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23598E-15E1-4BB1-BE7F-6115163F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813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проверяем будущую регенерацию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D94FC7-1852-4872-90FE-3DAB512F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419100" cy="361950"/>
          </a:xfrm>
          <a:custGeom xmlns:a="http://schemas.openxmlformats.org/drawingml/2006/main">
            <a:pathLst>
              <a:path w="419100" h="361950">
                <a:moveTo>
                  <a:pt x="104775" y="0"/>
                </a:moveTo>
                <a:lnTo>
                  <a:pt x="314325" y="0"/>
                </a:lnTo>
                <a:lnTo>
                  <a:pt x="419100" y="180975"/>
                </a:lnTo>
                <a:lnTo>
                  <a:pt x="314325" y="361950"/>
                </a:lnTo>
                <a:lnTo>
                  <a:pt x="104775" y="361950"/>
                </a:lnTo>
                <a:lnTo>
                  <a:pt x="0" y="180975"/>
                </a:lnTo>
                <a:close/>
              </a:path>
            </a:pathLst>
          </a:custGeom>
          <a:solidFill xmlns:a="http://schemas.openxmlformats.org/drawingml/2006/main">
            <a:srgbClr val="5A65D8">
              <a:alpha val="15000"/>
            </a:srgbClr>
          </a:solidFill>
          <a:ln xmlns:a="http://schemas.openxmlformats.org/drawingml/2006/main" w="11430">
            <a:solidFill>
              <a:srgbClr val="5A65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89CD24-3C6D-434B-AD58-E289B3DA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432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deletion certificate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929A49-930F-42B4-A8D0-8E505C44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видна граница неизвестности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5663E8-454A-41A2-A8AF-D0D14554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363855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15C04E-429B-4022-A110-61790ED6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8595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13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Лестница доказательств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407330-02C3-4A67-AE6D-59592D99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52675"/>
            <a:ext cx="1466850" cy="2286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F8C66">
              <a:alpha val="10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753FA7-063B-4B56-A562-D2481F5F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371725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4C4851-3562-4563-8263-F9DD00A7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3717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production 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7E8C42-8F59-473F-B821-74E6D3F6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95575"/>
            <a:ext cx="1466850" cy="2286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F8C66">
              <a:alpha val="10000"/>
            </a:srgbClr>
          </a:solidFill>
          <a:ln xmlns:a="http://schemas.openxmlformats.org/drawingml/2006/main" w="9525">
            <a:solidFill>
              <a:srgbClr val="FF8C6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677549-C366-4E13-AB54-686D3A5C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14625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27E1CC-9FD1-49DC-A05C-2B6DCDEE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7146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independent hidden challenge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8999E3-BEE1-44BF-92EC-785CA0AE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38475"/>
            <a:ext cx="2190750" cy="2286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58479E-5936-4D3C-8A40-E4C2BA9C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057525"/>
            <a:ext cx="1809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CB9D26-2EEA-4772-A0A9-5943EA3D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575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family-held-out OOD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84EDBB-FF49-47C7-9F5A-F0DAB8B6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81375"/>
            <a:ext cx="2000250" cy="2286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A713AB-3BEB-4DB4-8BC7-D82ABB0D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400425"/>
            <a:ext cx="1809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6B0270-DEF5-4A6C-9BFD-86C63254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004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source-locked holdout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3A5FB6-E26C-4390-A564-55A486CF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24275"/>
            <a:ext cx="1809750" cy="2286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E1C6">
              <a:alpha val="15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15EA91-0189-464E-8BEC-D67DF108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43325"/>
            <a:ext cx="1809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34CA21-24C9-4CF2-A892-584E1929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433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reproducible project lab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84141E6-4B36-42D5-A787-B1D9A383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0527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Сейчас: сильная воспроизводимость и bounded external inputs.</a:t>
            </a:r>
          </a:p>
          <a:p xmlns:a="http://schemas.openxmlformats.org/drawingml/2006/main">
            <a:pPr algn="ctr">
              <a:defRPr sz="75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Следующий честный шаг: независимый hidden evaluator.</a:t>
            </a:r>
          </a:p>
        </p:txBody>
      </p:sp>
    </p:spTree>
    <p:extLst>
      <p:ext uri="{BB962C8B-B14F-4D97-AF65-F5344CB8AC3E}">
        <p14:creationId xmlns:p14="http://schemas.microsoft.com/office/powerpoint/2010/main" val="20975899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C9626-28BE-4D5D-BDB4-7456EE22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019D43-1B69-4B2A-895A-0B1C7F49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52CC4-B8F4-4FA0-A702-898A410F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DBB61B-527C-4038-BC2D-051EB8B3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A91F6-59B2-4127-80F6-9207CC2B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EF554E-5426-4A62-9BE1-4CF632F6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95250"/>
            <a:ext cx="552450" cy="476250"/>
          </a:xfrm>
          <a:custGeom xmlns:a="http://schemas.openxmlformats.org/drawingml/2006/main">
            <a:pathLst>
              <a:path w="552450" h="476250">
                <a:moveTo>
                  <a:pt x="138113" y="0"/>
                </a:moveTo>
                <a:lnTo>
                  <a:pt x="414338" y="0"/>
                </a:lnTo>
                <a:lnTo>
                  <a:pt x="552450" y="238125"/>
                </a:lnTo>
                <a:lnTo>
                  <a:pt x="414338" y="476250"/>
                </a:lnTo>
                <a:lnTo>
                  <a:pt x="138113" y="476250"/>
                </a:lnTo>
                <a:lnTo>
                  <a:pt x="0" y="238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8000"/>
            </a:srgbClr>
          </a:solidFill>
          <a:ln xmlns:a="http://schemas.openxmlformats.org/drawingml/2006/main" w="12383">
            <a:solidFill>
              <a:srgbClr val="19BB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10E4E2-04E3-46B3-AEF5-0FB61F54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"/>
            <a:ext cx="333375" cy="295275"/>
          </a:xfrm>
          <a:custGeom xmlns:a="http://schemas.openxmlformats.org/drawingml/2006/main">
            <a:pathLst>
              <a:path w="333375" h="295275">
                <a:moveTo>
                  <a:pt x="83344" y="0"/>
                </a:moveTo>
                <a:lnTo>
                  <a:pt x="250031" y="0"/>
                </a:lnTo>
                <a:lnTo>
                  <a:pt x="333375" y="147638"/>
                </a:lnTo>
                <a:lnTo>
                  <a:pt x="250031" y="295275"/>
                </a:lnTo>
                <a:lnTo>
                  <a:pt x="83344" y="295275"/>
                </a:lnTo>
                <a:lnTo>
                  <a:pt x="0" y="147638"/>
                </a:lnTo>
                <a:close/>
              </a:path>
            </a:pathLst>
          </a:custGeom>
          <a:solidFill xmlns:a="http://schemas.openxmlformats.org/drawingml/2006/main">
            <a:srgbClr val="00E1C6">
              <a:alpha val="2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778A3-FCD4-4C26-B750-9034B4B0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"/>
            <a:ext cx="438150" cy="381000"/>
          </a:xfrm>
          <a:custGeom xmlns:a="http://schemas.openxmlformats.org/drawingml/2006/main">
            <a:pathLst>
              <a:path w="438150" h="381000">
                <a:moveTo>
                  <a:pt x="109538" y="0"/>
                </a:moveTo>
                <a:lnTo>
                  <a:pt x="328613" y="0"/>
                </a:lnTo>
                <a:lnTo>
                  <a:pt x="438150" y="190500"/>
                </a:lnTo>
                <a:lnTo>
                  <a:pt x="328613" y="381000"/>
                </a:lnTo>
                <a:lnTo>
                  <a:pt x="109538" y="381000"/>
                </a:lnTo>
                <a:lnTo>
                  <a:pt x="0" y="190500"/>
                </a:lnTo>
                <a:close/>
              </a:path>
            </a:pathLst>
          </a:custGeom>
          <a:solidFill xmlns:a="http://schemas.openxmlformats.org/drawingml/2006/main">
            <a:srgbClr val="2C9DDE">
              <a:alpha val="18000"/>
            </a:srgbClr>
          </a:solidFill>
          <a:ln xmlns:a="http://schemas.openxmlformats.org/drawingml/2006/main" w="9525">
            <a:solidFill>
              <a:srgbClr val="2C9D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7982BA-950F-4028-8807-6A54E847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5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1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FF04CA-C51D-4C78-ADF7-524BDA4B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600075"/>
            <a:ext cx="619125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4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DFDAC4-004C-40AC-95D7-F9A7FBC4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E1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E1C6"/>
                </a:solidFill>
                <a:latin typeface="Arial"/>
                <a:ea typeface="Arial"/>
                <a:cs typeface="Arial"/>
              </a:rPr>
              <a:t>ERASEMAP  /  CONCLUSION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5C13E3-0098-4919-9CAE-79E049AB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4476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Проверять путь,</a:t>
            </a:r>
          </a:p>
          <a:p xmlns:a="http://schemas.openxmlformats.org/drawingml/2006/main">
            <a:pPr algn="l">
              <a:defRPr sz="3150" b="0">
                <a:solidFill>
                  <a:srgbClr val="00E1C6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00E1C6"/>
                </a:solidFill>
                <a:latin typeface="Georgia"/>
                <a:ea typeface="Georgia"/>
                <a:cs typeface="Georgia"/>
              </a:rPr>
              <a:t>а не обещание.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2E437B-2E16-46A4-81D7-06D285DD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2725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EraSeMap превращает удаление из одной команды</a:t>
            </a:r>
          </a:p>
          <a:p xmlns:a="http://schemas.openxmlformats.org/drawingml/2006/main">
            <a:pPr algn="l">
              <a:defRPr sz="1275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в проверяемый, временно устойчивый verdict.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45079A-AE29-41C7-9FD6-E7E05A7A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3752850" cy="47625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00E1C6">
              <a:alpha val="10000"/>
            </a:srgbClr>
          </a:solidFill>
          <a:ln xmlns:a="http://schemas.openxmlformats.org/drawingml/2006/main" w="9525">
            <a:solidFill>
              <a:srgbClr val="00E1C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98C0B8-109E-488A-9DAE-8A3FBDDC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290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32E4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32E41"/>
                </a:solidFill>
                <a:latin typeface="Arial"/>
                <a:ea typeface="Arial"/>
                <a:cs typeface="Arial"/>
              </a:rPr>
              <a:t>Следующий эксперимент: independent hidden challenge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DD83F7-6757-4151-8A2E-0B73790E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485900"/>
            <a:ext cx="1447800" cy="1238250"/>
          </a:xfrm>
          <a:custGeom xmlns:a="http://schemas.openxmlformats.org/drawingml/2006/main">
            <a:pathLst>
              <a:path w="1447800" h="1238250">
                <a:moveTo>
                  <a:pt x="361950" y="0"/>
                </a:moveTo>
                <a:lnTo>
                  <a:pt x="1085850" y="0"/>
                </a:lnTo>
                <a:lnTo>
                  <a:pt x="1447800" y="619125"/>
                </a:lnTo>
                <a:lnTo>
                  <a:pt x="1085850" y="1238250"/>
                </a:lnTo>
                <a:lnTo>
                  <a:pt x="361950" y="1238250"/>
                </a:lnTo>
                <a:lnTo>
                  <a:pt x="0" y="619125"/>
                </a:lnTo>
                <a:close/>
              </a:path>
            </a:pathLst>
          </a:custGeom>
          <a:solidFill xmlns:a="http://schemas.openxmlformats.org/drawingml/2006/main">
            <a:srgbClr val="19BBD5">
              <a:alpha val="13000"/>
            </a:srgbClr>
          </a:solidFill>
          <a:ln xmlns:a="http://schemas.openxmlformats.org/drawingml/2006/main" w="19050">
            <a:solidFill>
              <a:srgbClr val="19BB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BB680-35EC-4DE8-8CD5-E047BC03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24050"/>
            <a:ext cx="1447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9BBD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9BBD5"/>
                </a:solidFill>
                <a:latin typeface="Arial"/>
                <a:ea typeface="Arial"/>
                <a:cs typeface="Arial"/>
              </a:rPr>
              <a:t>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0DB0B4-C0A2-49F5-9D8E-37A5B65F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24150"/>
            <a:ext cx="1181100" cy="1009650"/>
          </a:xfrm>
          <a:custGeom xmlns:a="http://schemas.openxmlformats.org/drawingml/2006/main">
            <a:pathLst>
              <a:path w="1181100" h="1009650">
                <a:moveTo>
                  <a:pt x="295275" y="0"/>
                </a:moveTo>
                <a:lnTo>
                  <a:pt x="885825" y="0"/>
                </a:lnTo>
                <a:lnTo>
                  <a:pt x="1181100" y="504825"/>
                </a:lnTo>
                <a:lnTo>
                  <a:pt x="885825" y="1009650"/>
                </a:lnTo>
                <a:lnTo>
                  <a:pt x="295275" y="1009650"/>
                </a:lnTo>
                <a:lnTo>
                  <a:pt x="0" y="504825"/>
                </a:lnTo>
                <a:close/>
              </a:path>
            </a:pathLst>
          </a:custGeom>
          <a:solidFill xmlns:a="http://schemas.openxmlformats.org/drawingml/2006/main">
            <a:srgbClr val="FF8C66">
              <a:alpha val="12000"/>
            </a:srgbClr>
          </a:solidFill>
          <a:ln xmlns:a="http://schemas.openxmlformats.org/drawingml/2006/main" w="19050">
            <a:solidFill>
              <a:srgbClr val="FF8C6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B4A8AD-1E63-43E4-9017-E20C53BF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86100"/>
            <a:ext cx="1181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8C6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8C66"/>
                </a:solidFill>
                <a:latin typeface="Arial"/>
                <a:ea typeface="Arial"/>
                <a:cs typeface="Arial"/>
              </a:rPr>
              <a:t>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E9AFD0-78F2-424A-B8AB-FD9159E4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581275"/>
            <a:ext cx="542925" cy="409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5D4D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A5780C-E2DA-49B7-B3CF-6C30DF73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476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587080"/>
                </a:solidFill>
                <a:latin typeface="Arial"/>
                <a:ea typeface="Arial"/>
                <a:cs typeface="Arial"/>
              </a:rPr>
              <a:t>evidence-led deletion verification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AB8744-9597-41F0-928D-CC200C48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304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870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8708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623146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2026-08-28T16:33:45.5490000Z</dcterms:created>
  <dcterms:modified xsi:type="dcterms:W3CDTF">2026-08-28T16:33:45.5500000Z</dcterms:modified>
</coreProperties>
</file>