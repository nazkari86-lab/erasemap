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Начните с простой мысли: ответ DELETE 200 OK подтверждает только команду, но не исчезновение копий и производных. EraSeMap проверяет весь путь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Покажите, что один пользователь представлен не одной строкой: есть шаблон, кэш, backup и влияние на модель. Любая из ветвей может стать путём восстановления.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Проговорите пять вопросов вместо названий внутренних модулей. Так алгоритм понятен комиссии: карта, поиск пути, минимальный план, временная проверка и сертификат.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сила — безопасный отказ. COMPLETE выдаётся только при одновременном физическом, производном и временном закрытии.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Расскажите это как одну историю: запрос идёт от карты данных к закрытию копий, затем к активной проверке и только после этого к вердикту. Если найден риск или путь не подтверждён, EraSeMap не говорит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Чётко назовите метрику: false COMPLETE, а не общая точность. Ноль — безопасный результат на ограниченном протоколе, не обещание промышленного внедрения.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сделано после одинаковых обязательных проверок. Это ограниченная лабораторная задача, поэтому цифры нельзя автоматически переносить на рабочую систему.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Активная проба выбирает следующий тест так, чтобы разделить оставшиеся гипотезы. Проверка на новых семействах топологий показывает перенос внутри эксперимента, но не доказывает готовность рабочей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скрывайте отрицательный результат по модели. Основной результат проекта — проверка удаления в хранилищах; модельная ветка оценивается отдельно. Четыре строки на слайде нельзя складывать в один рейтинг.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— удобная рамка для комиссии. Важно уточнить: formal checks подтверждают conformance протокола и composition property, но не заменяют внешний production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Поясните термины: retained utility — качество для оставшихся пользователей; exact fallback — полное переобучение. Отрицательный результат здесь важен, потому что система не скрывает проблему.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Новизна формулируется как композиция: recovery-path discovery, temporal closure и сертификат с границей неизвестности. Отдельно покажите, какие доказательства уже есть, а какие ещё нужны.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Закройте одной фразой: EraSeMap проверяет путь, а не обещание. Если спросят о следующем шаге, называйте independent hidden challenge и production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9912096" y="0"/>
            <a:ext cx="2194560" cy="1234440"/>
          </a:xfrm>
          <a:prstGeom prst="ellipse">
            <a:avLst/>
          </a:prstGeom>
          <a:solidFill>
            <a:srgbClr val="CBE4D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10744200" y="164592"/>
            <a:ext cx="1188720" cy="804672"/>
          </a:xfrm>
          <a:prstGeom prst="ellipse">
            <a:avLst/>
          </a:prstGeom>
          <a:solidFill>
            <a:srgbClr val="F5D2C8">
              <a:alpha val="6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-540000">
            <a:off x="0" y="6236208"/>
            <a:ext cx="1920240" cy="530352"/>
          </a:xfrm>
          <a:prstGeom prst="ellipse">
            <a:avLst/>
          </a:prstGeom>
          <a:solidFill>
            <a:srgbClr val="CBE4D6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40233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НҰРЛАНҰЛЫ ДУЛАТ  ·  9 «Б»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141732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—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не кнопка.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88950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проверяется весь путь.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343814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проверяет, исчезли ли данные из копий, производных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будущих каналов восстановления.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86384" y="4590288"/>
            <a:ext cx="4526280" cy="47548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0976" y="4727448"/>
            <a:ext cx="4187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200 OK  →  карта  →  проверка  →  сертификат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0" y="1828800"/>
            <a:ext cx="1097280" cy="640080"/>
          </a:xfrm>
          <a:prstGeom prst="line">
            <a:avLst/>
          </a:prstGeom>
          <a:noFill/>
          <a:ln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468880"/>
            <a:ext cx="1078992" cy="-137160"/>
          </a:xfrm>
          <a:prstGeom prst="line">
            <a:avLst/>
          </a:prstGeom>
          <a:noFill/>
          <a:ln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0" y="1828800"/>
            <a:ext cx="713232" cy="1572768"/>
          </a:xfrm>
          <a:prstGeom prst="line">
            <a:avLst/>
          </a:prstGeom>
          <a:noFill/>
          <a:ln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28432" y="3401568"/>
            <a:ext cx="1353312" cy="-932688"/>
          </a:xfrm>
          <a:prstGeom prst="line">
            <a:avLst/>
          </a:prstGeom>
          <a:noFill/>
          <a:ln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1417320"/>
            <a:ext cx="1536192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75704" y="1563624"/>
            <a:ext cx="146304" cy="146304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13448" y="1508760"/>
            <a:ext cx="1033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13448" y="1755648"/>
            <a:ext cx="1033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запись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394192" y="2139696"/>
            <a:ext cx="160020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0496" y="22860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78240" y="223113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производная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247802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/ индекс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73568" y="3346704"/>
            <a:ext cx="1572768" cy="658368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493008"/>
            <a:ext cx="146304" cy="146304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57616" y="3438144"/>
            <a:ext cx="1069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357616" y="3685032"/>
            <a:ext cx="1069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/ восстановление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309360" y="3438144"/>
            <a:ext cx="146304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7077D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55664" y="3584448"/>
            <a:ext cx="146304" cy="146304"/>
          </a:xfrm>
          <a:prstGeom prst="ellipse">
            <a:avLst/>
          </a:prstGeom>
          <a:solidFill>
            <a:srgbClr val="7077D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93408" y="352958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693408" y="3776472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квитанция + повтор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915400" y="4434840"/>
            <a:ext cx="1993392" cy="694944"/>
          </a:xfrm>
          <a:prstGeom prst="roundRect">
            <a:avLst/>
          </a:prstGeom>
          <a:solidFill>
            <a:srgbClr val="173F38"/>
          </a:solidFill>
          <a:ln w="12700">
            <a:solidFill>
              <a:srgbClr val="173F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15400" y="4645152"/>
            <a:ext cx="1993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86384" y="6016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3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путь, а не обещание «удалено».</a:t>
            </a:r>
            <a:endParaRPr lang="en-US" sz="1230" dirty="0"/>
          </a:p>
        </p:txBody>
      </p:sp>
      <p:sp>
        <p:nvSpPr>
          <p:cNvPr id="38" name="Text 36"/>
          <p:cNvSpPr txBox="1"/>
          <p:nvPr/>
        </p:nvSpPr>
        <p:spPr>
          <a:xfrm>
            <a:off x="749808" y="6601968"/>
            <a:ext cx="5212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Білім-инновация  ·  руководитель Смағұл Ерзат Айдынұлы</a:t>
            </a:r>
            <a:endParaRPr lang="en-US" sz="720" dirty="0"/>
          </a:p>
        </p:txBody>
      </p:sp>
      <p:sp>
        <p:nvSpPr>
          <p:cNvPr id="39" name="Text 37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ПРОБЛЕМА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Проблема: запись не живёт в одном месте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Копии, производные и отложенные задачи создают скрытый путь назад.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2029968"/>
            <a:ext cx="1371600" cy="228600"/>
          </a:xfrm>
          <a:prstGeom prst="roundRect">
            <a:avLst/>
          </a:prstGeom>
          <a:solidFill>
            <a:srgbClr val="E2F0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9536" y="2057400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ПЕРСОНА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859536" y="2542032"/>
            <a:ext cx="246888" cy="246888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61872" y="245059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запись</a:t>
            </a:r>
            <a:endParaRPr lang="en-US" sz="132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26974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/ аккаунт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978408" y="2798064"/>
            <a:ext cx="0" cy="438912"/>
          </a:xfrm>
          <a:prstGeom prst="line">
            <a:avLst/>
          </a:prstGeom>
          <a:noFill/>
          <a:ln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054096"/>
            <a:ext cx="246888" cy="246888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61872" y="296265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Биометрический шаблон</a:t>
            </a:r>
            <a:endParaRPr lang="en-US" sz="132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209544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биометрический вектор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978408" y="3310128"/>
            <a:ext cx="0" cy="438912"/>
          </a:xfrm>
          <a:prstGeom prst="line">
            <a:avLst/>
          </a:prstGeom>
          <a:noFill/>
          <a:ln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9536" y="3566160"/>
            <a:ext cx="246888" cy="246888"/>
          </a:xfrm>
          <a:prstGeom prst="ellipse">
            <a:avLst/>
          </a:prstGeom>
          <a:solidFill>
            <a:srgbClr val="D49B4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61872" y="347472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 и реплика</a:t>
            </a:r>
            <a:endParaRPr lang="en-US" sz="1320" dirty="0"/>
          </a:p>
        </p:txBody>
      </p:sp>
      <p:sp>
        <p:nvSpPr>
          <p:cNvPr id="24" name="Text 22"/>
          <p:cNvSpPr txBox="1"/>
          <p:nvPr/>
        </p:nvSpPr>
        <p:spPr>
          <a:xfrm>
            <a:off x="1261872" y="372160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быстрый путь чтения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978408" y="3822192"/>
            <a:ext cx="0" cy="438912"/>
          </a:xfrm>
          <a:prstGeom prst="line">
            <a:avLst/>
          </a:prstGeom>
          <a:noFill/>
          <a:ln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078224"/>
            <a:ext cx="246888" cy="246888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261872" y="398678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/ восстановление</a:t>
            </a:r>
            <a:endParaRPr lang="en-US" sz="132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23367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отложенная копия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978408" y="4334256"/>
            <a:ext cx="0" cy="438912"/>
          </a:xfrm>
          <a:prstGeom prst="line">
            <a:avLst/>
          </a:prstGeom>
          <a:noFill/>
          <a:ln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" y="4590288"/>
            <a:ext cx="246888" cy="246888"/>
          </a:xfrm>
          <a:prstGeom prst="ellipse">
            <a:avLst/>
          </a:prstGeom>
          <a:solidFill>
            <a:srgbClr val="7077D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61872" y="44988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Влияние на модель</a:t>
            </a:r>
            <a:endParaRPr lang="en-US" sz="1320" dirty="0"/>
          </a:p>
        </p:txBody>
      </p:sp>
      <p:sp>
        <p:nvSpPr>
          <p:cNvPr id="32" name="Text 30"/>
          <p:cNvSpPr txBox="1"/>
          <p:nvPr/>
        </p:nvSpPr>
        <p:spPr>
          <a:xfrm>
            <a:off x="1261872" y="4745736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в модели</a:t>
            </a:r>
            <a:endParaRPr lang="en-US" sz="93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534009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человек → несколько представлений данных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68096" y="575157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одной строки не закрывает весь граф.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389120" y="2029968"/>
            <a:ext cx="6995160" cy="379476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54880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Скрытый путь назад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4754880" y="267004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производное осталось, запись можно восстановить снова.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0" y="3858768"/>
            <a:ext cx="1536192" cy="-640080"/>
          </a:xfrm>
          <a:prstGeom prst="line">
            <a:avLst/>
          </a:prstGeom>
          <a:noFill/>
          <a:ln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5472" y="3218688"/>
            <a:ext cx="1481328" cy="658368"/>
          </a:xfrm>
          <a:prstGeom prst="line">
            <a:avLst/>
          </a:prstGeom>
          <a:noFill/>
          <a:ln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0" y="3858768"/>
            <a:ext cx="1261872" cy="932688"/>
          </a:xfrm>
          <a:prstGeom prst="line">
            <a:avLst/>
          </a:prstGeom>
          <a:noFill/>
          <a:ln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31152" y="4718304"/>
            <a:ext cx="1755648" cy="-877824"/>
          </a:xfrm>
          <a:prstGeom prst="line">
            <a:avLst/>
          </a:prstGeom>
          <a:noFill/>
          <a:ln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66360" y="3529584"/>
            <a:ext cx="155448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12664" y="3675888"/>
            <a:ext cx="146304" cy="146304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50408" y="362102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550408" y="3867912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аккаунта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876288" y="2926080"/>
            <a:ext cx="173736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022592" y="3072384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260336" y="30175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7260336" y="3264408"/>
            <a:ext cx="1234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лицо / признаки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641080" y="3529584"/>
            <a:ext cx="150876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D49B4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787384" y="3675888"/>
            <a:ext cx="146304" cy="146304"/>
          </a:xfrm>
          <a:prstGeom prst="ellipse">
            <a:avLst/>
          </a:prstGeom>
          <a:solidFill>
            <a:srgbClr val="D49B43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025128" y="362102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025128" y="3867912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реплика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629400" y="4498848"/>
            <a:ext cx="1755648" cy="658368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775704" y="4645152"/>
            <a:ext cx="146304" cy="146304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013448" y="459028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013448" y="4837176"/>
            <a:ext cx="12527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восстановление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28032" y="5248656"/>
            <a:ext cx="6099048" cy="347472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029200" y="5340096"/>
            <a:ext cx="5715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«DELETE 200 OK»  ≠  данные исчезли</a:t>
            </a:r>
            <a:endParaRPr lang="en-US" sz="11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МЕТОД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алгоритм. Пять вопросов.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Модули помогают аудиту, но публичный объект — один понятный вердикт EraSeMap.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2295144" y="3703320"/>
            <a:ext cx="694944" cy="0"/>
          </a:xfrm>
          <a:prstGeom prst="line">
            <a:avLst/>
          </a:prstGeom>
          <a:noFill/>
          <a:ln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3090672"/>
            <a:ext cx="256032" cy="256032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30" dirty="0"/>
          </a:p>
        </p:txBody>
      </p:sp>
      <p:sp>
        <p:nvSpPr>
          <p:cNvPr id="16" name="Text 14"/>
          <p:cNvSpPr txBox="1"/>
          <p:nvPr/>
        </p:nvSpPr>
        <p:spPr>
          <a:xfrm>
            <a:off x="1271016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существует?</a:t>
            </a:r>
            <a:endParaRPr lang="en-US" sz="1210" dirty="0"/>
          </a:p>
        </p:txBody>
      </p:sp>
      <p:sp>
        <p:nvSpPr>
          <p:cNvPr id="17" name="Text 15"/>
          <p:cNvSpPr txBox="1"/>
          <p:nvPr/>
        </p:nvSpPr>
        <p:spPr>
          <a:xfrm>
            <a:off x="941832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копий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4517136" y="3703320"/>
            <a:ext cx="694944" cy="0"/>
          </a:xfrm>
          <a:prstGeom prst="line">
            <a:avLst/>
          </a:prstGeom>
          <a:noFill/>
          <a:ln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08376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3824" y="3090672"/>
            <a:ext cx="256032" cy="256032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82112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30" dirty="0"/>
          </a:p>
        </p:txBody>
      </p:sp>
      <p:sp>
        <p:nvSpPr>
          <p:cNvPr id="22" name="Text 20"/>
          <p:cNvSpPr txBox="1"/>
          <p:nvPr/>
        </p:nvSpPr>
        <p:spPr>
          <a:xfrm>
            <a:off x="3493008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путь назад?</a:t>
            </a:r>
            <a:endParaRPr lang="en-US" sz="1210" dirty="0"/>
          </a:p>
        </p:txBody>
      </p:sp>
      <p:sp>
        <p:nvSpPr>
          <p:cNvPr id="23" name="Text 21"/>
          <p:cNvSpPr txBox="1"/>
          <p:nvPr/>
        </p:nvSpPr>
        <p:spPr>
          <a:xfrm>
            <a:off x="3163824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активные пробы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6739128" y="3703320"/>
            <a:ext cx="694944" cy="0"/>
          </a:xfrm>
          <a:prstGeom prst="line">
            <a:avLst/>
          </a:prstGeom>
          <a:noFill/>
          <a:ln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30368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D49B4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85816" y="3090672"/>
            <a:ext cx="256032" cy="256032"/>
          </a:xfrm>
          <a:prstGeom prst="ellipse">
            <a:avLst/>
          </a:prstGeom>
          <a:solidFill>
            <a:srgbClr val="D49B4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04104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30" dirty="0"/>
          </a:p>
        </p:txBody>
      </p:sp>
      <p:sp>
        <p:nvSpPr>
          <p:cNvPr id="28" name="Text 26"/>
          <p:cNvSpPr txBox="1"/>
          <p:nvPr/>
        </p:nvSpPr>
        <p:spPr>
          <a:xfrm>
            <a:off x="5715000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удалить?</a:t>
            </a:r>
            <a:endParaRPr lang="en-US" sz="1210" dirty="0"/>
          </a:p>
        </p:txBody>
      </p:sp>
      <p:sp>
        <p:nvSpPr>
          <p:cNvPr id="29" name="Text 27"/>
          <p:cNvSpPr txBox="1"/>
          <p:nvPr/>
        </p:nvSpPr>
        <p:spPr>
          <a:xfrm>
            <a:off x="5385816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минимальный план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8961120" y="3703320"/>
            <a:ext cx="694944" cy="0"/>
          </a:xfrm>
          <a:prstGeom prst="line">
            <a:avLst/>
          </a:prstGeom>
          <a:noFill/>
          <a:ln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52360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07808" y="3090672"/>
            <a:ext cx="256032" cy="256032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626096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30" dirty="0"/>
          </a:p>
        </p:txBody>
      </p:sp>
      <p:sp>
        <p:nvSpPr>
          <p:cNvPr id="34" name="Text 32"/>
          <p:cNvSpPr txBox="1"/>
          <p:nvPr/>
        </p:nvSpPr>
        <p:spPr>
          <a:xfrm>
            <a:off x="7936992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будет завтра?</a:t>
            </a:r>
            <a:endParaRPr lang="en-US" sz="1210" dirty="0"/>
          </a:p>
        </p:txBody>
      </p:sp>
      <p:sp>
        <p:nvSpPr>
          <p:cNvPr id="35" name="Text 33"/>
          <p:cNvSpPr txBox="1"/>
          <p:nvPr/>
        </p:nvSpPr>
        <p:spPr>
          <a:xfrm>
            <a:off x="7607808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во времени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9674352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7077D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29800" y="3090672"/>
            <a:ext cx="256032" cy="256032"/>
          </a:xfrm>
          <a:prstGeom prst="ellipse">
            <a:avLst/>
          </a:prstGeom>
          <a:solidFill>
            <a:srgbClr val="7077D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848088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30" dirty="0"/>
          </a:p>
        </p:txBody>
      </p:sp>
      <p:sp>
        <p:nvSpPr>
          <p:cNvPr id="39" name="Text 37"/>
          <p:cNvSpPr txBox="1"/>
          <p:nvPr/>
        </p:nvSpPr>
        <p:spPr>
          <a:xfrm>
            <a:off x="10158984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доказано?</a:t>
            </a:r>
            <a:endParaRPr lang="en-US" sz="1210" dirty="0"/>
          </a:p>
        </p:txBody>
      </p:sp>
      <p:sp>
        <p:nvSpPr>
          <p:cNvPr id="40" name="Text 38"/>
          <p:cNvSpPr txBox="1"/>
          <p:nvPr/>
        </p:nvSpPr>
        <p:spPr>
          <a:xfrm>
            <a:off x="9829800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сертификат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1243584" y="4892040"/>
            <a:ext cx="9710928" cy="530352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481328" y="5056632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 →  поиск  →  минимум действий  →  проверка во времени  →  сертификат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97280" y="5779008"/>
            <a:ext cx="10012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одна процедура с пятью проверяемыми выходами — не набор несвязанных алгоритмов.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ВЕРДИКТ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должна уметь сказать: INCOMPLETE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путь ещё активен, EraSeMap не объявляет удаление завершённым.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86384" y="2057400"/>
            <a:ext cx="3794760" cy="3474720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0704" y="2468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</a:t>
            </a:r>
            <a:endParaRPr lang="en-US" sz="31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1272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Найден путь восстановления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554480" y="4041648"/>
            <a:ext cx="914400" cy="0"/>
          </a:xfrm>
          <a:prstGeom prst="line">
            <a:avLst/>
          </a:prstGeom>
          <a:noFill/>
          <a:ln w="38100">
            <a:solidFill>
              <a:srgbClr val="E8795E">
                <a:alpha val="97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68880" y="4041648"/>
            <a:ext cx="804672" cy="0"/>
          </a:xfrm>
          <a:prstGeom prst="line">
            <a:avLst/>
          </a:prstGeom>
          <a:noFill/>
          <a:ln w="38100">
            <a:solidFill>
              <a:srgbClr val="E8795E">
                <a:alpha val="97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8448" y="3913632"/>
            <a:ext cx="256032" cy="256032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8" name="Shape 16"/>
          <p:cNvSpPr/>
          <p:nvPr/>
        </p:nvSpPr>
        <p:spPr>
          <a:xfrm>
            <a:off x="3273552" y="3913632"/>
            <a:ext cx="256032" cy="256032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434340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072384" y="43434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" y="484632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удаления ещё не закрыл</a:t>
            </a:r>
            <a:endParaRPr lang="en-US" sz="1320" dirty="0"/>
          </a:p>
          <a:p>
            <a:pPr algn="ctr" indent="0" marL="0">
              <a:buNone/>
            </a:pPr>
            <a:r>
              <a:rPr lang="en-US" sz="132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производный шаблон.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5074920" y="2057400"/>
            <a:ext cx="6327648" cy="347472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24688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только если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559552" y="3054096"/>
            <a:ext cx="5349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 ∧  D  ∧  T</a:t>
            </a:r>
            <a:endParaRPr lang="en-US" sz="3700" dirty="0"/>
          </a:p>
        </p:txBody>
      </p:sp>
      <p:sp>
        <p:nvSpPr>
          <p:cNvPr id="25" name="Shape 23"/>
          <p:cNvSpPr/>
          <p:nvPr/>
        </p:nvSpPr>
        <p:spPr>
          <a:xfrm>
            <a:off x="5961888" y="3977640"/>
            <a:ext cx="310896" cy="310896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4069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468112" y="44074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физическое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5468112" y="469087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пути закрыты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7900416" y="3977640"/>
            <a:ext cx="310896" cy="310896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00416" y="4069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44074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производное</a:t>
            </a:r>
            <a:endParaRPr lang="en-US" sz="1030" dirty="0"/>
          </a:p>
        </p:txBody>
      </p:sp>
      <p:sp>
        <p:nvSpPr>
          <p:cNvPr id="32" name="Text 30"/>
          <p:cNvSpPr txBox="1"/>
          <p:nvPr/>
        </p:nvSpPr>
        <p:spPr>
          <a:xfrm>
            <a:off x="7406640" y="469087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шаблоны + индексы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9838944" y="3977640"/>
            <a:ext cx="310896" cy="3108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838944" y="4069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345168" y="44074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временное</a:t>
            </a:r>
            <a:endParaRPr lang="en-US" sz="1030" dirty="0"/>
          </a:p>
        </p:txBody>
      </p:sp>
      <p:sp>
        <p:nvSpPr>
          <p:cNvPr id="36" name="Text 34"/>
          <p:cNvSpPr txBox="1"/>
          <p:nvPr/>
        </p:nvSpPr>
        <p:spPr>
          <a:xfrm>
            <a:off x="9345168" y="469087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 не вернёт данные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ПРИМЕР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запрос: как EraSeMap проверяет удаление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просит удалить биометрический шаблон. Система проходит пять шагов, прежде чем сказать «готово».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2249424" y="3447288"/>
            <a:ext cx="804672" cy="0"/>
          </a:xfrm>
          <a:prstGeom prst="line">
            <a:avLst/>
          </a:prstGeom>
          <a:noFill/>
          <a:ln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43584" y="2834640"/>
            <a:ext cx="749808" cy="749808"/>
          </a:xfrm>
          <a:prstGeom prst="ellipse">
            <a:avLst/>
          </a:prstGeom>
          <a:solidFill>
            <a:srgbClr val="2E9BD5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просит удалить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71416" y="3447288"/>
            <a:ext cx="804672" cy="0"/>
          </a:xfrm>
          <a:prstGeom prst="line">
            <a:avLst/>
          </a:prstGeom>
          <a:noFill/>
          <a:ln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65576" y="2834640"/>
            <a:ext cx="749808" cy="749808"/>
          </a:xfrm>
          <a:prstGeom prst="ellipse">
            <a:avLst/>
          </a:prstGeom>
          <a:solidFill>
            <a:srgbClr val="079E94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лежат копии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693408" y="3447288"/>
            <a:ext cx="804672" cy="0"/>
          </a:xfrm>
          <a:prstGeom prst="line">
            <a:avLst/>
          </a:prstGeom>
          <a:noFill/>
          <a:ln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87568" y="2834640"/>
            <a:ext cx="749808" cy="749808"/>
          </a:xfrm>
          <a:prstGeom prst="ellipse">
            <a:avLst/>
          </a:prstGeom>
          <a:solidFill>
            <a:srgbClr val="D49B43"/>
          </a:solidFill>
          <a:ln w="12700">
            <a:solidFill>
              <a:srgbClr val="D49B4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85232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Закрытие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85232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закрываем нужные артефакты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15400" y="3447288"/>
            <a:ext cx="804672" cy="0"/>
          </a:xfrm>
          <a:prstGeom prst="line">
            <a:avLst/>
          </a:prstGeom>
          <a:noFill/>
          <a:ln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09560" y="2834640"/>
            <a:ext cx="749808" cy="749808"/>
          </a:xfrm>
          <a:prstGeom prst="ellipse">
            <a:avLst/>
          </a:prstGeom>
          <a:solidFill>
            <a:srgbClr val="E8795E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07224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507224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проба + время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131552" y="2834640"/>
            <a:ext cx="749808" cy="749808"/>
          </a:xfrm>
          <a:prstGeom prst="ellipse">
            <a:avLst/>
          </a:prstGeom>
          <a:solidFill>
            <a:srgbClr val="7077D7"/>
          </a:solidFill>
          <a:ln w="12700">
            <a:solidFill>
              <a:srgbClr val="7077D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29216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/ INCOMPLETE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188720" y="4882896"/>
            <a:ext cx="4370832" cy="59436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17320" y="507492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⇔ все известные пути закрыты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062472" y="4882896"/>
            <a:ext cx="4892040" cy="594360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09360" y="507492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= риск найден</a:t>
            </a:r>
            <a:endParaRPr lang="en-US" sz="127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5888736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путь неизвестен или риск найден — EraSeMap не говорит «готово».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540000">
            <a:off x="0" y="6236208"/>
            <a:ext cx="1920240" cy="530352"/>
          </a:xfrm>
          <a:prstGeom prst="ellipse">
            <a:avLst/>
          </a:prstGeom>
          <a:solidFill>
            <a:srgbClr val="CBE4D6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ДОКАЗАТЕЛЬСТВА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1 / ложное «ГОТОВО»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Безопасность: false-COMPLETE — система сказала «готово», хотя данные ещё можно восстановить. Ниже — лучше.</a:t>
            </a:r>
            <a:endParaRPr lang="en-US" sz="1330" dirty="0"/>
          </a:p>
        </p:txBody>
      </p:sp>
      <p:sp>
        <p:nvSpPr>
          <p:cNvPr id="13" name="Shape 11"/>
          <p:cNvSpPr/>
          <p:nvPr/>
        </p:nvSpPr>
        <p:spPr>
          <a:xfrm>
            <a:off x="768096" y="1993392"/>
            <a:ext cx="8394192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121408"/>
            <a:ext cx="2423160" cy="246888"/>
          </a:xfrm>
          <a:prstGeom prst="roundRect">
            <a:avLst/>
          </a:prstGeom>
          <a:solidFill>
            <a:srgbClr val="173F3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215798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  ·  НИЖЕ ЛУЧШЕ</a:t>
            </a:r>
            <a:endParaRPr lang="en-US" sz="820" dirty="0"/>
          </a:p>
        </p:txBody>
      </p:sp>
      <p:pic>
        <p:nvPicPr>
          <p:cNvPr id="16" name="Image 0" descr="Крупное сравнение false COMPLE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88468"/>
            <a:ext cx="8065008" cy="28960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491472" y="22128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60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9491472" y="256032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открытый перенос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9491472" y="3246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75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491472" y="3593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исходный протокол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9491472" y="42793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20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491472" y="46268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повторная проверка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491472" y="5166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 протокол;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заявление о внедрении.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ДОКАЗАТЕЛЬСТВА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2 / эффективность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задача удаления: стоимость действий, время, байты и успешное завершение. Ниже — лучше.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1993392"/>
            <a:ext cx="8650224" cy="365760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121408"/>
            <a:ext cx="2423160" cy="246888"/>
          </a:xfrm>
          <a:prstGeom prst="roundRect">
            <a:avLst/>
          </a:prstGeom>
          <a:solidFill>
            <a:srgbClr val="173F3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15798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 ·  ВРЕМЯ  ·  БАЙТЫ  ·  НИЖЕ ЛУЧШЕ</a:t>
            </a:r>
            <a:endParaRPr lang="en-US" sz="820" dirty="0"/>
          </a:p>
        </p:txBody>
      </p:sp>
      <p:pic>
        <p:nvPicPr>
          <p:cNvPr id="15" name="Image 0" descr="Крупное сравнение стоимости, времени и байт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618463"/>
            <a:ext cx="8321040" cy="247146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674352" y="22128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17.64×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674352" y="256032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быстрее полной пересборки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674352" y="3246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−94.62%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674352" y="3593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перезаписанные байты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674352" y="42793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9674352" y="46268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стоимость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9592056" y="5175504"/>
            <a:ext cx="2057400" cy="457200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10928" y="52852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Сначала safety,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потом оптимизация.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ДОКАЗАТЕЛЬСТВА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3 / поиск скрытого пути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Активная проба сокращает пространство гипотез после каждого ответа системы восстановления.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1993392"/>
            <a:ext cx="7571232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121408"/>
            <a:ext cx="2423160" cy="246888"/>
          </a:xfrm>
          <a:prstGeom prst="roundRect">
            <a:avLst/>
          </a:prstGeom>
          <a:solidFill>
            <a:srgbClr val="173F3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15798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ПУТИ  ·  НИЖЕ ЛУЧШЕ</a:t>
            </a:r>
            <a:endParaRPr lang="en-US" sz="820" dirty="0"/>
          </a:p>
        </p:txBody>
      </p:sp>
      <p:pic>
        <p:nvPicPr>
          <p:cNvPr id="15" name="Image 0" descr="Крупное сравнение активных про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80657"/>
            <a:ext cx="7223760" cy="2593966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577072" y="1993392"/>
            <a:ext cx="2834640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85139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 важно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887968" y="296265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555480" y="303580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352958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36027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случайный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887968" y="40965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9555480" y="41696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перебор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851392" y="5266944"/>
            <a:ext cx="2286000" cy="365760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61120" y="5358384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/ 50 новых семейств вне разработки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ДОКАЗАТЕЛЬСТВА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4 / итог по критериям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независимых критерия — не единый сводный балл.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1993392"/>
            <a:ext cx="7735824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286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EraSeMap лучше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97280" y="2670048"/>
            <a:ext cx="7086600" cy="65836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61872" y="2852928"/>
            <a:ext cx="256032" cy="256032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64208" y="27797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</a:t>
            </a:r>
            <a:endParaRPr lang="en-US" sz="1120" dirty="0"/>
          </a:p>
        </p:txBody>
      </p:sp>
      <p:sp>
        <p:nvSpPr>
          <p:cNvPr id="17" name="Text 15"/>
          <p:cNvSpPr txBox="1"/>
          <p:nvPr/>
        </p:nvSpPr>
        <p:spPr>
          <a:xfrm>
            <a:off x="1664208" y="3017520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ложное «ГОТОВО» ↓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27797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870" dirty="0"/>
          </a:p>
        </p:txBody>
      </p:sp>
      <p:sp>
        <p:nvSpPr>
          <p:cNvPr id="19" name="Text 17"/>
          <p:cNvSpPr txBox="1"/>
          <p:nvPr/>
        </p:nvSpPr>
        <p:spPr>
          <a:xfrm>
            <a:off x="4901184" y="27432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100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897880" y="2999232"/>
            <a:ext cx="320040" cy="0"/>
          </a:xfrm>
          <a:prstGeom prst="line">
            <a:avLst/>
          </a:prstGeom>
          <a:noFill/>
          <a:ln w="17780">
            <a:solidFill>
              <a:srgbClr val="C8D6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36208" y="27797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чек-лист</a:t>
            </a:r>
            <a:endParaRPr lang="en-US" sz="87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2743200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/ 100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97280" y="3383280"/>
            <a:ext cx="7086600" cy="65836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61872" y="3566160"/>
            <a:ext cx="256032" cy="256032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664208" y="349300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Будущая регенерация</a:t>
            </a:r>
            <a:endParaRPr lang="en-US" sz="1120" dirty="0"/>
          </a:p>
        </p:txBody>
      </p:sp>
      <p:sp>
        <p:nvSpPr>
          <p:cNvPr id="26" name="Text 24"/>
          <p:cNvSpPr txBox="1"/>
          <p:nvPr/>
        </p:nvSpPr>
        <p:spPr>
          <a:xfrm>
            <a:off x="1664208" y="373075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найденные риски ↑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794760" y="349300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870" dirty="0"/>
          </a:p>
        </p:txBody>
      </p:sp>
      <p:sp>
        <p:nvSpPr>
          <p:cNvPr id="28" name="Text 26"/>
          <p:cNvSpPr txBox="1"/>
          <p:nvPr/>
        </p:nvSpPr>
        <p:spPr>
          <a:xfrm>
            <a:off x="4901184" y="34564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30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897880" y="3712464"/>
            <a:ext cx="320040" cy="0"/>
          </a:xfrm>
          <a:prstGeom prst="line">
            <a:avLst/>
          </a:prstGeom>
          <a:noFill/>
          <a:ln w="17780">
            <a:solidFill>
              <a:srgbClr val="C8D6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36208" y="3493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снимок</a:t>
            </a:r>
            <a:endParaRPr lang="en-US" sz="870" dirty="0"/>
          </a:p>
        </p:txBody>
      </p:sp>
      <p:sp>
        <p:nvSpPr>
          <p:cNvPr id="31" name="Text 29"/>
          <p:cNvSpPr txBox="1"/>
          <p:nvPr/>
        </p:nvSpPr>
        <p:spPr>
          <a:xfrm>
            <a:off x="7205472" y="3456432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30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097280" y="4096512"/>
            <a:ext cx="7086600" cy="65836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61872" y="4279392"/>
            <a:ext cx="256032" cy="256032"/>
          </a:xfrm>
          <a:prstGeom prst="ellipse">
            <a:avLst/>
          </a:prstGeom>
          <a:solidFill>
            <a:srgbClr val="D49B4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664208" y="420624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действий</a:t>
            </a:r>
            <a:endParaRPr lang="en-US" sz="1120" dirty="0"/>
          </a:p>
        </p:txBody>
      </p:sp>
      <p:sp>
        <p:nvSpPr>
          <p:cNvPr id="35" name="Text 33"/>
          <p:cNvSpPr txBox="1"/>
          <p:nvPr/>
        </p:nvSpPr>
        <p:spPr>
          <a:xfrm>
            <a:off x="1664208" y="4443984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стоимость ↓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794760" y="420624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870" dirty="0"/>
          </a:p>
        </p:txBody>
      </p:sp>
      <p:sp>
        <p:nvSpPr>
          <p:cNvPr id="37" name="Text 35"/>
          <p:cNvSpPr txBox="1"/>
          <p:nvPr/>
        </p:nvSpPr>
        <p:spPr>
          <a:xfrm>
            <a:off x="4901184" y="416966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897880" y="4425696"/>
            <a:ext cx="320040" cy="0"/>
          </a:xfrm>
          <a:prstGeom prst="line">
            <a:avLst/>
          </a:prstGeom>
          <a:noFill/>
          <a:ln w="17780">
            <a:solidFill>
              <a:srgbClr val="C8D6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36208" y="420624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удалить всё</a:t>
            </a:r>
            <a:endParaRPr lang="en-US" sz="870" dirty="0"/>
          </a:p>
        </p:txBody>
      </p:sp>
      <p:sp>
        <p:nvSpPr>
          <p:cNvPr id="40" name="Text 38"/>
          <p:cNvSpPr txBox="1"/>
          <p:nvPr/>
        </p:nvSpPr>
        <p:spPr>
          <a:xfrm>
            <a:off x="7205472" y="4169664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48.67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097280" y="4809744"/>
            <a:ext cx="7086600" cy="65836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61872" y="4992624"/>
            <a:ext cx="256032" cy="256032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664208" y="491947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задачи</a:t>
            </a:r>
            <a:endParaRPr lang="en-US" sz="1120" dirty="0"/>
          </a:p>
        </p:txBody>
      </p:sp>
      <p:sp>
        <p:nvSpPr>
          <p:cNvPr id="44" name="Text 42"/>
          <p:cNvSpPr txBox="1"/>
          <p:nvPr/>
        </p:nvSpPr>
        <p:spPr>
          <a:xfrm>
            <a:off x="1664208" y="5157216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норм. время ↓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3794760" y="491947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870" dirty="0"/>
          </a:p>
        </p:txBody>
      </p:sp>
      <p:sp>
        <p:nvSpPr>
          <p:cNvPr id="46" name="Text 44"/>
          <p:cNvSpPr txBox="1"/>
          <p:nvPr/>
        </p:nvSpPr>
        <p:spPr>
          <a:xfrm>
            <a:off x="4901184" y="4882896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5.67%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5897880" y="5138928"/>
            <a:ext cx="320040" cy="0"/>
          </a:xfrm>
          <a:prstGeom prst="line">
            <a:avLst/>
          </a:prstGeom>
          <a:noFill/>
          <a:ln w="17780">
            <a:solidFill>
              <a:srgbClr val="C8D6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36208" y="49194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пересобрать всё</a:t>
            </a:r>
            <a:endParaRPr lang="en-US" sz="870" dirty="0"/>
          </a:p>
        </p:txBody>
      </p:sp>
      <p:sp>
        <p:nvSpPr>
          <p:cNvPr id="49" name="Text 47"/>
          <p:cNvSpPr txBox="1"/>
          <p:nvPr/>
        </p:nvSpPr>
        <p:spPr>
          <a:xfrm>
            <a:off x="7205472" y="4882896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8741664" y="1993392"/>
            <a:ext cx="2670048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961120" y="233172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не заявляем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979408" y="2999232"/>
            <a:ext cx="2176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MUFAC не прошёл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полезности для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оставшихся пользователей.</a:t>
            </a:r>
            <a:endParaRPr lang="en-US" sz="1030" dirty="0"/>
          </a:p>
        </p:txBody>
      </p:sp>
      <p:sp>
        <p:nvSpPr>
          <p:cNvPr id="53" name="Shape 51"/>
          <p:cNvSpPr/>
          <p:nvPr/>
        </p:nvSpPr>
        <p:spPr>
          <a:xfrm>
            <a:off x="8979408" y="3703320"/>
            <a:ext cx="2176272" cy="384048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125712" y="3822192"/>
            <a:ext cx="1883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· полезность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8869680" y="4389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Точная пересборка сохраняет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безопасность, но не ускоряет работу.</a:t>
            </a:r>
            <a:endParaRPr lang="en-US" sz="1020" dirty="0"/>
          </a:p>
        </p:txBody>
      </p:sp>
      <p:sp>
        <p:nvSpPr>
          <p:cNvPr id="56" name="Text 54"/>
          <p:cNvSpPr txBox="1"/>
          <p:nvPr/>
        </p:nvSpPr>
        <p:spPr>
          <a:xfrm>
            <a:off x="8942832" y="5157216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 взяты из отдельных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экспериментов с одним протоколом.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540000">
            <a:off x="0" y="6236208"/>
            <a:ext cx="1920240" cy="530352"/>
          </a:xfrm>
          <a:prstGeom prst="ellipse">
            <a:avLst/>
          </a:prstGeom>
          <a:solidFill>
            <a:srgbClr val="CBE4D6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ТЕОРИЯ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вердикта и три проверяемых условия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Короткая запись облегчает объяснение; мы проверяем совместную корректность условий.</a:t>
            </a:r>
            <a:endParaRPr lang="en-US" sz="1330" dirty="0"/>
          </a:p>
        </p:txBody>
      </p:sp>
      <p:sp>
        <p:nvSpPr>
          <p:cNvPr id="13" name="Shape 11"/>
          <p:cNvSpPr/>
          <p:nvPr/>
        </p:nvSpPr>
        <p:spPr>
          <a:xfrm>
            <a:off x="1005840" y="1984248"/>
            <a:ext cx="10195560" cy="96012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34440" y="2267712"/>
            <a:ext cx="9738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 ⇔  P  ∧  D  ∧  T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1005840" y="3429000"/>
            <a:ext cx="3054096" cy="123444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25296" y="3749040"/>
            <a:ext cx="402336" cy="402336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25296" y="38587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36576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физическое</a:t>
            </a:r>
            <a:endParaRPr lang="en-US" sz="1220" dirty="0"/>
          </a:p>
        </p:txBody>
      </p:sp>
      <p:sp>
        <p:nvSpPr>
          <p:cNvPr id="19" name="Text 17"/>
          <p:cNvSpPr txBox="1"/>
          <p:nvPr/>
        </p:nvSpPr>
        <p:spPr>
          <a:xfrm>
            <a:off x="1755648" y="3959352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пути закрыты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4462272" y="3429000"/>
            <a:ext cx="3054096" cy="123444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3749040"/>
            <a:ext cx="402336" cy="402336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81728" y="38587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36576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производное</a:t>
            </a:r>
            <a:endParaRPr lang="en-US" sz="122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3959352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шаблоны + индексы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7918704" y="3429000"/>
            <a:ext cx="3054096" cy="123444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0" y="3749040"/>
            <a:ext cx="402336" cy="40233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0" y="38587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668512" y="36576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временное</a:t>
            </a:r>
            <a:endParaRPr lang="en-US" sz="1220" dirty="0"/>
          </a:p>
        </p:txBody>
      </p:sp>
      <p:sp>
        <p:nvSpPr>
          <p:cNvPr id="29" name="Text 27"/>
          <p:cNvSpPr txBox="1"/>
          <p:nvPr/>
        </p:nvSpPr>
        <p:spPr>
          <a:xfrm>
            <a:off x="8668512" y="3959352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 не вернёт данные</a:t>
            </a:r>
            <a:endParaRPr lang="en-US" sz="94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5184648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3 072 / 3 072 формальных проверок прошли в proof harness проекта.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5650992"/>
            <a:ext cx="10012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проверка соответствия протоколу, а не доказательство внедрения в production.</a:t>
            </a:r>
            <a:endParaRPr lang="en-US" sz="11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ОГРАНИЧЕНИЕ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Влияние на модель — отдельный канал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unlearning проверяется отдельно и не заменяет физическое удаление.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1993392"/>
            <a:ext cx="5074920" cy="352044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233172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проверяем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143000" y="2999232"/>
            <a:ext cx="274320" cy="274320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3081528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627632" y="301752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влияние / полезность для оставшихся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143000" y="3657600"/>
            <a:ext cx="274320" cy="274320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43000" y="3739896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1627632" y="36758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с точным переобучением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1143000" y="4315968"/>
            <a:ext cx="274320" cy="274320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43000" y="4398264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1627632" y="433425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атака на приватность + порог качества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272784" y="1993392"/>
            <a:ext cx="5138928" cy="3520440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2331720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результат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MUFAC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629400" y="3364992"/>
            <a:ext cx="2395728" cy="283464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48272" y="3447288"/>
            <a:ext cx="2157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· порог полезности</a:t>
            </a:r>
            <a:endParaRPr lang="en-US" sz="81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4142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Точное переобучение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629400" y="4507992"/>
            <a:ext cx="2304288" cy="283464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48272" y="4590288"/>
            <a:ext cx="20665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· безопасно / без ускорения</a:t>
            </a:r>
            <a:endParaRPr lang="en-US" sz="81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589788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Граница: быстрое переобучение не считается успешным без проверки качества для остальных.</a:t>
            </a:r>
            <a:endParaRPr lang="en-US" sz="11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ПОЗИЦИОНИРОВАНИЕ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Новизна — в составе доказательств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четыре разрозненных алгоритма, а одна процедура, закрывающая три риска.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011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отличительных объекта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96112" y="2679192"/>
            <a:ext cx="347472" cy="347472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44752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восстановления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297180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ищем, где запись может появиться снова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896112" y="3438144"/>
            <a:ext cx="347472" cy="347472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444752" y="345643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временное закрытие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44752" y="373075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будущую регенерацию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896112" y="4197096"/>
            <a:ext cx="347472" cy="347472"/>
          </a:xfrm>
          <a:prstGeom prst="ellipse">
            <a:avLst/>
          </a:prstGeom>
          <a:solidFill>
            <a:srgbClr val="7077D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444752" y="4215384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сертификат удаления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44752" y="448970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показываем границу неизвестности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5559552" y="2011680"/>
            <a:ext cx="5843016" cy="358444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340864"/>
            <a:ext cx="4956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Лестница доказательств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016752" y="2962656"/>
            <a:ext cx="2011680" cy="237744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301294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01294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внедрения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6016752" y="3374136"/>
            <a:ext cx="2011680" cy="237744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342442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42442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скрытая проверка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016752" y="3785616"/>
            <a:ext cx="3639312" cy="237744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83590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83590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семейства вне разработки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6016752" y="4197096"/>
            <a:ext cx="3493008" cy="237744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24738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424738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скрытая выборка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6016752" y="4608576"/>
            <a:ext cx="3346704" cy="237744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465886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465886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воспроизводимая лаборатория</a:t>
            </a:r>
            <a:endParaRPr lang="en-US" sz="880" dirty="0"/>
          </a:p>
        </p:txBody>
      </p:sp>
      <p:sp>
        <p:nvSpPr>
          <p:cNvPr id="39" name="Text 37"/>
          <p:cNvSpPr txBox="1"/>
          <p:nvPr/>
        </p:nvSpPr>
        <p:spPr>
          <a:xfrm>
            <a:off x="5961888" y="5138928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Сейчас: воспроизводимый эксперимент и ограниченные внешние данные.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 нужна независимая скрытая проверка.</a:t>
            </a:r>
            <a:endParaRPr lang="en-US" sz="10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9912096" y="0"/>
            <a:ext cx="2194560" cy="1234440"/>
          </a:xfrm>
          <a:prstGeom prst="ellipse">
            <a:avLst/>
          </a:prstGeom>
          <a:solidFill>
            <a:srgbClr val="CBE4D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10744200" y="164592"/>
            <a:ext cx="1188720" cy="804672"/>
          </a:xfrm>
          <a:prstGeom prst="ellipse">
            <a:avLst/>
          </a:prstGeom>
          <a:solidFill>
            <a:srgbClr val="F5D2C8">
              <a:alpha val="6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-540000">
            <a:off x="0" y="6236208"/>
            <a:ext cx="1920240" cy="530352"/>
          </a:xfrm>
          <a:prstGeom prst="ellipse">
            <a:avLst/>
          </a:prstGeom>
          <a:solidFill>
            <a:srgbClr val="CBE4D6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4023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CONCLUSION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1417320"/>
            <a:ext cx="5349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Проверять путь,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не обещание.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324612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превращает удаление из одной команды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процедуру с проверкой возврата во времени.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86384" y="4443984"/>
            <a:ext cx="4526280" cy="530352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" y="4617720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эксперимент: независимая скрытая проверка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80960" y="2011680"/>
            <a:ext cx="1207008" cy="804672"/>
          </a:xfrm>
          <a:prstGeom prst="line">
            <a:avLst/>
          </a:prstGeom>
          <a:noFill/>
          <a:ln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87968" y="2816352"/>
            <a:ext cx="-566928" cy="1078992"/>
          </a:xfrm>
          <a:prstGeom prst="line">
            <a:avLst/>
          </a:prstGeom>
          <a:noFill/>
          <a:ln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3895344"/>
            <a:ext cx="1234440" cy="-640080"/>
          </a:xfrm>
          <a:prstGeom prst="line">
            <a:avLst/>
          </a:prstGeom>
          <a:noFill/>
          <a:ln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67728" y="1737360"/>
            <a:ext cx="1481328" cy="1481328"/>
          </a:xfrm>
          <a:prstGeom prst="ellipse">
            <a:avLst/>
          </a:prstGeom>
          <a:solidFill>
            <a:srgbClr val="CBE4D6">
              <a:alpha val="85000"/>
            </a:srgbClr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67728" y="233172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705088" y="2743200"/>
            <a:ext cx="1170432" cy="1170432"/>
          </a:xfrm>
          <a:prstGeom prst="ellipse">
            <a:avLst/>
          </a:prstGeom>
          <a:solidFill>
            <a:srgbClr val="F5D2C8">
              <a:alpha val="88000"/>
            </a:srgbClr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05088" y="3236976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629400" y="4389120"/>
            <a:ext cx="960120" cy="960120"/>
          </a:xfrm>
          <a:prstGeom prst="ellipse">
            <a:avLst/>
          </a:prstGeom>
          <a:solidFill>
            <a:srgbClr val="E2F0E8">
              <a:alpha val="90000"/>
            </a:srgbClr>
          </a:solidFill>
          <a:ln w="12700">
            <a:solidFill>
              <a:srgbClr val="7077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478231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077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КГУ «Специализированный лицей-интернат „Білім-инновация“» Управления образования города Алматы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EraSeMap — проверяемый путь удаления данных</dc:title>
  <dc:subject>Evidence-led deletion verification</dc:subject>
  <dc:creator>Нұрланұлы Дулат</dc:creator>
  <cp:lastModifiedBy>Нұрланұлы Дулат</cp:lastModifiedBy>
  <cp:revision>1</cp:revision>
  <dcterms:created xsi:type="dcterms:W3CDTF">2026-08-30T13:07:28Z</dcterms:created>
  <dcterms:modified xsi:type="dcterms:W3CDTF">2026-08-30T13:07:28Z</dcterms:modified>
</cp:coreProperties>
</file>