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639bc0eb7848b8" /><Relationship Type="http://schemas.openxmlformats.org/officeDocument/2006/relationships/extended-properties" Target="/docProps/app.xml" Id="Rfef289ef00714590" /><Relationship Type="http://schemas.openxmlformats.org/officeDocument/2006/relationships/officeDocument" Target="/ppt/presentation.xml" Id="Ra483c735ebbf4e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41ed4f2aa744f1"/>
  </p:sldMasterIdLst>
  <p:notesMasterIdLst>
    <p:notesMasterId xmlns:r="http://schemas.openxmlformats.org/officeDocument/2006/relationships" r:id="R7397f1c21643490e"/>
  </p:notesMasterIdLst>
  <p:sldIdLst>
    <p:sldId xmlns:r="http://schemas.openxmlformats.org/officeDocument/2006/relationships" id="256" r:id="R1c5c36f680254da6"/>
    <p:sldId xmlns:r="http://schemas.openxmlformats.org/officeDocument/2006/relationships" id="257" r:id="R3d27ccead1464f2f"/>
    <p:sldId xmlns:r="http://schemas.openxmlformats.org/officeDocument/2006/relationships" id="258" r:id="R70895a719da84201"/>
    <p:sldId xmlns:r="http://schemas.openxmlformats.org/officeDocument/2006/relationships" id="259" r:id="R76b5fd50d5504cff"/>
    <p:sldId xmlns:r="http://schemas.openxmlformats.org/officeDocument/2006/relationships" id="260" r:id="Ra73ad893b9234df4"/>
    <p:sldId xmlns:r="http://schemas.openxmlformats.org/officeDocument/2006/relationships" id="261" r:id="Re54c45cb911947a3"/>
    <p:sldId xmlns:r="http://schemas.openxmlformats.org/officeDocument/2006/relationships" id="262" r:id="R0c61749bf74a4899"/>
    <p:sldId xmlns:r="http://schemas.openxmlformats.org/officeDocument/2006/relationships" id="263" r:id="R538ee6a470c34d74"/>
    <p:sldId xmlns:r="http://schemas.openxmlformats.org/officeDocument/2006/relationships" id="264" r:id="R235a04a14bda4222"/>
    <p:sldId xmlns:r="http://schemas.openxmlformats.org/officeDocument/2006/relationships" id="265" r:id="Rd11fbb40832d4b5d"/>
    <p:sldId xmlns:r="http://schemas.openxmlformats.org/officeDocument/2006/relationships" id="266" r:id="Rdd4b3eb024284401"/>
    <p:sldId xmlns:r="http://schemas.openxmlformats.org/officeDocument/2006/relationships" id="267" r:id="Rbdb2c7acd1434753"/>
    <p:sldId xmlns:r="http://schemas.openxmlformats.org/officeDocument/2006/relationships" id="268" r:id="R511fdb9d41ce4e07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e0b91efcd64be0" /><Relationship Type="http://schemas.openxmlformats.org/officeDocument/2006/relationships/slideMaster" Target="/ppt/slideMasters/slideMaster1.xml" Id="Rbc41ed4f2aa744f1" /><Relationship Type="http://schemas.openxmlformats.org/officeDocument/2006/relationships/notesMaster" Target="/ppt/notesMasters/notesMaster1.xml" Id="R7397f1c21643490e" /><Relationship Type="http://schemas.openxmlformats.org/officeDocument/2006/relationships/presProps" Target="/ppt/presProps.xml" Id="R3ee69387db764137" /><Relationship Type="http://schemas.openxmlformats.org/officeDocument/2006/relationships/tableStyles" Target="/ppt/tableStyles.xml" Id="R1e540e6f021e4e39" /><Relationship Type="http://schemas.openxmlformats.org/officeDocument/2006/relationships/slide" Target="/ppt/slides/slide1.xml" Id="R1c5c36f680254da6" /><Relationship Type="http://schemas.openxmlformats.org/officeDocument/2006/relationships/slide" Target="/ppt/slides/slide2.xml" Id="R3d27ccead1464f2f" /><Relationship Type="http://schemas.openxmlformats.org/officeDocument/2006/relationships/slide" Target="/ppt/slides/slide3.xml" Id="R70895a719da84201" /><Relationship Type="http://schemas.openxmlformats.org/officeDocument/2006/relationships/slide" Target="/ppt/slides/slide4.xml" Id="R76b5fd50d5504cff" /><Relationship Type="http://schemas.openxmlformats.org/officeDocument/2006/relationships/slide" Target="/ppt/slides/slide5.xml" Id="Ra73ad893b9234df4" /><Relationship Type="http://schemas.openxmlformats.org/officeDocument/2006/relationships/slide" Target="/ppt/slides/slide6.xml" Id="Re54c45cb911947a3" /><Relationship Type="http://schemas.openxmlformats.org/officeDocument/2006/relationships/slide" Target="/ppt/slides/slide7.xml" Id="R0c61749bf74a4899" /><Relationship Type="http://schemas.openxmlformats.org/officeDocument/2006/relationships/slide" Target="/ppt/slides/slide8.xml" Id="R538ee6a470c34d74" /><Relationship Type="http://schemas.openxmlformats.org/officeDocument/2006/relationships/slide" Target="/ppt/slides/slide9.xml" Id="R235a04a14bda4222" /><Relationship Type="http://schemas.openxmlformats.org/officeDocument/2006/relationships/slide" Target="/ppt/slides/slide10.xml" Id="Rd11fbb40832d4b5d" /><Relationship Type="http://schemas.openxmlformats.org/officeDocument/2006/relationships/slide" Target="/ppt/slides/slide11.xml" Id="Rdd4b3eb024284401" /><Relationship Type="http://schemas.openxmlformats.org/officeDocument/2006/relationships/slide" Target="/ppt/slides/slide12.xml" Id="Rbdb2c7acd1434753" /><Relationship Type="http://schemas.openxmlformats.org/officeDocument/2006/relationships/slide" Target="/ppt/slides/slide13.xml" Id="R511fdb9d41ce4e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bd5cb6492f4b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5b84417efb462d" /><Relationship Type="http://schemas.openxmlformats.org/officeDocument/2006/relationships/notesMaster" Target="/ppt/notesMasters/notesMaster1.xml" Id="R3fb1cca3f1364a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7b700008e44b98" /><Relationship Type="http://schemas.openxmlformats.org/officeDocument/2006/relationships/notesMaster" Target="/ppt/notesMasters/notesMaster1.xml" Id="Rd6e1e729ac2d4e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b0f31a65c2454b" /><Relationship Type="http://schemas.openxmlformats.org/officeDocument/2006/relationships/notesMaster" Target="/ppt/notesMasters/notesMaster1.xml" Id="Ra7ce1ea4b16542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caa062fce14315" /><Relationship Type="http://schemas.openxmlformats.org/officeDocument/2006/relationships/notesMaster" Target="/ppt/notesMasters/notesMaster1.xml" Id="R4bbf1e70de7c4c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a7a19ae2d24c79" /><Relationship Type="http://schemas.openxmlformats.org/officeDocument/2006/relationships/notesMaster" Target="/ppt/notesMasters/notesMaster1.xml" Id="R40ad29290efb44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c48b16bf1340aa" /><Relationship Type="http://schemas.openxmlformats.org/officeDocument/2006/relationships/notesMaster" Target="/ppt/notesMasters/notesMaster1.xml" Id="R2242427aaf62425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e155a40abe4a02" /><Relationship Type="http://schemas.openxmlformats.org/officeDocument/2006/relationships/notesMaster" Target="/ppt/notesMasters/notesMaster1.xml" Id="R2d45d6ceff584c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a2d64aa0f24d84" /><Relationship Type="http://schemas.openxmlformats.org/officeDocument/2006/relationships/notesMaster" Target="/ppt/notesMasters/notesMaster1.xml" Id="Ra1163e3ff44849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bf3e8a29444772" /><Relationship Type="http://schemas.openxmlformats.org/officeDocument/2006/relationships/notesMaster" Target="/ppt/notesMasters/notesMaster1.xml" Id="Re124d93abe9a42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91459359f44109" /><Relationship Type="http://schemas.openxmlformats.org/officeDocument/2006/relationships/notesMaster" Target="/ppt/notesMasters/notesMaster1.xml" Id="Rc0d9a47f2de343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3a171a96364f01" /><Relationship Type="http://schemas.openxmlformats.org/officeDocument/2006/relationships/notesMaster" Target="/ppt/notesMasters/notesMaster1.xml" Id="R71786ba464c34c5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91357a9d81642f7" /><Relationship Type="http://schemas.openxmlformats.org/officeDocument/2006/relationships/notesMaster" Target="/ppt/notesMasters/notesMaster1.xml" Id="Ra25202ee5bf448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6b7cd94d2d477b" /><Relationship Type="http://schemas.openxmlformats.org/officeDocument/2006/relationships/notesMaster" Target="/ppt/notesMasters/notesMaster1.xml" Id="Re502b869fe0742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problem: a successful DELETE response does not prove that copies, templates, caches, backups, or model derivatives are gone.</a:t>
            </a:r>
          </a:p>
          <a:p xmlns:a="http://schemas.openxmlformats.org/drawingml/2006/main">
            <a:r>
              <a:t>The visual language adapts a free hexagonal technology template; all metrics and claims in this deck come from EraSeMap project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concrete risk: a database row can be deleted while a face template, cache, backup, or model influence still permits recovery.</a:t>
            </a:r>
          </a:p>
          <a:p xmlns:a="http://schemas.openxmlformats.org/drawingml/2006/main">
            <a:r>
              <a:t>This is why EraSeMap audits a graph of copies and derivatives, not a single endpoint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across the five stages. Each stage has an explicit output, so the algorithm is explainable to a non-specialist and auditable by a reviewer.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memorable point: a safe system must be comfortable saying INCOMPLETE. The formula P ∧ D ∧ T is the gate for COMPLETE, not a generic accuracy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evidence chain, not the implementation details: registry → probes → minimal action plan → temporal replay → certificate.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metric definition aloud: false COMPLETE, not generic accuracy. A lower bar means fewer unsafe success verdicts.</a:t>
            </a:r>
          </a:p>
          <a:p xmlns:a="http://schemas.openxmlformats.org/drawingml/2006/main">
            <a:r>
              <a:t>These are bounded project experiments, not a production deployment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does not trade away safety to be fast. The comparison is between EraSeMap, greedy planning, and delete-all under the same bounded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‘active’: the next probe is chosen to split the remaining topology hypotheses, not sampled at random.</a:t>
            </a:r>
          </a:p>
          <a:p xmlns:a="http://schemas.openxmlformats.org/drawingml/2006/main">
            <a:r>
              <a:t>The 50/50 family-held-out result is transfer evidence across unseen topology families, not a production guarantee.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designed to block overclaiming. EraSeMap is strong on evidence-led storage deletion; the model-unlearning candidate is reported as a negative or exact fallback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equation is not presented as a proof by itself. The non-trivial contribution is that sound local verifiers plus topology replay imply a sound composite verdict under declared erasure semantics.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candidate model-unlearning result is a real limitation: retained utility failed. The exact fallback is safe but loses the speed advantage. This honesty strengthens the overall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Novelty is framed as a composition: active recovery-path discovery, temporal closure, and a certificate with an explicit unknown boundary.</a:t>
            </a:r>
          </a:p>
          <a:p xmlns:a="http://schemas.openxmlformats.org/drawingml/2006/main">
            <a:r>
              <a:t>The ladder is intentionally honest about what is still missing: an independent hidden evaluator and a production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memorable sentence. If asked what is next, answer directly: an independent hidden challenge and a production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530fd888b94e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628087b69e4acf" /><Relationship Type="http://schemas.openxmlformats.org/officeDocument/2006/relationships/slideLayout" Target="/ppt/slideLayouts/slideLayout1.xml" Id="Rdc3a1012233a41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3a1012233a41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adbee3cc046c9" /><Relationship Type="http://schemas.openxmlformats.org/officeDocument/2006/relationships/notesSlide" Target="/ppt/notesSlides/notesSlide1.xml" Id="R966c875f599847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d3d89c0ca43d3" /><Relationship Type="http://schemas.openxmlformats.org/officeDocument/2006/relationships/notesSlide" Target="/ppt/notesSlides/notesSlide2.xml" Id="R1af9471d824d41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8292f162442e8" /><Relationship Type="http://schemas.openxmlformats.org/officeDocument/2006/relationships/notesSlide" Target="/ppt/notesSlides/notesSlide3.xml" Id="Re5ec9c73f7684f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0accee664476a" /><Relationship Type="http://schemas.openxmlformats.org/officeDocument/2006/relationships/notesSlide" Target="/ppt/notesSlides/notesSlide4.xml" Id="Ra1cdc552a55140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df28583304170" /><Relationship Type="http://schemas.openxmlformats.org/officeDocument/2006/relationships/notesSlide" Target="/ppt/notesSlides/notesSlide5.xml" Id="R5e4f4a3b2c524d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d778f87e8143bc" /><Relationship Type="http://schemas.openxmlformats.org/officeDocument/2006/relationships/image" Target="/ppt/media/image.png" Id="Rc90983d34b224e31" /><Relationship Type="http://schemas.openxmlformats.org/officeDocument/2006/relationships/notesSlide" Target="/ppt/notesSlides/notesSlide6.xml" Id="R76ffeedba47342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65e07f11045c6" /><Relationship Type="http://schemas.openxmlformats.org/officeDocument/2006/relationships/image" Target="/ppt/media/image2.png" Id="R5e0373436c834a3c" /><Relationship Type="http://schemas.openxmlformats.org/officeDocument/2006/relationships/notesSlide" Target="/ppt/notesSlides/notesSlide7.xml" Id="R91a30712500446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54f14ee4f47f4" /><Relationship Type="http://schemas.openxmlformats.org/officeDocument/2006/relationships/image" Target="/ppt/media/image3.png" Id="Rb70d142200b644ac" /><Relationship Type="http://schemas.openxmlformats.org/officeDocument/2006/relationships/notesSlide" Target="/ppt/notesSlides/notesSlide8.xml" Id="R8f5e1c724e8b48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b1d1d5c224664" /><Relationship Type="http://schemas.openxmlformats.org/officeDocument/2006/relationships/image" Target="/ppt/media/image4.png" Id="R490c202a9e1e42aa" /><Relationship Type="http://schemas.openxmlformats.org/officeDocument/2006/relationships/notesSlide" Target="/ppt/notesSlides/notesSlide9.xml" Id="Raff93e71924849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303bf193d47e2" /><Relationship Type="http://schemas.openxmlformats.org/officeDocument/2006/relationships/notesSlide" Target="/ppt/notesSlides/notesSlide10.xml" Id="R9a693fb95c314c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017ccdbed4070" /><Relationship Type="http://schemas.openxmlformats.org/officeDocument/2006/relationships/notesSlide" Target="/ppt/notesSlides/notesSlide11.xml" Id="R83e75ccb6d6241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2dfbd5bf941f1" /><Relationship Type="http://schemas.openxmlformats.org/officeDocument/2006/relationships/notesSlide" Target="/ppt/notesSlides/notesSlide12.xml" Id="Rbfda88e42baa42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b73aff79244aa" /><Relationship Type="http://schemas.openxmlformats.org/officeDocument/2006/relationships/notesSlide" Target="/ppt/notesSlides/notesSlide13.xml" Id="Rdb650f35c9284b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EF691A0-BED2-4317-9727-8979D0F8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3EDA4-1402-426C-91A1-06673D57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9D9751-F99A-4BDA-8B2C-60CDA4EC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01492-1E92-47F9-BFD5-4608D782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2CE35-D8EB-4F0B-91D5-93F16D11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2FF23-2C3C-4011-8CC9-200DDDC8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76EA0-A939-4FF8-A98B-FF0DC3D1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8B15B-C066-4CA3-B481-F164FB0C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392BD-50F4-40DF-B144-297648C1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7EAD1-9150-4DCC-8159-B3D1E273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75B423-C411-49AE-92E4-B294969F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51354F-7C1C-4FEB-89EF-D4D77482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90575"/>
            <a:ext cx="1181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AC75A-1FD7-48AB-AF0B-84CEF6EF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181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RKNP · ISEF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8EBCE-72B4-4ECE-AD61-2D8F70C5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F3F8FA"/>
                </a:solidFill>
                <a:latin typeface="Georgia"/>
                <a:ea typeface="Georgia"/>
                <a:cs typeface="Georgia"/>
              </a:defRPr>
            </a:pPr>
            <a:r>
              <a:rPr sz="3000" b="0">
                <a:solidFill>
                  <a:srgbClr val="F3F8FA"/>
                </a:solidFill>
                <a:latin typeface="Georgia"/>
                <a:ea typeface="Georgia"/>
                <a:cs typeface="Georgia"/>
              </a:rPr>
              <a:t>Удалить запись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E24CBF-6048-4991-9D0A-EAB4C957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недостаточно.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499841-8D8A-437B-B7A0-23FE633A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33675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Доказательная проверка удаления данных</a:t>
            </a:r>
          </a:p>
          <a:p xmlns:a="http://schemas.openxmlformats.org/drawingml/2006/main">
            <a:pPr algn="l">
              <a:defRPr sz="13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по всей цепочке копий и производных.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78B164-1312-4551-BC5D-087C60E5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Проверяем путь, а не обещание «удалено».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DFE1D1-3100-4D1B-821C-9B9FBEEF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781050" cy="666750"/>
          </a:xfrm>
          <a:custGeom xmlns:a="http://schemas.openxmlformats.org/drawingml/2006/main">
            <a:pathLst>
              <a:path w="781050" h="666750">
                <a:moveTo>
                  <a:pt x="195263" y="0"/>
                </a:moveTo>
                <a:lnTo>
                  <a:pt x="585788" y="0"/>
                </a:lnTo>
                <a:lnTo>
                  <a:pt x="781050" y="333375"/>
                </a:lnTo>
                <a:lnTo>
                  <a:pt x="585788" y="666750"/>
                </a:lnTo>
                <a:lnTo>
                  <a:pt x="195263" y="666750"/>
                </a:lnTo>
                <a:lnTo>
                  <a:pt x="0" y="33337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5000"/>
            </a:srgbClr>
          </a:solidFill>
          <a:ln xmlns:a="http://schemas.openxmlformats.org/drawingml/2006/main" w="19050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CD479E-50BA-49DD-B913-5E286B67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6287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BB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38550C-8B28-43B0-9FAF-59153FC5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85975"/>
            <a:ext cx="97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993A89-F703-4ED2-87B0-02EC5321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762000"/>
            <a:ext cx="781050" cy="666750"/>
          </a:xfrm>
          <a:custGeom xmlns:a="http://schemas.openxmlformats.org/drawingml/2006/main">
            <a:pathLst>
              <a:path w="781050" h="666750">
                <a:moveTo>
                  <a:pt x="195263" y="0"/>
                </a:moveTo>
                <a:lnTo>
                  <a:pt x="585788" y="0"/>
                </a:lnTo>
                <a:lnTo>
                  <a:pt x="781050" y="333375"/>
                </a:lnTo>
                <a:lnTo>
                  <a:pt x="585788" y="666750"/>
                </a:lnTo>
                <a:lnTo>
                  <a:pt x="195263" y="666750"/>
                </a:lnTo>
                <a:lnTo>
                  <a:pt x="0" y="333375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19050">
            <a:solidFill>
              <a:srgbClr val="00E1C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FEC773-20BE-4238-AC1D-DA5B5EAF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0096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EFD743-D30C-4E26-854B-6AE313CC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66850"/>
            <a:ext cx="97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derivative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ECB9B4-AD2A-48BF-A454-A61AA5E5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43150"/>
            <a:ext cx="781050" cy="666750"/>
          </a:xfrm>
          <a:custGeom xmlns:a="http://schemas.openxmlformats.org/drawingml/2006/main">
            <a:pathLst>
              <a:path w="781050" h="666750">
                <a:moveTo>
                  <a:pt x="195263" y="0"/>
                </a:moveTo>
                <a:lnTo>
                  <a:pt x="585788" y="0"/>
                </a:lnTo>
                <a:lnTo>
                  <a:pt x="781050" y="333375"/>
                </a:lnTo>
                <a:lnTo>
                  <a:pt x="585788" y="666750"/>
                </a:lnTo>
                <a:lnTo>
                  <a:pt x="195263" y="666750"/>
                </a:lnTo>
                <a:lnTo>
                  <a:pt x="0" y="33337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5000"/>
            </a:srgbClr>
          </a:solidFill>
          <a:ln xmlns:a="http://schemas.openxmlformats.org/drawingml/2006/main" w="19050">
            <a:solidFill>
              <a:srgbClr val="FF8C6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642278-7C93-4657-A36A-DF2771E3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590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C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F99457-FF7B-4715-BC3B-32E34251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48000"/>
            <a:ext cx="97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recovery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408B6A-E240-4279-8148-33A9BE05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43250"/>
            <a:ext cx="781050" cy="666750"/>
          </a:xfrm>
          <a:custGeom xmlns:a="http://schemas.openxmlformats.org/drawingml/2006/main">
            <a:pathLst>
              <a:path w="781050" h="666750">
                <a:moveTo>
                  <a:pt x="195263" y="0"/>
                </a:moveTo>
                <a:lnTo>
                  <a:pt x="585788" y="0"/>
                </a:lnTo>
                <a:lnTo>
                  <a:pt x="781050" y="333375"/>
                </a:lnTo>
                <a:lnTo>
                  <a:pt x="585788" y="666750"/>
                </a:lnTo>
                <a:lnTo>
                  <a:pt x="195263" y="666750"/>
                </a:lnTo>
                <a:lnTo>
                  <a:pt x="0" y="333375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5000"/>
            </a:srgbClr>
          </a:solidFill>
          <a:ln xmlns:a="http://schemas.openxmlformats.org/drawingml/2006/main" w="19050">
            <a:solidFill>
              <a:srgbClr val="5A65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B08FBC-E13F-437B-9300-CB409D49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90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6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CD66DD-3B08-42FD-B65C-043B2C73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48100"/>
            <a:ext cx="97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596611-3EB9-4C99-91AC-9B7F24EC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095375"/>
            <a:ext cx="102870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6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5A3CBB-A8F0-41F4-A349-4E0008EC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095375"/>
            <a:ext cx="26670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6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B5D9AB-783F-433B-AA24-93DE3480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14500"/>
            <a:ext cx="152400" cy="176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6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57C680-1003-44BA-B8F0-F29498DC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676525"/>
            <a:ext cx="1447800" cy="800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6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8C5D91-8CBF-43AD-AAE3-EE655D18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33775"/>
            <a:ext cx="1143000" cy="971550"/>
          </a:xfrm>
          <a:custGeom xmlns:a="http://schemas.openxmlformats.org/drawingml/2006/main">
            <a:pathLst>
              <a:path w="1143000" h="971550">
                <a:moveTo>
                  <a:pt x="285750" y="0"/>
                </a:moveTo>
                <a:lnTo>
                  <a:pt x="857250" y="0"/>
                </a:lnTo>
                <a:lnTo>
                  <a:pt x="1143000" y="485775"/>
                </a:lnTo>
                <a:lnTo>
                  <a:pt x="857250" y="971550"/>
                </a:lnTo>
                <a:lnTo>
                  <a:pt x="285750" y="971550"/>
                </a:lnTo>
                <a:lnTo>
                  <a:pt x="0" y="48577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0000"/>
            </a:srgbClr>
          </a:solidFill>
          <a:ln xmlns:a="http://schemas.openxmlformats.org/drawingml/2006/main" w="19050">
            <a:solidFill>
              <a:srgbClr val="FF8C6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B2CD5A-61BC-4F27-9F1A-52F815BC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957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EC3AE8-8060-4288-AE71-D2038211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476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DCCC25-FC77-484C-B05E-F51A6352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304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659563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E6C0A19-BCA3-45CF-96F9-6B36D83E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11619-5EBC-4298-9464-6C0046AB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07D9EF-4F52-4446-8D17-D9B4CC83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195B5-394C-407D-BB3D-9ED09096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652B2-CB02-42F7-B612-6A99804E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5A90F-6BDA-4A74-A0DA-0F56F47C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570C6-897E-4A12-8421-A5D9DC57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A9CC8-E93F-461F-BFCD-CCCA1013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10599-A092-44DB-B3CF-9CC018FE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CC26D-B5CF-4E65-B38F-50725407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18AABD-2169-434B-817B-305FB6EA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PROBLEM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A5570-404F-45E0-AC34-654A50FC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8AC32A-A7CB-481E-80BD-C7E0EB34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CDDFF2-2B8B-4913-8C79-40DABCF9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0FB6A-DA2D-45BD-9098-73B0A1A9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Проблема: запись живёт дольше одной таблицы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CBB087-9110-4579-A8B8-4C851919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Копии, производные и отложенные задачи создают скрытые recovery-path.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43B45B-F913-49F5-9F63-7B42E1CA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32766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69C061-AB62-4D24-BE0F-FB15CF26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954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ОДНА ПЕРСОНА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7D9337-1E6D-44A4-9D7D-BB4F094A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7647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5000"/>
            </a:srgbClr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C96907-A89E-4EFB-BE74-58AB57F7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717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BB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CAB6DC-1968-41C9-BA87-554847AD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05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source 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8030D9-7E4C-4F6C-8C2C-7B02B744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3842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D0AEB3-5B8D-4522-9EDC-CE6BDC04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7336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0F95CE-91DC-4B9A-AC31-0D5FF942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face / feature template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26A8FD-A671-4AA7-98E2-2DDEBC48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037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5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B1323C-2F06-4D42-8963-1EF1E811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0956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9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BC827B-D8A7-40C3-AFA7-2E1CB6B2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028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cache / replica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1F2815-8AA7-49F3-B829-2B3A6FD8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5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02B0E4-84E6-4138-A54E-FD09F7BA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4575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C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19C850-731E-4259-8FFE-104132D1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90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backup / restore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AC76B1-E074-4939-B808-C3811D5C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2427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5000"/>
            </a:srgbClr>
          </a:solidFill>
          <a:ln xmlns:a="http://schemas.openxmlformats.org/drawingml/2006/main" w="9525">
            <a:solidFill>
              <a:srgbClr val="5A65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D20EDA-3B36-4B14-B60C-AD7EB2B3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8195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6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E98BDF-B3F2-49A9-B419-8A647DB6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52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model influence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57BA96-3CA5-4177-AA42-023542F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76400"/>
            <a:ext cx="44196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42CD30-49BB-4196-9F5F-26C1E4B1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885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Скрытый recovery-path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4E7264-B32C-490D-B0AC-4893E2A7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69545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6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2E9ECB-3FAA-43E2-A4BD-D07B8C3E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14600"/>
            <a:ext cx="144780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6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F9F3F5-B6CD-4DE5-B15A-D0D0EBE1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1695450" cy="838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6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0D4699-44BB-4653-A37C-F0E3EF69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48000"/>
            <a:ext cx="1447800" cy="838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6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F435FC-E5B6-4BB0-934D-8B82C1ED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38450"/>
            <a:ext cx="552450" cy="457200"/>
          </a:xfrm>
          <a:custGeom xmlns:a="http://schemas.openxmlformats.org/drawingml/2006/main">
            <a:pathLst>
              <a:path w="552450" h="457200">
                <a:moveTo>
                  <a:pt x="138113" y="0"/>
                </a:moveTo>
                <a:lnTo>
                  <a:pt x="414338" y="0"/>
                </a:lnTo>
                <a:lnTo>
                  <a:pt x="552450" y="228600"/>
                </a:lnTo>
                <a:lnTo>
                  <a:pt x="414338" y="457200"/>
                </a:lnTo>
                <a:lnTo>
                  <a:pt x="138113" y="457200"/>
                </a:lnTo>
                <a:lnTo>
                  <a:pt x="0" y="228600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4000"/>
            </a:srgbClr>
          </a:solidFill>
          <a:ln xmlns:a="http://schemas.openxmlformats.org/drawingml/2006/main" w="14288">
            <a:solidFill>
              <a:srgbClr val="19BBD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9C9D899-649A-48D9-A09D-80AE9233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003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BB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7655D24-B86A-46EB-B507-D74C7865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52800"/>
            <a:ext cx="904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8668AF-5455-4C3B-BA1B-8296F17C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552450" cy="457200"/>
          </a:xfrm>
          <a:custGeom xmlns:a="http://schemas.openxmlformats.org/drawingml/2006/main">
            <a:pathLst>
              <a:path w="552450" h="457200">
                <a:moveTo>
                  <a:pt x="138113" y="0"/>
                </a:moveTo>
                <a:lnTo>
                  <a:pt x="414338" y="0"/>
                </a:lnTo>
                <a:lnTo>
                  <a:pt x="552450" y="228600"/>
                </a:lnTo>
                <a:lnTo>
                  <a:pt x="414338" y="457200"/>
                </a:lnTo>
                <a:lnTo>
                  <a:pt x="138113" y="457200"/>
                </a:lnTo>
                <a:lnTo>
                  <a:pt x="0" y="228600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4000"/>
            </a:srgbClr>
          </a:solidFill>
          <a:ln xmlns:a="http://schemas.openxmlformats.org/drawingml/2006/main" w="14288">
            <a:solidFill>
              <a:srgbClr val="00E1C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ED4402-4E03-4580-81AB-2C05A2B3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669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591746-5EAE-477E-B5DB-A3AD49D2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19400"/>
            <a:ext cx="904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template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902E5C-2CFA-46D6-8AFD-F8E145A4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38450"/>
            <a:ext cx="552450" cy="457200"/>
          </a:xfrm>
          <a:custGeom xmlns:a="http://schemas.openxmlformats.org/drawingml/2006/main">
            <a:pathLst>
              <a:path w="552450" h="457200">
                <a:moveTo>
                  <a:pt x="138113" y="0"/>
                </a:moveTo>
                <a:lnTo>
                  <a:pt x="414338" y="0"/>
                </a:lnTo>
                <a:lnTo>
                  <a:pt x="552450" y="228600"/>
                </a:lnTo>
                <a:lnTo>
                  <a:pt x="414338" y="457200"/>
                </a:lnTo>
                <a:lnTo>
                  <a:pt x="138113" y="457200"/>
                </a:lnTo>
                <a:lnTo>
                  <a:pt x="0" y="2286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4000"/>
            </a:srgbClr>
          </a:solidFill>
          <a:ln xmlns:a="http://schemas.openxmlformats.org/drawingml/2006/main" w="14288">
            <a:solidFill>
              <a:srgbClr val="2C9DD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6AF4C84-D46A-4ED7-9373-16FF7B7F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0003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9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43EA02-CBE2-433F-9A15-6B6ADAF4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52800"/>
            <a:ext cx="904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cache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8527575-F192-4DF8-B1D4-E557003E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76650"/>
            <a:ext cx="552450" cy="457200"/>
          </a:xfrm>
          <a:custGeom xmlns:a="http://schemas.openxmlformats.org/drawingml/2006/main">
            <a:pathLst>
              <a:path w="552450" h="457200">
                <a:moveTo>
                  <a:pt x="138113" y="0"/>
                </a:moveTo>
                <a:lnTo>
                  <a:pt x="414338" y="0"/>
                </a:lnTo>
                <a:lnTo>
                  <a:pt x="552450" y="228600"/>
                </a:lnTo>
                <a:lnTo>
                  <a:pt x="414338" y="457200"/>
                </a:lnTo>
                <a:lnTo>
                  <a:pt x="138113" y="457200"/>
                </a:lnTo>
                <a:lnTo>
                  <a:pt x="0" y="228600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4000"/>
            </a:srgbClr>
          </a:solidFill>
          <a:ln xmlns:a="http://schemas.openxmlformats.org/drawingml/2006/main" w="14288">
            <a:solidFill>
              <a:srgbClr val="FF8C6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F417DA2-AB4E-4795-8E2B-CBB5D866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8385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C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D38416E-B857-4B26-A620-CDE455F2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91000"/>
            <a:ext cx="904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backup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C58B7B-A8CA-4447-9380-7914A8F6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71925"/>
            <a:ext cx="3876675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F8C66">
              <a:alpha val="12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4E41E5-6921-4559-979E-E6D5781A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19550"/>
            <a:ext cx="35909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«DELETE 200 OK» ещё не доказательство.</a:t>
            </a:r>
          </a:p>
        </p:txBody>
      </p:sp>
    </p:spTree>
    <p:extLst>
      <p:ext uri="{BB962C8B-B14F-4D97-AF65-F5344CB8AC3E}">
        <p14:creationId xmlns:p14="http://schemas.microsoft.com/office/powerpoint/2010/main" val="21284695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4E043D-9B89-4CD0-BCB4-85A274CF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6776D5-72C0-49F5-BD53-93935D18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42C6BD-C439-4266-9724-A057F780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8E985-B11A-493D-B4D4-BA874ADB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E433C-511F-4D36-99DE-7D4C018E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23A5F0-FE54-4FC0-AFE5-132A9D7A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82194-F8CA-4A2D-BF2B-41E316A4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5A9C72-3403-47E3-84C7-9DF0BE2F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C41EA7-114C-4D4A-A6EF-28489BAA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8D8B86-CFE7-4D0F-B4D0-15FE4AE4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F28C1C-3349-4CBC-AC0D-2C7278F9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C1AC73-8628-43E8-8759-7C2A5F03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51052-8446-4954-8C2D-A8171C01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B572FB-13C4-46FC-BC1E-FA44D184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2CFF79-DE42-44B8-A188-6EBB7FB0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Один алгоритм: пять последовательных проверок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3B0FF-1A9D-4AA8-8F40-AA5C1E18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Внутренние модули помогают аудиту; публичный объект — один EraSeMap verdict.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41E5CF-8359-4C76-A6B7-31BC455D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857500"/>
            <a:ext cx="390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4D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B76919-2A52-40E1-A5FE-AFDC05F4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5000"/>
            </a:srgbClr>
          </a:solidFill>
          <a:ln xmlns:a="http://schemas.openxmlformats.org/drawingml/2006/main" w="1714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9F1E47-0B5A-42F9-B19D-3247E5ED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5A5C21-2C9A-4C48-8A1F-257E71D3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MAP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BF507-388C-41F0-88C2-55A8970D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реестр копий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7E66F8-A3D9-4A9C-9ED9-C7BEF3E6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57500"/>
            <a:ext cx="390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4D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D754F0-F868-45FC-9AAC-B4D5A247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17145">
            <a:solidFill>
              <a:srgbClr val="00E1C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396950-E05B-460F-8067-D942E703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6D77AE-ECA4-4519-A042-17816F91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DISCOVER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7C88BE-4B9D-49E7-89E7-F9A48102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активные пробы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B02036-3F86-46AE-B945-D6CA3327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857500"/>
            <a:ext cx="390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4D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E53688-0C9D-4A9A-A55C-BEC306C5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5000"/>
            </a:srgbClr>
          </a:solidFill>
          <a:ln xmlns:a="http://schemas.openxmlformats.org/drawingml/2006/main" w="17145">
            <a:solidFill>
              <a:srgbClr val="2C9DD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686788-8C9F-4DA8-99DA-2E68BA98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C9DD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C9DD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4E60FE-FD40-41C8-93B4-7DE9FD6C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MINIMIZE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B61257-EA45-4EE8-BB5A-EB708C7B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минимальный план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4C4C9D-4042-4FB0-8160-3CDF18EA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857500"/>
            <a:ext cx="390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4D6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3C9517-CC95-40FD-93A6-1B8F2D21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5000"/>
            </a:srgbClr>
          </a:solidFill>
          <a:ln xmlns:a="http://schemas.openxmlformats.org/drawingml/2006/main" w="17145">
            <a:solidFill>
              <a:srgbClr val="FF8C6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0A60A3-30A6-492C-A8B8-B87D1F73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631E6F-F8FA-4C53-8A93-03D0BB26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CEADC4-4935-434F-8B99-0A7FC531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replay во времени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C2C500-12D3-4F0C-B736-BE929597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5000"/>
            </a:srgbClr>
          </a:solidFill>
          <a:ln xmlns:a="http://schemas.openxmlformats.org/drawingml/2006/main" w="17145">
            <a:solidFill>
              <a:srgbClr val="5A65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BD11DC-3831-486C-BAAD-BB9AA663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A65D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A65D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B3F1108-2D44-40E4-8763-FC2FCFB1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CERTIFY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099A37-2E29-4DC6-A711-2199D787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сертификат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73ABFF-9998-461A-8E2D-73C1E1A9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95725"/>
            <a:ext cx="75057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7157C9-8FD4-466A-84C3-0169F406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19550"/>
            <a:ext cx="7200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карта → поиск → минимум действий → temporal replay → доказательный COMPLETE</a:t>
            </a:r>
          </a:p>
        </p:txBody>
      </p:sp>
    </p:spTree>
    <p:extLst>
      <p:ext uri="{BB962C8B-B14F-4D97-AF65-F5344CB8AC3E}">
        <p14:creationId xmlns:p14="http://schemas.microsoft.com/office/powerpoint/2010/main" val="15642270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56D34E-1023-4B0B-B7AD-35F83C8F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0BB70-789E-42DA-9D6E-D40BD00E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387C3D-765A-42A2-96F0-5CCC1471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4F2DC-1FCC-4B54-BF7F-1C4B30CD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2A2206-1729-4D1D-837B-B290E837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69D6DA-BBA1-48D4-83F1-177FF292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33A44-8AC2-4987-AC01-AAF3D929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354DC-C79A-4B3E-9F72-70D5DB8A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26366-A002-4887-AB7F-A045216C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F08CF-916A-41E0-AA80-37977CE5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5B144-6D73-46C2-9ECB-9D3F37CA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VERDICT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CBF036-292F-48FA-BDB9-67635731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F80A97-E57D-4C9C-809D-782F33BD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2FD07-90BE-4144-A488-632115CA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8AEB0E-1B92-4053-82DD-08B1938B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Главная сила: система умеет отказать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0CCD64-E3EC-40C4-8EDF-DD6578CD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Если путь ещё активен, она показывает INCOMPLETE вместо ложной уверенности.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9CE37B-0081-4EEE-8A8B-9F008B4D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85925"/>
            <a:ext cx="314325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14288">
            <a:solidFill>
              <a:srgbClr val="FF8C6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D3E340-41E5-460D-82A5-94FCCAA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FF8C66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8C66"/>
                </a:solidFill>
                <a:latin typeface="Georgia"/>
                <a:ea typeface="Georgia"/>
                <a:cs typeface="Georgia"/>
              </a:rPr>
              <a:t>INCOMPLETE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EE2C52-10A3-4476-A85C-DB8F6D54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05075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Найден residual 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B40E2-B493-4EED-8FD2-8315FD5B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146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8C66">
              <a:alpha val="10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47CD85-7EA4-4A98-9723-4A9A8A95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4800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source  →  face template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5EB497-83DF-4A8C-AAE7-44C980B2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План не закрывает</a:t>
            </a:r>
          </a:p>
          <a:p xmlns:a="http://schemas.openxmlformats.org/drawingml/2006/main">
            <a:pPr algn="ctr">
              <a:defRPr sz="10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производный шаблон.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9E78CF-E700-42E9-96B7-EF7AEB1F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85925"/>
            <a:ext cx="449580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05BB71-6D20-4794-A5B1-750BA698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9072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COMPLETE только если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585FF1-C6BA-4B1F-A97C-EAC7605A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9555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P  ∧  D  ∧  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89F5C3-E63D-402F-BA2D-752F658C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11467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physical closure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A7D26D-0C62-47F0-950F-D1DB1F43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14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derivative closure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EE8C38-4D55-4CA4-A5D1-2309F0EA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114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temporal closure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B3C50B-4524-4E5D-8B61-AC9987C1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31623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E84BCC-4D34-48C4-9AA4-0C53F5CA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8140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нет активного registered path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65567B-102D-4450-B8B6-A40607E4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290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replay не создаёт запись снова</a:t>
            </a:r>
          </a:p>
        </p:txBody>
      </p:sp>
    </p:spTree>
    <p:extLst>
      <p:ext uri="{BB962C8B-B14F-4D97-AF65-F5344CB8AC3E}">
        <p14:creationId xmlns:p14="http://schemas.microsoft.com/office/powerpoint/2010/main" val="20844444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C646C98-1594-4F7D-8006-DD7F071E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EC8AE-7F4B-4F50-8B06-92629724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90312C-0512-4532-9A57-C7C7AAFD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3489C-A7E2-41E7-9D2D-0EBC9BA5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DA54AF-AD9A-4646-9566-4DBBFE34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F31D1F-A05D-4A76-841B-8F3F50BF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E9C000-51BF-4454-ADE9-BF944890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A3CE5-16E7-4016-9FC3-E338B7F2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12B90-88BF-4FFD-B2EA-E3E7C14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F97C66-8074-46CE-8760-89D44A8E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7B3BAE-ECAA-495C-B3AC-4246475E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MECHANISM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C69F14-5A1A-4AAF-ABC6-79391D31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1E9392-C300-4A4C-9ECA-341CE030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E2C077-CDFD-4CD3-98E3-8AC23769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06A3B8-7334-4E9E-A767-75625D7E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202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Как решение превращается в проверяемое доказательство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37CCA2-0C72-46FB-B81E-815992D7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Каждый переход оставляет receipt, probe, replay или certificate.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BBB89-F273-4561-8DB8-EEE63780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05100"/>
            <a:ext cx="361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A4D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5BB7CF-BEB0-4559-8FA9-E83E3A97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3000"/>
            </a:srgbClr>
          </a:solidFill>
          <a:ln xmlns:a="http://schemas.openxmlformats.org/drawingml/2006/main" w="14288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8E8937-8ACD-441D-B00D-A4F5A48F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Registry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C7AF71-D6F5-4101-BE7B-A46FC83A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known copies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970180-DAB1-42EF-94E7-180962A1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05100"/>
            <a:ext cx="361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A4D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F67DAB-D0AE-49CE-93EB-8D2AD873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3000"/>
            </a:srgbClr>
          </a:solidFill>
          <a:ln xmlns:a="http://schemas.openxmlformats.org/drawingml/2006/main" w="14288">
            <a:solidFill>
              <a:srgbClr val="00E1C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EF3A35-9187-452F-810D-661479DC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Probes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4BF18E-052D-4BF8-B885-43BC5F8E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recovery tests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83A84A-7BBA-4696-8718-3AA1A17C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705100"/>
            <a:ext cx="361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A4D6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2967C-1ADA-4A71-9F32-1F423813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3000"/>
            </a:srgbClr>
          </a:solidFill>
          <a:ln xmlns:a="http://schemas.openxmlformats.org/drawingml/2006/main" w="14288">
            <a:solidFill>
              <a:srgbClr val="2C9DD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DCCA98-EC3B-46E0-827A-40D75912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FD116A-C8F4-4B06-BF1E-B2FEE781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minimal actions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668D8F-E9FB-40A7-B21F-2C9F87DF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05100"/>
            <a:ext cx="361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A4D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2C1659-EF0D-4A1E-8B42-65E15158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3000"/>
            </a:srgbClr>
          </a:solidFill>
          <a:ln xmlns:a="http://schemas.openxmlformats.org/drawingml/2006/main" w="14288">
            <a:solidFill>
              <a:srgbClr val="FF8C6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4836F5-AB8C-4EC6-9501-964A1C1A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Replay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674F0F-C345-436F-818F-6776CB91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future check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AD1F64-7C1B-4ED0-AC85-AD622FB8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3000"/>
            </a:srgbClr>
          </a:solidFill>
          <a:ln xmlns:a="http://schemas.openxmlformats.org/drawingml/2006/main" w="14288">
            <a:solidFill>
              <a:srgbClr val="5A65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96B8A1-4CD1-4935-B5BF-AF69EDEB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Certificate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4E7873-52BB-40FD-B4B8-75CB8EB7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known + unknown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F1FD19-417A-41FF-9CE5-711688CB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43325"/>
            <a:ext cx="3581400" cy="504825"/>
          </a:xfrm>
          <a:prstGeom xmlns:a="http://schemas.openxmlformats.org/drawingml/2006/main" prst="roundRect">
            <a:avLst>
              <a:gd name="adj" fmla="val 16981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55C8B4-E705-48CD-B75C-9B836764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COMPLETE  ⇔  P ∧ D ∧ 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6982BB-10FB-4CA7-9223-1EF11419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43325"/>
            <a:ext cx="3638550" cy="504825"/>
          </a:xfrm>
          <a:prstGeom xmlns:a="http://schemas.openxmlformats.org/drawingml/2006/main" prst="roundRect">
            <a:avLst>
              <a:gd name="adj" fmla="val 16981"/>
            </a:avLst>
          </a:prstGeom>
          <a:solidFill xmlns:a="http://schemas.openxmlformats.org/drawingml/2006/main">
            <a:srgbClr val="00E1C6">
              <a:alpha val="1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7808B7-90D4-4FF2-BDBA-9B9714F8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876675"/>
            <a:ext cx="3390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Сертификат показывает границу знаний</a:t>
            </a:r>
          </a:p>
        </p:txBody>
      </p:sp>
    </p:spTree>
    <p:extLst>
      <p:ext uri="{BB962C8B-B14F-4D97-AF65-F5344CB8AC3E}">
        <p14:creationId xmlns:p14="http://schemas.microsoft.com/office/powerpoint/2010/main" val="19678487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2AC0FA-9484-40D1-A232-EBB45A02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1E109-8831-473C-9B8F-5282B8E1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39096A-14F7-4C9E-BC19-278BA91D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2322E-276B-4AAA-A295-F51EDD19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1605D-6D5B-4228-9E6A-FC778FE4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D067A-72E1-455B-8F0A-9F79C873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F664D0-52E4-407B-A121-6F92FDCB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2B999-FF05-483C-91CF-3FCDBA97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6A008-9A71-4379-AE86-66378476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1190A0-0A7C-4ADF-A7D9-387262514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ED640C-855F-4094-95E9-BC4DC04B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43C22D-6963-4CCD-9FCA-E3A4BCA4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6D6CB-0122-459D-9B82-2FFC779F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B8C50C-4E79-4630-B723-B34FD1EA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A0CD53-179E-4182-92A2-154300E8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Сравнение 1 / безопасность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976373-6C08-4110-BA0E-752D8FBB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График показывает false COMPLETE: где система ошибочно сказала «готово».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4A94DD-59C7-45B3-88CB-3E317CD8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5953125" cy="2647950"/>
          </a:xfrm>
          <a:prstGeom xmlns:a="http://schemas.openxmlformats.org/drawingml/2006/main" prst="roundRect">
            <a:avLst>
              <a:gd name="adj" fmla="val 35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E31FD7-6DA9-495E-9FAB-00D9AFD0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2152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93C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C9B470-29C5-4874-ADA6-183BD7AF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FALSE COMPLETE · ниже лучше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983d34b224e31"/>
          <a:stretch xmlns:a="http://schemas.openxmlformats.org/drawingml/2006/main"/>
        </p:blipFill>
        <p:spPr>
          <a:xfrm xmlns:a="http://schemas.openxmlformats.org/drawingml/2006/main">
            <a:off x="821978" y="2085975"/>
            <a:ext cx="5414068" cy="1943100"/>
          </a:xfrm>
          <a:prstGeom xmlns:a="http://schemas.openxmlformats.org/drawingml/2006/main" prst="roundRect">
            <a:avLst>
              <a:gd name="adj" fmla="val 4902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2E385F-0485-459A-BC6B-B15523CF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5619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52C3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152C3F"/>
                </a:solidFill>
                <a:latin typeface="Arial"/>
                <a:ea typeface="Arial"/>
                <a:cs typeface="Arial"/>
              </a:rPr>
              <a:t>bounded stock-service protocol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7959B1-03CF-4E3C-9041-9C2E8F08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43075"/>
            <a:ext cx="17526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F9A6B7-4201-474C-A09F-5D68FD28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1927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0 / 60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4C0768-3E25-40D7-9B83-F7604316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14550"/>
            <a:ext cx="1485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EraSeMap cases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0E1493-4303-4A78-BC95-1F3ADA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33650"/>
            <a:ext cx="17526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7BDA40-C166-41D4-AA39-D39DF850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098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0 / 75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FB824F-9C43-451E-94D4-E24EBC9D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05125"/>
            <a:ext cx="1485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PCUG cases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B233C9-E3CE-42F0-8CC3-E30B46BB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24225"/>
            <a:ext cx="17526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7A442F-7C59-4956-A2F6-1B6CBF31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004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C9DD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9DDE"/>
                </a:solidFill>
                <a:latin typeface="Arial"/>
                <a:ea typeface="Arial"/>
                <a:cs typeface="Arial"/>
              </a:rPr>
              <a:t>20 / 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A57E61-FB50-4A23-B7E0-B5EC4A45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95700"/>
            <a:ext cx="1485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replayed gate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007A2E-8851-4A49-BB49-87AB6F99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957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Real project evidence; bounded scope;</a:t>
            </a:r>
          </a:p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no production claim.</a:t>
            </a:r>
          </a:p>
        </p:txBody>
      </p:sp>
    </p:spTree>
    <p:extLst>
      <p:ext uri="{BB962C8B-B14F-4D97-AF65-F5344CB8AC3E}">
        <p14:creationId xmlns:p14="http://schemas.microsoft.com/office/powerpoint/2010/main" val="16268195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2CEB1A-0FA4-4988-B821-6997DCC2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76713-899D-4C79-A00B-36329EF7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040354-2432-4894-9ECA-5B5B2EDF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03AC11-983B-49C7-A5FF-3ED45EB6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51D47B-CD17-46EF-A668-69E98B42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13A32-9714-4503-AE71-51DD2395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406644-6EBF-43A6-A99D-7608286B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254844-0ACF-4406-8AD3-F2773AF6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C119D-9BF9-4B50-977F-0C8B3C52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B5F258-97A0-490A-8EA7-4BF4B8A5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EC2B44-4701-40D0-8D4A-2CC8E7EA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7C184A-665A-41A1-8EFF-DAD62413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25F42-F0EE-4F56-BF8D-FFE868D8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A9B991-522F-4482-92FD-A0292643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58E405-E2E1-484F-A759-4BFD5BFA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Сравнение 2 / эффективность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8E106C-964F-4A51-829A-0AAD7A99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График показывает action cost, wall time и bytes при одной задаче удаления.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E22370-B395-4E34-8CA4-211A964E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6400800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75BF22-34BC-4561-886A-8756000B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2152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93C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884AE7-E1C6-42D6-A7F2-3E991EF8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COST · TIME · BYTES · ниже лучше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373436c834a3c"/>
          <a:stretch xmlns:a="http://schemas.openxmlformats.org/drawingml/2006/main"/>
        </p:blipFill>
        <p:spPr>
          <a:xfrm xmlns:a="http://schemas.openxmlformats.org/drawingml/2006/main">
            <a:off x="666750" y="2111581"/>
            <a:ext cx="6172200" cy="1663288"/>
          </a:xfrm>
          <a:prstGeom xmlns:a="http://schemas.openxmlformats.org/drawingml/2006/main" prst="roundRect">
            <a:avLst>
              <a:gd name="adj" fmla="val 5556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E14A83-13A8-4DDC-A522-7F3FA517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6096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52C3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152C3F"/>
                </a:solidFill>
                <a:latin typeface="Arial"/>
                <a:ea typeface="Arial"/>
                <a:cs typeface="Arial"/>
              </a:rPr>
              <a:t>same task · normalized values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C70CDD-40BE-4B65-AAC7-F0EFCEC2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43075"/>
            <a:ext cx="131445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12E05A-96C9-4531-A4E8-38A9FC6F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192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17.64×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F274E5-E3B4-4755-A6FC-0655465B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14550"/>
            <a:ext cx="1047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speedup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51E902-D768-4829-A60E-F56CE6AE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33650"/>
            <a:ext cx="131445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E29028-1FA0-4D4F-A648-4AF3FE38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098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−94.62%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CE4FB0-850F-413A-AF29-2E521F00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05125"/>
            <a:ext cx="1047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bytes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2B50B5-82A0-4C8F-8266-A6FC1587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24225"/>
            <a:ext cx="131445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78ED93-9E26-4777-A798-F093C958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004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C9DD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9DDE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63F3C7-6F60-479C-A91F-01B1B3DB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95700"/>
            <a:ext cx="1047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mean cost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ED4A61-8058-4106-8FD6-A0521C9D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1052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Сначала safety gates,</a:t>
            </a:r>
          </a:p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потом оптимизация.</a:t>
            </a:r>
          </a:p>
        </p:txBody>
      </p:sp>
    </p:spTree>
    <p:extLst>
      <p:ext uri="{BB962C8B-B14F-4D97-AF65-F5344CB8AC3E}">
        <p14:creationId xmlns:p14="http://schemas.microsoft.com/office/powerpoint/2010/main" val="11211497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BAE793-9AFF-406E-8C54-E14F048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819450-92B5-459D-8461-EB61E974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D12902-2C16-448C-A779-40A80FF6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7C09E-68A8-4710-BECF-48F83556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84BE7-77BE-4073-8706-B381AD34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685ED-CDA8-4B89-B57D-A80C22F0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D0F3CC-DAB9-4E89-A17A-1FAE3986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BB8E7F-9E22-41BC-9823-50482D6C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8E2185-F5AC-4634-81F5-81D2C9CC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EDDED-6CB4-4548-A9A2-E92B6F30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D7A3D-C87C-41B9-8334-3FE64B30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BAA860-D08F-4824-B5C3-0B4808D8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7D6887-4E18-4F04-8867-4CD4F2DC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B83FDB-41CE-46B3-AC31-E26D013C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12011C-E6C7-4542-BBAB-9DF0CF30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Сравнение 3 / поиск скрытого пути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B148D5-B5FF-4307-B6B3-573F63BB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Активная проба сокращает пространство гипотез после каждого recovery response.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1F6DC-2D06-4275-9734-A4746653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5715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5E64B0-F286-4C34-9550-6B93BC32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2152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93C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F3C664-8C38-4694-9744-B5556DC3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HIDDEN-PATH PROBES · ниже лучше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d142200b644ac"/>
          <a:stretch xmlns:a="http://schemas.openxmlformats.org/drawingml/2006/main"/>
        </p:blipFill>
        <p:spPr>
          <a:xfrm xmlns:a="http://schemas.openxmlformats.org/drawingml/2006/main">
            <a:off x="1793310" y="2085975"/>
            <a:ext cx="3233281" cy="2000250"/>
          </a:xfrm>
          <a:prstGeom xmlns:a="http://schemas.openxmlformats.org/drawingml/2006/main" prst="roundRect">
            <a:avLst>
              <a:gd name="adj" fmla="val 4762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163F0-9261-4CD4-AC16-E54FE4F8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47825"/>
            <a:ext cx="2000250" cy="26860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E619C4-D713-4147-8723-6FF5660D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85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Число проб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E44155-C586-40A3-A6F6-C542F048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19350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648338-C71A-4F09-B76F-FC03DF40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66975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EraSeMap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B12125-567D-4539-A00B-6BF7620C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2417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BF3347-B925-4E84-9A70-5E187F87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7180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random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94BFFD-CBD3-4A8F-8B02-5F91800E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29000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7C8A9D-67A1-4637-8DE6-5E77A54B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76625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exhaustive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772AC5-D788-42D1-A556-2887C623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57625"/>
            <a:ext cx="16954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E1C6">
              <a:alpha val="12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38AA80-7E3B-45E6-B0FA-20D9800B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6715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50 / 50 family-held-out OOD</a:t>
            </a:r>
          </a:p>
        </p:txBody>
      </p:sp>
    </p:spTree>
    <p:extLst>
      <p:ext uri="{BB962C8B-B14F-4D97-AF65-F5344CB8AC3E}">
        <p14:creationId xmlns:p14="http://schemas.microsoft.com/office/powerpoint/2010/main" val="130332060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50B091-3398-437C-BD19-A8F92474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4584DB-7C30-4FEE-A368-3BB3FC74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530AE-442D-4483-B200-9CE0DA34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34761-6125-4237-9241-2EDA7143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C1C70-AD42-44BF-8063-CF7AD936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5E6C8C-369B-454E-861E-646933D8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03C48-9569-40A7-93BF-D70510D2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7022D-FF78-49DF-9636-1F1CD9BA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D4C61-2D76-4721-9909-4D0475BB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6EA18-455F-42F9-8DCF-8A23C116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E6541-8B9C-49C7-BE71-2A4BE11F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E2D15-8D9A-446A-8BEB-74A6B87B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744BAD-61DA-412E-8B19-22AA3A8D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7AE7FA-A8B6-4F9F-8536-D11A0015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003F35-5C8B-4376-A510-9D2317C1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Сравнение 4 / сильные стороны и границы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ADC7B5-A776-4CDE-9988-36E469CB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Разделяем выигрыш в storage deletion и отдельный model-unlearning канал.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BE842E-F793-45D7-8EC8-58FFF1E6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5715000" cy="26670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2E5993-82E6-4FFB-95D5-68D5BFD1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2152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93C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B1C4E8-483A-4510-9CA8-F7D2E0CD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MULTI-AXIS SYSTEM VIEW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c202a9e1e42aa"/>
          <a:stretch xmlns:a="http://schemas.openxmlformats.org/drawingml/2006/main"/>
        </p:blipFill>
        <p:spPr>
          <a:xfrm xmlns:a="http://schemas.openxmlformats.org/drawingml/2006/main">
            <a:off x="1276350" y="2085975"/>
            <a:ext cx="4267200" cy="2000250"/>
          </a:xfrm>
          <a:prstGeom xmlns:a="http://schemas.openxmlformats.org/drawingml/2006/main" prst="roundRect">
            <a:avLst>
              <a:gd name="adj" fmla="val 4762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AE8EB8-40C7-4126-9EC9-DA4617F9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47825"/>
            <a:ext cx="200025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FE8993-178C-4A85-9DFA-6C388334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4785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20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1DDD2D-C709-44B9-9B51-25055C50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33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CC73B1-FFBB-4A3B-8166-44FF8E83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286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false COMPLETE = 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B4B84F-F4A6-4621-9E48-D9B6AA7E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765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CF0201-1AA9-48B8-9E3B-86E7A1D5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289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temporal risk = 0 / 30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0F4893-AECA-4CE0-A089-D031C25F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19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A1D73F-FEF4-477D-874B-A9B0B259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718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action set is minimal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2278C2-D89A-4DAD-86A8-96C4C9C4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2900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F8C66"/>
                </a:solidFill>
                <a:latin typeface="Georgia"/>
                <a:ea typeface="Georgia"/>
                <a:cs typeface="Georgia"/>
              </a:defRPr>
            </a:pPr>
            <a:r>
              <a:rPr sz="1200" b="0">
                <a:solidFill>
                  <a:srgbClr val="FF8C66"/>
                </a:solidFill>
                <a:latin typeface="Georgia"/>
                <a:ea typeface="Georgia"/>
                <a:cs typeface="Georgia"/>
              </a:rPr>
              <a:t>Честная граница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EDD437-4DB6-4781-B8A2-84696C5A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528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MUFAC candidate не прошёл</a:t>
            </a:r>
          </a:p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retained-utility gate; exact</a:t>
            </a:r>
          </a:p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fallback сохраняет safety,</a:t>
            </a:r>
          </a:p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но не даёт ускорения.</a:t>
            </a:r>
          </a:p>
        </p:txBody>
      </p:sp>
    </p:spTree>
    <p:extLst>
      <p:ext uri="{BB962C8B-B14F-4D97-AF65-F5344CB8AC3E}">
        <p14:creationId xmlns:p14="http://schemas.microsoft.com/office/powerpoint/2010/main" val="19623318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6B85A8-39B2-4AE0-A3CE-8A176AE6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D11260-BEF8-4423-87D4-53ADB09A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36B0F7-6536-4135-ABCE-3DC00BC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80CD7-F57B-4235-A6DA-A83C535B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A9252-2C90-40CB-B7B2-CA850C8A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E9560-150E-44D3-B168-34B134DE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B00DA-06FC-42EC-BDD1-CA1DE102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B01C30-0BCB-4B2D-9421-0A09846F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DBED4-778B-438D-BFE9-C8AE6D65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79F57A-36FB-4B0E-BAE5-D44212F6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F5288-518C-4885-B1EF-EE557181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THEORY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64BB7-EB34-41E2-AA0F-25EE6844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E40A40-1B49-4573-9F1E-DA5FA147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71EE50-8143-493A-B780-8ECE1B91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FC05BB-4A0E-4351-B6ED-849B1F08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Формула вердикта и три проверяемых условия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9DEC39-3A70-4351-AB30-805D1F59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Компактная запись облегчает объяснение; доказательство проверяет composition property.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83B2D6-967A-4A12-A3A8-F566AC8B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76581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1333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EFD8C7-6AE5-4102-87FB-37B67B8A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28800"/>
            <a:ext cx="72771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9BBD5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19BBD5"/>
                </a:solidFill>
                <a:latin typeface="Georgia"/>
                <a:ea typeface="Georgia"/>
                <a:cs typeface="Georgia"/>
              </a:rPr>
              <a:t>COMPLETE  ⇔  P  ∧  D  ∧  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360FD3-F2C9-45BB-AEFD-113E152B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22479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99B31D-2F07-494F-98D7-8E2864F5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400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9BBD5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19BBD5"/>
                </a:solidFill>
                <a:latin typeface="Georgia"/>
                <a:ea typeface="Georgia"/>
                <a:cs typeface="Georgia"/>
              </a:rPr>
              <a:t>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007244-3829-4F65-9016-2F8CDD84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physical closure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C67E4F-FA19-4D59-946A-0ABA54FB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registered paths closed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62784A-8519-4872-90D8-6017D5B6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952750"/>
            <a:ext cx="22479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4FA0CC-2B71-4613-BED9-C4FC1E50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400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35330B-CD32-410D-A947-40D4F1C4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43250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derivative closure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AFA470-864C-4184-9BE2-51E4820A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433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templates and indexes closed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A182C6-6C12-4B16-99E5-4B53D59C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952750"/>
            <a:ext cx="22479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DF9748-F0E9-407D-96FA-821AE23E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05150"/>
            <a:ext cx="400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8C66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FF8C66"/>
                </a:solidFill>
                <a:latin typeface="Georgia"/>
                <a:ea typeface="Georgia"/>
                <a:cs typeface="Georgia"/>
              </a:rPr>
              <a:t>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DBC9DF-2F52-4D23-899B-24E241B5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43250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temporal closure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489A25-F7E0-4C2E-A9D6-2B0BF2EB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433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replay cannot regenerate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667B26-3B16-46E4-883C-3A35B4C5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71975"/>
            <a:ext cx="765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3,072 / 3,072 formal checks passed in the project proof harness.</a:t>
            </a:r>
          </a:p>
        </p:txBody>
      </p:sp>
    </p:spTree>
    <p:extLst>
      <p:ext uri="{BB962C8B-B14F-4D97-AF65-F5344CB8AC3E}">
        <p14:creationId xmlns:p14="http://schemas.microsoft.com/office/powerpoint/2010/main" val="20123544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96752D-CB95-4260-AF8B-C6E49A82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34EE72-F7A5-49DF-B9CA-9A1503C1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351CB2-16DE-4DD2-B416-8250387C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1C7599-9886-43A4-B4A5-C99C7A1A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378DF-2E19-43F7-9DAB-3118F53A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74CFE-3FF2-4F2B-8B5E-D72DDAC5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F5BBF0-C5C5-401D-98B1-AC2CF859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CE964-D7AC-45E7-847F-6C255480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B13AB-EB1C-4307-9402-96F7C1A1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47C1B-F606-4366-B365-79508F14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8589F-D141-4263-AF49-7722E4F7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LIMIT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9FEC0D-330C-4680-AC17-73402FAD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D3F258-BCE4-43E5-A910-97E922F1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B85B7F-AC64-4388-B4BA-89971CA1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1AF100-C437-4BA4-BC2E-BFC5A46E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Model unlearning — отдельный канал, не вся система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63272C-6FF1-4761-A7A8-F181B412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Низкий MIA-score не превращаем автоматически в доказательство удаления.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D95CA9-2190-4D74-BB32-1ADF407B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371475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C00DBE-DCA0-4D68-8F47-E4A3ED06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Что проверяем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3E7DEC-764E-424F-B2BC-B30A8376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384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F9D570-07FA-438A-AEB5-04744EBF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66975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influence / retained utility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2228C7-5BC4-415C-8B18-EECAB776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1FBF75-E27A-437D-915B-39BB37AF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908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comparison to exact retraining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D00269-822D-4A81-B4B5-2A12059F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9AD212-1CF7-43BC-8D07-F5C4158E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14725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privacy attack / utility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F1A193-CC6C-44DC-8FC3-C6D43D55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657350"/>
            <a:ext cx="396240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11430">
            <a:solidFill>
              <a:srgbClr val="FF8C6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E83390-4252-4CD0-B61D-16FF2A2C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8859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8C6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FF8C66"/>
                </a:solidFill>
                <a:latin typeface="Georgia"/>
                <a:ea typeface="Georgia"/>
                <a:cs typeface="Georgia"/>
              </a:rPr>
              <a:t>Реальный результат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F9C086-327A-487B-B743-87F701A7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907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MUFAC candidate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260BD5-929D-498E-A55D-FF917443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24150"/>
            <a:ext cx="21145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C66">
              <a:alpha val="12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1DB5E2-2EA1-4A73-88BD-36699187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33675"/>
            <a:ext cx="2114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FAIL · retained-utility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2047F1-4F62-4216-A08F-988E2916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32422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Exact fallback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61490A-73E4-44CE-97B5-61FED38A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57600"/>
            <a:ext cx="20383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E1C6">
              <a:alpha val="12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D4A4FF-D13B-4EEB-9395-E6417F18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67125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PASS · safety / no speedup</a:t>
            </a:r>
          </a:p>
        </p:txBody>
      </p:sp>
    </p:spTree>
    <p:extLst>
      <p:ext uri="{BB962C8B-B14F-4D97-AF65-F5344CB8AC3E}">
        <p14:creationId xmlns:p14="http://schemas.microsoft.com/office/powerpoint/2010/main" val="8194064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9837A6-F846-462D-8AF3-D5F1915F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0DCE66-B308-4F70-8D59-7226EB31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4497B1-2FEC-4EE4-98F3-B785FADE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3FCA61-5B78-4911-8C37-89BECA39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B0D25-43A5-4C29-9A35-7D8E8775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A86F9-AE0F-4455-80DF-736C400B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646F34-1204-4E99-9EA8-737C6DDE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ACABBE-AF26-4EE8-9699-57C7BE9D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78D1C-B2A2-4250-9C3B-71F2A7ED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7B89D6-0786-4EC4-9594-8802A64B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F909B1-91F3-4ABF-83D5-D75F27B1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POSITION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855859-CECF-49A5-A05F-195D3FFA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095ED1-B4FF-48C3-B599-565767B9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B55F76-2B6B-48C6-BA91-3F5BB575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F618D8-41E8-4DEA-A477-0522F3B2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Новизна — в составе доказательств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C94403-415E-4A93-A1E1-14C81508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Не четыре разрозненных алгоритма, а одна процедура, закрывающая три риска.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DFDC3B-6939-493B-BDDD-8B60C8E6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Три отличительных объекта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DB6D9F-3100-4BC9-AA2B-6EDB72FA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419100" cy="361950"/>
          </a:xfrm>
          <a:custGeom xmlns:a="http://schemas.openxmlformats.org/drawingml/2006/main">
            <a:pathLst>
              <a:path w="419100" h="361950">
                <a:moveTo>
                  <a:pt x="104775" y="0"/>
                </a:moveTo>
                <a:lnTo>
                  <a:pt x="314325" y="0"/>
                </a:lnTo>
                <a:lnTo>
                  <a:pt x="419100" y="180975"/>
                </a:lnTo>
                <a:lnTo>
                  <a:pt x="314325" y="361950"/>
                </a:lnTo>
                <a:lnTo>
                  <a:pt x="104775" y="361950"/>
                </a:lnTo>
                <a:lnTo>
                  <a:pt x="0" y="18097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5000"/>
            </a:srgbClr>
          </a:solidFill>
          <a:ln xmlns:a="http://schemas.openxmlformats.org/drawingml/2006/main" w="11430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CE3D43-21E5-40D5-A7C7-67EA9C98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8122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recovery-path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4A26E6-61B4-4853-B1F1-782491B3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0030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ищем, где запись может появиться снова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964EBB-932D-4E2A-8F97-4C78A27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19100" cy="361950"/>
          </a:xfrm>
          <a:custGeom xmlns:a="http://schemas.openxmlformats.org/drawingml/2006/main">
            <a:pathLst>
              <a:path w="419100" h="361950">
                <a:moveTo>
                  <a:pt x="104775" y="0"/>
                </a:moveTo>
                <a:lnTo>
                  <a:pt x="314325" y="0"/>
                </a:lnTo>
                <a:lnTo>
                  <a:pt x="419100" y="180975"/>
                </a:lnTo>
                <a:lnTo>
                  <a:pt x="314325" y="361950"/>
                </a:lnTo>
                <a:lnTo>
                  <a:pt x="104775" y="361950"/>
                </a:lnTo>
                <a:lnTo>
                  <a:pt x="0" y="180975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11430">
            <a:solidFill>
              <a:srgbClr val="00E1C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E603A2-2F73-41E4-9699-56B68C94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622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temporal closure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9A2536-D49A-4275-9351-E3E339AC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813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проверяем будущую регенерацию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0ACE01-AB60-49D1-877E-B34CA24D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419100" cy="361950"/>
          </a:xfrm>
          <a:custGeom xmlns:a="http://schemas.openxmlformats.org/drawingml/2006/main">
            <a:pathLst>
              <a:path w="419100" h="361950">
                <a:moveTo>
                  <a:pt x="104775" y="0"/>
                </a:moveTo>
                <a:lnTo>
                  <a:pt x="314325" y="0"/>
                </a:lnTo>
                <a:lnTo>
                  <a:pt x="419100" y="180975"/>
                </a:lnTo>
                <a:lnTo>
                  <a:pt x="314325" y="361950"/>
                </a:lnTo>
                <a:lnTo>
                  <a:pt x="104775" y="361950"/>
                </a:lnTo>
                <a:lnTo>
                  <a:pt x="0" y="180975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5000"/>
            </a:srgbClr>
          </a:solidFill>
          <a:ln xmlns:a="http://schemas.openxmlformats.org/drawingml/2006/main" w="11430">
            <a:solidFill>
              <a:srgbClr val="5A65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729EA2-3279-4B22-9754-2AF4F6F1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432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deletion certificate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1023CA-BFC4-4584-858D-B58714AB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видна граница неизвестности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55448F-0E2D-4F00-8E70-09359202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363855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02F46"/>
          </a:solidFill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A95F62-B5C5-4B65-A47C-939E14CD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8595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Лестница доказательств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F0BFAA-6794-460F-93D5-02324F1B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52675"/>
            <a:ext cx="14668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F8C66">
              <a:alpha val="10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68E7BA-9CEC-4A72-9731-2C7A3941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371725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9F017B-459E-4CB2-A771-56C24393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3717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production 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38E6B-8A53-407E-BD2A-341FD587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95575"/>
            <a:ext cx="14668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F8C66">
              <a:alpha val="10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1F5325-995B-4581-90FD-C27168CF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14625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503D47-EBA0-4593-A82F-54D3217B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7146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independent hidden challenge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B19396-3D36-41C0-9C36-85DB3793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38475"/>
            <a:ext cx="21907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FAF6BB-9798-4419-96E4-2978057E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57525"/>
            <a:ext cx="180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D121E13-0B4D-4257-8A3E-0F85E0DC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575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family-held-out OOD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6F98EF-9CB9-4A97-A809-BEA306FF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81375"/>
            <a:ext cx="20002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1D1E34-6248-4191-9373-117AB729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400425"/>
            <a:ext cx="180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1AC56F-55D1-4BC1-A84A-D7FD3D0F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004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source-locked holdout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ECB84E-9BFB-44CF-B22C-D8A78F6C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24275"/>
            <a:ext cx="18097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0332B6-C95D-4716-93DB-0CDAA56F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43325"/>
            <a:ext cx="180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FDA080-9FD2-4298-8EDF-644591A1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433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reproducible project lab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68E0C1-9EA1-4A08-A96D-BD3E789B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052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Сейчас: сильная воспроизводимость и bounded external inputs.</a:t>
            </a:r>
          </a:p>
          <a:p xmlns:a="http://schemas.openxmlformats.org/drawingml/2006/main">
            <a:pPr algn="ctr">
              <a:defRPr sz="75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Следующий честный шаг: независимый hidden evaluator.</a:t>
            </a:r>
          </a:p>
        </p:txBody>
      </p:sp>
    </p:spTree>
    <p:extLst>
      <p:ext uri="{BB962C8B-B14F-4D97-AF65-F5344CB8AC3E}">
        <p14:creationId xmlns:p14="http://schemas.microsoft.com/office/powerpoint/2010/main" val="711599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E29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47ED4A-E2B4-4558-9D06-2C173531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61EA3-6ECC-47C9-97FC-401AFEC2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0FCD8-7CF1-43A7-81FF-A1A6DF21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931C0-F548-4A67-B03F-DF927018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B8AF7-496F-4B75-8F54-B61ABD56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75D9B-E15C-4F49-927A-C586BF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615EBE-6BFF-4ADC-83E5-0A16A98D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FA82A-B4D6-4E62-846E-55469508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EEF69-A66D-4298-A852-57A81664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F2DBC7-0DB7-48F0-AF05-38F1C711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D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A4D7B4-67D0-48B3-9BE2-CB82FEA9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CONCLUSION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A0EFC1-6FDD-4C6C-ADFA-7524AAC9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4476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Проверять путь,</a:t>
            </a:r>
          </a:p>
          <a:p xmlns:a="http://schemas.openxmlformats.org/drawingml/2006/main">
            <a:pPr algn="l">
              <a:defRPr sz="31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а не обещание.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833010-F4C0-432B-AD21-ED75A47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2725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EraSeMap превращает удаление из одной команды</a:t>
            </a:r>
          </a:p>
          <a:p xmlns:a="http://schemas.openxmlformats.org/drawingml/2006/main">
            <a:pPr algn="l">
              <a:defRPr sz="1275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в проверяемый, временно устойчивый verdict.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88CCD6-C7F7-4830-95D4-F4E47AE0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3752850" cy="47625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00E1C6">
              <a:alpha val="1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B2DFC0-0894-4B32-B92C-977F8532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3F8F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3F8FA"/>
                </a:solidFill>
                <a:latin typeface="Arial"/>
                <a:ea typeface="Arial"/>
                <a:cs typeface="Arial"/>
              </a:rPr>
              <a:t>Следующий эксперимент: independent hidden challenge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83FEA-26D3-411F-BD5D-1AAF9746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485900"/>
            <a:ext cx="1447800" cy="1238250"/>
          </a:xfrm>
          <a:custGeom xmlns:a="http://schemas.openxmlformats.org/drawingml/2006/main">
            <a:pathLst>
              <a:path w="1447800" h="1238250">
                <a:moveTo>
                  <a:pt x="361950" y="0"/>
                </a:moveTo>
                <a:lnTo>
                  <a:pt x="1085850" y="0"/>
                </a:lnTo>
                <a:lnTo>
                  <a:pt x="1447800" y="619125"/>
                </a:lnTo>
                <a:lnTo>
                  <a:pt x="1085850" y="1238250"/>
                </a:lnTo>
                <a:lnTo>
                  <a:pt x="361950" y="1238250"/>
                </a:lnTo>
                <a:lnTo>
                  <a:pt x="0" y="619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3000"/>
            </a:srgbClr>
          </a:solidFill>
          <a:ln xmlns:a="http://schemas.openxmlformats.org/drawingml/2006/main" w="19050">
            <a:solidFill>
              <a:srgbClr val="19BB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82FBCF-F79D-4B14-BE19-575F9CCC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24050"/>
            <a:ext cx="1447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01C278-DF13-4D1B-937E-67CA88E9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24150"/>
            <a:ext cx="1181100" cy="1009650"/>
          </a:xfrm>
          <a:custGeom xmlns:a="http://schemas.openxmlformats.org/drawingml/2006/main">
            <a:pathLst>
              <a:path w="1181100" h="1009650">
                <a:moveTo>
                  <a:pt x="295275" y="0"/>
                </a:moveTo>
                <a:lnTo>
                  <a:pt x="885825" y="0"/>
                </a:lnTo>
                <a:lnTo>
                  <a:pt x="1181100" y="504825"/>
                </a:lnTo>
                <a:lnTo>
                  <a:pt x="885825" y="1009650"/>
                </a:lnTo>
                <a:lnTo>
                  <a:pt x="295275" y="1009650"/>
                </a:lnTo>
                <a:lnTo>
                  <a:pt x="0" y="50482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2000"/>
            </a:srgbClr>
          </a:solidFill>
          <a:ln xmlns:a="http://schemas.openxmlformats.org/drawingml/2006/main" w="19050">
            <a:solidFill>
              <a:srgbClr val="FF8C6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F16E66-3706-49BB-858D-C0A0B801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86100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2F6AA7-9257-4AB8-9234-B7371BD7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581275"/>
            <a:ext cx="542925" cy="409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D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B2CD9A-9E08-4593-990E-A7E008AA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476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B8C9D3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02AF3E-DE5A-4535-8866-DE425F36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304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8C9D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B8C9D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059599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2026-08-28T16:15:36.3190000Z</dcterms:created>
  <dcterms:modified xsi:type="dcterms:W3CDTF">2026-08-28T16:15:36.3190000Z</dcterms:modified>
</coreProperties>
</file>